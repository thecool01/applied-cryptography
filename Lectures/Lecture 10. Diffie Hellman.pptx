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4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i+HnejjB1NkwRbz2dfBYHo637O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E0BE0B-6D61-4DE2-A626-A33BB0977795}">
  <a:tblStyle styleId="{D0E0BE0B-6D61-4DE2-A626-A33BB097779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02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customschemas.google.com/relationships/presentationmetadata" Target="meta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Welcome to Lecture 10 of Applied Cryptography. Today we cover Diffie-Hellman Key Exchange and the Discrete Logarithm Problem — foundational topics in public-key cryptography. This is a 100-minute session, so we have plenty of time to go deep into examples and security analysis. The lecture is structured into 7 major sections.</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Here is our agenda for today. We have 7 sections covering about 100 minutes. I will spend the most time on Sections 1 and 3-4 since they include detailed worked examples. Let's dive in.</a:t>
            </a:r>
            <a:endParaRPr/>
          </a:p>
        </p:txBody>
      </p:sp>
      <p:sp>
        <p:nvSpPr>
          <p:cNvPr id="24" name="Google Shape;2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begin with the Diffie-Hellman key exchange — arguably one of the most important breakthroughs in the history of cryptography. Published in 1976 by Whitfield Diffie and Martin Hellman.</a:t>
            </a:r>
            <a:endParaRPr/>
          </a:p>
        </p:txBody>
      </p:sp>
      <p:sp>
        <p:nvSpPr>
          <p:cNvPr id="69" name="Google Shape;6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fundamental problem: how do two strangers establish a shared secret key over a public channel? Before DH, this required a trusted courier or pre-shared keys. Diffie and Hellman's breakthrough insight was that mathematical one-way functions could allow both parties to independently arrive at the same secret. Let's see how.</a:t>
            </a:r>
            <a:endParaRPr/>
          </a:p>
        </p:txBody>
      </p:sp>
      <p:sp>
        <p:nvSpPr>
          <p:cNvPr id="79" name="Google Shape;7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protocol requires two public parameters: a large prime p and a generator g. These can be standardized (e.g., RFC groups). Then Alice and Bob each independently choose a random private key, compute a public value, and exchange them over the insecure channel.</a:t>
            </a:r>
            <a:endParaRPr/>
          </a:p>
        </p:txBody>
      </p:sp>
      <p:sp>
        <p:nvSpPr>
          <p:cNvPr id="97" name="Google Shape;9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key insight is commutativity: it doesn't matter which order the exponents are applied. Alice raises Bob's public value to her private exponent, Bob raises Alice's public value to his private exponent — and they get the same result: g^(ab) mod p. Eve sees g^a and g^b but cannot compute g^(ab) without solving the discrete logarithm.</a:t>
            </a:r>
            <a:endParaRPr/>
          </a:p>
        </p:txBody>
      </p:sp>
      <p:sp>
        <p:nvSpPr>
          <p:cNvPr id="117" name="Google Shape;1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Let's work through a small example. p=23, g=5. Alice picks private key a=6. She computes 5^6 mod 23. Walk through: 5^6 = 15625. 15625 / 23 = 679 remainder 8. So A=8 is sent publicly. Bob picks b=15, computes B = 5^15 mod 23 = 19. Eve sees p, g, A, B — all public values.</a:t>
            </a:r>
            <a:endParaRPr/>
          </a:p>
        </p:txBody>
      </p:sp>
      <p:sp>
        <p:nvSpPr>
          <p:cNvPr id="132" name="Google Shape;13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Alice takes Bob's public value 19, raises it to her private a=6: 19^6 mod 23 = 2. Bob takes Alice's public value 8, raises it to his private b=15: 8^15 mod 23 = 2. They both get K=2! Eve would need to solve the discrete log — for small numbers, brute force works, but for 2048-bit primes, this is computationally infeasible.</a:t>
            </a:r>
            <a:endParaRPr/>
          </a:p>
        </p:txBody>
      </p:sp>
      <p:sp>
        <p:nvSpPr>
          <p:cNvPr id="146" name="Google Shape;14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MITM attack is the critical vulnerability of unauthenticated DH. Eve actively intercepts both sides: she establishes one shared key with Alice and another with Bob. Neither party knows Eve is in the middle. She can read, modify, and forward all messages. The solution is authentication: digital signatures on the DH values, certificates via PKI (as in TLS), or pre-shared keys.</a:t>
            </a:r>
            <a:endParaRPr/>
          </a:p>
        </p:txBody>
      </p:sp>
      <p:sp>
        <p:nvSpPr>
          <p:cNvPr id="161" name="Google Shape;16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Now let's formalize why DH is secure. It relies on the computational hardness of the discrete logarithm problem.</a:t>
            </a:r>
            <a:endParaRPr/>
          </a:p>
        </p:txBody>
      </p:sp>
      <p:sp>
        <p:nvSpPr>
          <p:cNvPr id="176" name="Google Shape;17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discrete logarithm problem: given g, h, and p, find x such that g^x = h mod p. The key asymmetry: computing g^x mod p is easy (repeated squaring, polynomial time). But going backwards — finding x given g^x — is believed to be computationally hard for large primes. The best known algorithm, GNFS, is sub-exponential but still infeasible for recommended key sizes.</a:t>
            </a:r>
            <a:endParaRPr/>
          </a:p>
        </p:txBody>
      </p:sp>
      <p:sp>
        <p:nvSpPr>
          <p:cNvPr id="186" name="Google Shape;18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Here we compute the discrete log by brute force for our small example. We try successive powers of g=5 modulo 23 until we hit h=8. It takes 6 tries. For small numbers, this is trivial. But imagine p has 2048 bits — you'd need to check up to 2^2048 values. That's why it's called computationally hard.</a:t>
            </a:r>
            <a:endParaRPr/>
          </a:p>
        </p:txBody>
      </p:sp>
      <p:sp>
        <p:nvSpPr>
          <p:cNvPr id="205" name="Google Shape;20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Here are the current key size recommendations. 1024 bits was deprecated after the Logjam attack in 2015 — it's now considered breakable by well-resourced adversaries. 2048 bits is the minimum. NIST recommends 3072 bits for long-term security. The DL record progression shows how computational power advances over time.</a:t>
            </a:r>
            <a:endParaRPr/>
          </a:p>
        </p:txBody>
      </p:sp>
      <p:sp>
        <p:nvSpPr>
          <p:cNvPr id="217" name="Google Shape;21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Now we need to understand the mathematical structure that makes DH work: cyclic groups and generators. This is essential for understanding secure parameter selection.</a:t>
            </a:r>
            <a:endParaRPr/>
          </a:p>
        </p:txBody>
      </p:sp>
      <p:sp>
        <p:nvSpPr>
          <p:cNvPr id="229" name="Google Shape;22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cyclic group is one where a single element — the generator — can produce every other element through repeated application of the group operation. For Z*_p (integers 1 to p-1 under multiplication mod p), a generator g means that g^1, g^2, ..., g^(p-1) gives you every element exactly once.</a:t>
            </a:r>
            <a:endParaRPr/>
          </a:p>
        </p:txBody>
      </p:sp>
      <p:sp>
        <p:nvSpPr>
          <p:cNvPr id="239" name="Google Shape;23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Let's verify that 2 is a generator of Z*_11. We compute every power of 2 mod 11 from 2^1 to 2^10. We get the set {2,4,8,5,10,9,7,3,6,1} which is all 10 elements of Z*_11. Since every element appears, g=2 is indeed a generator. Note: not every element is a generator. For example, 10^2 mod 11 = 1, so 10 only generates {10, 1} — a subgroup of order 2.</a:t>
            </a:r>
            <a:endParaRPr/>
          </a:p>
        </p:txBody>
      </p:sp>
      <p:sp>
        <p:nvSpPr>
          <p:cNvPr id="258" name="Google Shape;25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You don't need to compute all powers to test if g is a generator. The theorem says: factor p-1 into prime factors. Then check that g raised to (p-1)/q_i is not 1 for each prime factor. If all checks pass, g is a generator. For p=17: p-1=16=2^4, only prime factor is 2. Test: 3^8 mod 17 = 16 ≠ 1, so g=3 is a generator.</a:t>
            </a:r>
            <a:endParaRPr/>
          </a:p>
        </p:txBody>
      </p:sp>
      <p:sp>
        <p:nvSpPr>
          <p:cNvPr id="270" name="Google Shape;27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Safe primes are critical for secure DH implementations. A safe prime p = 2q+1 means p-1 = 2q, which has only two prime factors: 2 and q. This makes small subgroup attacks impossible because the only subgroups have order 1, 2, q, or 2q. About half the elements of Z*_p are generators when p is a safe prime, making parameter selection easier.</a:t>
            </a:r>
            <a:endParaRPr/>
          </a:p>
        </p:txBody>
      </p:sp>
      <p:sp>
        <p:nvSpPr>
          <p:cNvPr id="289" name="Google Shape;28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Taher ElGamal in 1985 showed how to extend DH into a full public-key encryption scheme. The idea is elegant: embed a DH key exchange into every encryption operation.</a:t>
            </a:r>
            <a:endParaRPr/>
          </a:p>
        </p:txBody>
      </p:sp>
      <p:sp>
        <p:nvSpPr>
          <p:cNvPr id="306" name="Google Shape;306;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ElGamal key generation is straightforward: choose a prime p and generator g (like DH parameters), pick a random private key x, and compute the public key y = g^x mod p. The public key is the triple (p, g, y) and the private key is just x. Notice: computing x from y requires solving the discrete log!</a:t>
            </a:r>
            <a:endParaRPr/>
          </a:p>
        </p:txBody>
      </p:sp>
      <p:sp>
        <p:nvSpPr>
          <p:cNvPr id="316" name="Google Shape;31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Encryption: pick random k, compute C1 = g^k (like a DH public value), and C2 = M times y^k. The ciphertext is (C1, C2). Decryption: compute s = C1^x = g^(kx), find its inverse, then M = C2 * s^(-1). The y^k in encryption equals g^(xk), which the receiver can recompute as C1^x. Beautiful symmetry with DH.</a:t>
            </a:r>
            <a:endParaRPr/>
          </a:p>
        </p:txBody>
      </p:sp>
      <p:sp>
        <p:nvSpPr>
          <p:cNvPr id="339" name="Google Shape;33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Step through the encryption: p=23, g=5, private key x=6, so public key y = 5^6 mod 23 = 8. To encrypt M=10, pick random k=3. C1 = 5^3 mod 23 = 10. For C2: first compute y^k = 8^3 = 512 mod 23 = 6. Then C2 = 10 * 6 = 60 mod 23 = 14. The ciphertext is (10, 14).</a:t>
            </a:r>
            <a:endParaRPr/>
          </a:p>
        </p:txBody>
      </p:sp>
      <p:sp>
        <p:nvSpPr>
          <p:cNvPr id="358" name="Google Shape;358;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Decryption: given (10, 14) and private key x=6. First, compute the shared secret s = 10^6 mod 23 = 11. Then find the modular inverse: 11^(-1) mod 23 = 21. You can verify: 11 * 21 = 231 = 10*23 + 1. Finally, M = 14 * 21 mod 23 = 294 mod 23 = 10. We recovered the original message!</a:t>
            </a:r>
            <a:endParaRPr/>
          </a:p>
        </p:txBody>
      </p:sp>
      <p:sp>
        <p:nvSpPr>
          <p:cNvPr id="370" name="Google Shape;37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ElGamal's key advantage is probabilistic encryption — the random k means the same message encrypts to different ciphertexts each time. This provides semantic security. The downside is 2x ciphertext expansion and the need for good randomness. If k is reused, security breaks completely, as we'll see later.</a:t>
            </a:r>
            <a:endParaRPr/>
          </a:p>
        </p:txBody>
      </p:sp>
      <p:sp>
        <p:nvSpPr>
          <p:cNvPr id="382" name="Google Shape;38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Now we turn to digital signatures. ElGamal's encryption scheme naturally extends to signatures, and DSA is the standardized version used worldwide.</a:t>
            </a:r>
            <a:endParaRPr/>
          </a:p>
        </p:txBody>
      </p:sp>
      <p:sp>
        <p:nvSpPr>
          <p:cNvPr id="401" name="Google Shape;401;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0" name="Google Shape;41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ElGamal signatures: to sign message M, choose random k coprime to p-1, compute r = g^k mod p, and s = (H(M) - xr) * k^(-1) mod (p-1). The signature is (r,s). Verification checks if y^r * r^s equals g^H(M) mod p. The math works out because of the relationship between the private key x and the public key y = g^x.</a:t>
            </a:r>
            <a:endParaRPr/>
          </a:p>
        </p:txBody>
      </p:sp>
      <p:sp>
        <p:nvSpPr>
          <p:cNvPr id="411" name="Google Shape;41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DSA was standardized by NIST in 1994. The key improvement over raw ElGamal is working in a prime-order subgroup q, which keeps signatures small — just 512 bits total. The signing process: pick random k, compute r = (g^k mod p) mod q, then s = k^(-1) * (H(M) + xr) mod q. Verification involves computing w, u1, u2, and checking that v = r.</a:t>
            </a:r>
            <a:endParaRPr/>
          </a:p>
        </p:txBody>
      </p:sp>
      <p:sp>
        <p:nvSpPr>
          <p:cNvPr id="430" name="Google Shape;43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one of the most critical security requirements in all of cryptography: the nonce k in DSA/ElGamal signatures must NEVER be reused. If two messages are signed with the same k, an attacker can algebraically recover k from the two signatures, and then compute the private key x directly. The defense is RFC 6979: deterministic nonce generation that derives k from the message and private key.</a:t>
            </a:r>
            <a:endParaRPr/>
          </a:p>
        </p:txBody>
      </p:sp>
      <p:sp>
        <p:nvSpPr>
          <p:cNvPr id="441" name="Google Shape;44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4" name="Google Shape;45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Let's survey the security landscape: the formal problems underpinning DH security and the real-world attacks that have been discovered.</a:t>
            </a:r>
            <a:endParaRPr/>
          </a:p>
        </p:txBody>
      </p:sp>
      <p:sp>
        <p:nvSpPr>
          <p:cNvPr id="455" name="Google Shape;45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Two formal problems underpin DH security. CDH asks: given g^a and g^b, compute g^(ab). This is exactly what an eavesdropper needs to break DH. DDH is weaker: just distinguish g^(ab) from a random element. DDH hardness implies ElGamal semantic security. The hierarchy: DLP hard implies CDH hard implies DDH hard.</a:t>
            </a:r>
            <a:endParaRPr/>
          </a:p>
        </p:txBody>
      </p:sp>
      <p:sp>
        <p:nvSpPr>
          <p:cNvPr id="465" name="Google Shape;465;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4" name="Google Shape;48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Logjam attack, published in 2015, was a wake-up call. The key insight: many servers used the same 1024-bit DH groups. The Number Field Sieve algorithm allows expensive precomputation that's specific to a group. After that one-time investment (~$100M), any individual DH exchange in that group can be broken in minutes. This is why we now require 2048-bit minimum.</a:t>
            </a:r>
            <a:endParaRPr/>
          </a:p>
        </p:txBody>
      </p:sp>
      <p:sp>
        <p:nvSpPr>
          <p:cNvPr id="485" name="Google Shape;48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a famous real-world example of nonce reuse. Sony's PS3 firmware was signed with ECDSA, but they used the SAME value of k every time. Researchers noticed identical r values across signatures, applied the nonce-reuse attack we just discussed, and recovered the private key. This allowed anyone to sign code as Sony. The lesson: never reuse nonces in DSA/ECDSA signatures.</a:t>
            </a:r>
            <a:endParaRPr/>
          </a:p>
        </p:txBody>
      </p:sp>
      <p:sp>
        <p:nvSpPr>
          <p:cNvPr id="500" name="Google Shape;50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Let's wrap up with a summary of today's key points.</a:t>
            </a:r>
            <a:endParaRPr/>
          </a:p>
        </p:txBody>
      </p:sp>
      <p:sp>
        <p:nvSpPr>
          <p:cNvPr id="516" name="Google Shape;516;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 me summarize the 7 key takeaways from today. Each of these represents a fundamental concept you should be comfortable with for the exam and for practical cryptography work.</a:t>
            </a:r>
            <a:endParaRPr/>
          </a:p>
        </p:txBody>
      </p:sp>
      <p:sp>
        <p:nvSpPr>
          <p:cNvPr id="526" name="Google Shape;526;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8" name="Google Shape;54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next week, read Chapter 13 from Ferguson et al. on elliptic curves. The lab assignment is to implement DH key exchange — try with different parameter sizes and observe the performance difference. Also begin studying the Weierstrass equation and how point addition works on elliptic curves.</a:t>
            </a:r>
            <a:endParaRPr/>
          </a:p>
        </p:txBody>
      </p:sp>
      <p:sp>
        <p:nvSpPr>
          <p:cNvPr id="549" name="Google Shape;549;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Open floor for questions. Encourage students to ask about any examples they found confusing, or about the relationship between DH, ElGamal, and DSA. Remind them about the lab assignment and next week's reading.</a:t>
            </a:r>
            <a:endParaRPr/>
          </a:p>
        </p:txBody>
      </p:sp>
      <p:sp>
        <p:nvSpPr>
          <p:cNvPr id="563" name="Google Shape;56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1" name="Google Shape;57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These are the key references for this lecture. The Diffie-Hellman 1976 paper is a must-read classic. The Logjam paper (Adrian et al. 2015) is excellent for understanding real-world DH vulnerabilities.</a:t>
            </a:r>
            <a:endParaRPr/>
          </a:p>
        </p:txBody>
      </p:sp>
      <p:sp>
        <p:nvSpPr>
          <p:cNvPr id="572" name="Google Shape;57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15"/>
        <p:cNvGrpSpPr/>
        <p:nvPr/>
      </p:nvGrpSpPr>
      <p:grpSpPr>
        <a:xfrm>
          <a:off x="0" y="0"/>
          <a:ext cx="0" cy="0"/>
          <a:chOff x="0" y="0"/>
          <a:chExt cx="0" cy="0"/>
        </a:xfrm>
      </p:grpSpPr>
      <p:sp>
        <p:nvSpPr>
          <p:cNvPr id="16" name="Google Shape;16;p1"/>
          <p:cNvSpPr/>
          <p:nvPr/>
        </p:nvSpPr>
        <p:spPr>
          <a:xfrm>
            <a:off x="5029200" y="-457200"/>
            <a:ext cx="4572000" cy="5486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20000"/>
              <a:buFont typeface="Georgia"/>
              <a:buNone/>
            </a:pPr>
            <a:r>
              <a:rPr lang="en-US" sz="20000" b="1" i="0" u="none" strike="noStrike" cap="none">
                <a:solidFill>
                  <a:srgbClr val="1B7FA6"/>
                </a:solidFill>
                <a:latin typeface="Georgia"/>
                <a:ea typeface="Georgia"/>
                <a:cs typeface="Georgia"/>
                <a:sym typeface="Georgia"/>
              </a:rPr>
              <a:t>DH</a:t>
            </a:r>
            <a:endParaRPr sz="20000" b="0" i="0" u="none" strike="noStrike" cap="none">
              <a:solidFill>
                <a:schemeClr val="dk1"/>
              </a:solidFill>
              <a:latin typeface="Calibri"/>
              <a:ea typeface="Calibri"/>
              <a:cs typeface="Calibri"/>
              <a:sym typeface="Calibri"/>
            </a:endParaRPr>
          </a:p>
        </p:txBody>
      </p:sp>
      <p:sp>
        <p:nvSpPr>
          <p:cNvPr id="17" name="Google Shape;17;p1"/>
          <p:cNvSpPr/>
          <p:nvPr/>
        </p:nvSpPr>
        <p:spPr>
          <a:xfrm>
            <a:off x="914400" y="914400"/>
            <a:ext cx="7315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400"/>
              <a:buFont typeface="Calibri"/>
              <a:buNone/>
            </a:pPr>
            <a:r>
              <a:rPr lang="en-US" sz="1400" b="0" i="0" u="none" strike="noStrike" cap="none">
                <a:solidFill>
                  <a:srgbClr val="2BA4D4"/>
                </a:solidFill>
                <a:latin typeface="Calibri"/>
                <a:ea typeface="Calibri"/>
                <a:cs typeface="Calibri"/>
                <a:sym typeface="Calibri"/>
              </a:rPr>
              <a:t>APPLIED CRYPTOGRAPHY</a:t>
            </a:r>
            <a:endParaRPr sz="1400" b="0" i="0" u="none" strike="noStrike" cap="none">
              <a:solidFill>
                <a:schemeClr val="dk1"/>
              </a:solidFill>
              <a:latin typeface="Calibri"/>
              <a:ea typeface="Calibri"/>
              <a:cs typeface="Calibri"/>
              <a:sym typeface="Calibri"/>
            </a:endParaRPr>
          </a:p>
        </p:txBody>
      </p:sp>
      <p:sp>
        <p:nvSpPr>
          <p:cNvPr id="18" name="Google Shape;18;p1"/>
          <p:cNvSpPr/>
          <p:nvPr/>
        </p:nvSpPr>
        <p:spPr>
          <a:xfrm>
            <a:off x="914400" y="1554480"/>
            <a:ext cx="6400800" cy="1828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Georgia"/>
              <a:buNone/>
            </a:pPr>
            <a:r>
              <a:rPr lang="en-US" sz="4000" b="1" i="0" u="none" strike="noStrike" cap="none">
                <a:solidFill>
                  <a:srgbClr val="FFFFFF"/>
                </a:solidFill>
                <a:latin typeface="Georgia"/>
                <a:ea typeface="Georgia"/>
                <a:cs typeface="Georgia"/>
                <a:sym typeface="Georgia"/>
              </a:rPr>
              <a:t>Diffie-Hellman and</a:t>
            </a:r>
            <a:endParaRPr sz="4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4000"/>
              <a:buFont typeface="Georgia"/>
              <a:buNone/>
            </a:pPr>
            <a:r>
              <a:rPr lang="en-US" sz="4000" b="1" i="0" u="none" strike="noStrike" cap="none">
                <a:solidFill>
                  <a:srgbClr val="FFFFFF"/>
                </a:solidFill>
                <a:latin typeface="Georgia"/>
                <a:ea typeface="Georgia"/>
                <a:cs typeface="Georgia"/>
                <a:sym typeface="Georgia"/>
              </a:rPr>
              <a:t>Discrete Logarithm</a:t>
            </a:r>
            <a:endParaRPr sz="4000" b="0" i="0" u="none" strike="noStrike" cap="none">
              <a:solidFill>
                <a:schemeClr val="dk1"/>
              </a:solidFill>
              <a:latin typeface="Calibri"/>
              <a:ea typeface="Calibri"/>
              <a:cs typeface="Calibri"/>
              <a:sym typeface="Calibri"/>
            </a:endParaRPr>
          </a:p>
        </p:txBody>
      </p:sp>
      <p:sp>
        <p:nvSpPr>
          <p:cNvPr id="19" name="Google Shape;19;p1"/>
          <p:cNvSpPr/>
          <p:nvPr/>
        </p:nvSpPr>
        <p:spPr>
          <a:xfrm>
            <a:off x="914400" y="3474720"/>
            <a:ext cx="457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600"/>
              <a:buFont typeface="Calibri"/>
              <a:buNone/>
            </a:pPr>
            <a:r>
              <a:rPr lang="en-US" sz="1600" b="0" i="0" u="none" strike="noStrike" cap="none">
                <a:solidFill>
                  <a:srgbClr val="64748B"/>
                </a:solidFill>
                <a:latin typeface="Calibri"/>
                <a:ea typeface="Calibri"/>
                <a:cs typeface="Calibri"/>
                <a:sym typeface="Calibri"/>
              </a:rPr>
              <a:t>Lecture 10  ·  Week 10</a:t>
            </a:r>
            <a:endParaRPr sz="1600" b="0" i="0" u="none" strike="noStrike" cap="none">
              <a:solidFill>
                <a:schemeClr val="dk1"/>
              </a:solidFill>
              <a:latin typeface="Calibri"/>
              <a:ea typeface="Calibri"/>
              <a:cs typeface="Calibri"/>
              <a:sym typeface="Calibri"/>
            </a:endParaRPr>
          </a:p>
        </p:txBody>
      </p:sp>
      <p:sp>
        <p:nvSpPr>
          <p:cNvPr id="20" name="Google Shape;20;p1"/>
          <p:cNvSpPr/>
          <p:nvPr/>
        </p:nvSpPr>
        <p:spPr>
          <a:xfrm>
            <a:off x="914400" y="4389120"/>
            <a:ext cx="18288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25"/>
        <p:cNvGrpSpPr/>
        <p:nvPr/>
      </p:nvGrpSpPr>
      <p:grpSpPr>
        <a:xfrm>
          <a:off x="0" y="0"/>
          <a:ext cx="0" cy="0"/>
          <a:chOff x="0" y="0"/>
          <a:chExt cx="0" cy="0"/>
        </a:xfrm>
      </p:grpSpPr>
      <p:sp>
        <p:nvSpPr>
          <p:cNvPr id="26" name="Google Shape;26;p2"/>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a:t>
            </a:r>
            <a:endParaRPr sz="1000" b="0" i="0" u="none" strike="noStrike" cap="none">
              <a:solidFill>
                <a:schemeClr val="dk1"/>
              </a:solidFill>
              <a:latin typeface="Calibri"/>
              <a:ea typeface="Calibri"/>
              <a:cs typeface="Calibri"/>
              <a:sym typeface="Calibri"/>
            </a:endParaRPr>
          </a:p>
        </p:txBody>
      </p:sp>
      <p:sp>
        <p:nvSpPr>
          <p:cNvPr id="28" name="Google Shape;28;p2"/>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Agenda</a:t>
            </a:r>
            <a:endParaRPr sz="2400" b="0" i="0" u="none" strike="noStrike" cap="none">
              <a:solidFill>
                <a:schemeClr val="dk1"/>
              </a:solidFill>
              <a:latin typeface="Calibri"/>
              <a:ea typeface="Calibri"/>
              <a:cs typeface="Calibri"/>
              <a:sym typeface="Calibri"/>
            </a:endParaRPr>
          </a:p>
        </p:txBody>
      </p:sp>
      <p:sp>
        <p:nvSpPr>
          <p:cNvPr id="29" name="Google Shape;29;p2"/>
          <p:cNvSpPr/>
          <p:nvPr/>
        </p:nvSpPr>
        <p:spPr>
          <a:xfrm>
            <a:off x="640080" y="1051560"/>
            <a:ext cx="502920" cy="384048"/>
          </a:xfrm>
          <a:prstGeom prst="rect">
            <a:avLst/>
          </a:prstGeom>
          <a:solidFill>
            <a:srgbClr val="1B7FA6"/>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640080" y="1051560"/>
            <a:ext cx="5029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01</a:t>
            </a:r>
            <a:endParaRPr sz="1300" b="0" i="0" u="none" strike="noStrike" cap="none">
              <a:solidFill>
                <a:schemeClr val="dk1"/>
              </a:solidFill>
              <a:latin typeface="Calibri"/>
              <a:ea typeface="Calibri"/>
              <a:cs typeface="Calibri"/>
              <a:sym typeface="Calibri"/>
            </a:endParaRPr>
          </a:p>
        </p:txBody>
      </p:sp>
      <p:sp>
        <p:nvSpPr>
          <p:cNvPr id="31" name="Google Shape;31;p2"/>
          <p:cNvSpPr/>
          <p:nvPr/>
        </p:nvSpPr>
        <p:spPr>
          <a:xfrm>
            <a:off x="1325880" y="1033272"/>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Diffie-Hellman Key Exchange</a:t>
            </a:r>
            <a:endParaRPr sz="1500" b="0" i="0" u="none" strike="noStrike" cap="none">
              <a:solidFill>
                <a:schemeClr val="dk1"/>
              </a:solidFill>
              <a:latin typeface="Calibri"/>
              <a:ea typeface="Calibri"/>
              <a:cs typeface="Calibri"/>
              <a:sym typeface="Calibri"/>
            </a:endParaRPr>
          </a:p>
        </p:txBody>
      </p:sp>
      <p:sp>
        <p:nvSpPr>
          <p:cNvPr id="32" name="Google Shape;32;p2"/>
          <p:cNvSpPr/>
          <p:nvPr/>
        </p:nvSpPr>
        <p:spPr>
          <a:xfrm>
            <a:off x="1325880" y="1252728"/>
            <a:ext cx="45720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Protocol, examples, MITM attack</a:t>
            </a:r>
            <a:endParaRPr sz="1100" b="0" i="0" u="none" strike="noStrike" cap="none">
              <a:solidFill>
                <a:schemeClr val="dk1"/>
              </a:solidFill>
              <a:latin typeface="Calibri"/>
              <a:ea typeface="Calibri"/>
              <a:cs typeface="Calibri"/>
              <a:sym typeface="Calibri"/>
            </a:endParaRPr>
          </a:p>
        </p:txBody>
      </p:sp>
      <p:sp>
        <p:nvSpPr>
          <p:cNvPr id="33" name="Google Shape;33;p2"/>
          <p:cNvSpPr/>
          <p:nvPr/>
        </p:nvSpPr>
        <p:spPr>
          <a:xfrm>
            <a:off x="640080" y="1581912"/>
            <a:ext cx="502920" cy="384048"/>
          </a:xfrm>
          <a:prstGeom prst="rect">
            <a:avLst/>
          </a:prstGeom>
          <a:solidFill>
            <a:srgbClr val="1B7FA6"/>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640080" y="1581912"/>
            <a:ext cx="5029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02</a:t>
            </a:r>
            <a:endParaRPr sz="1300" b="0" i="0" u="none" strike="noStrike" cap="none">
              <a:solidFill>
                <a:schemeClr val="dk1"/>
              </a:solidFill>
              <a:latin typeface="Calibri"/>
              <a:ea typeface="Calibri"/>
              <a:cs typeface="Calibri"/>
              <a:sym typeface="Calibri"/>
            </a:endParaRPr>
          </a:p>
        </p:txBody>
      </p:sp>
      <p:sp>
        <p:nvSpPr>
          <p:cNvPr id="35" name="Google Shape;35;p2"/>
          <p:cNvSpPr/>
          <p:nvPr/>
        </p:nvSpPr>
        <p:spPr>
          <a:xfrm>
            <a:off x="1325880" y="1563624"/>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The Discrete Logarithm Problem</a:t>
            </a:r>
            <a:endParaRPr sz="1500" b="0" i="0" u="none" strike="noStrike" cap="none">
              <a:solidFill>
                <a:schemeClr val="dk1"/>
              </a:solidFill>
              <a:latin typeface="Calibri"/>
              <a:ea typeface="Calibri"/>
              <a:cs typeface="Calibri"/>
              <a:sym typeface="Calibri"/>
            </a:endParaRPr>
          </a:p>
        </p:txBody>
      </p:sp>
      <p:sp>
        <p:nvSpPr>
          <p:cNvPr id="36" name="Google Shape;36;p2"/>
          <p:cNvSpPr/>
          <p:nvPr/>
        </p:nvSpPr>
        <p:spPr>
          <a:xfrm>
            <a:off x="1325880" y="1783080"/>
            <a:ext cx="45720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Definition, asymmetry, key sizes</a:t>
            </a:r>
            <a:endParaRPr sz="1100" b="0" i="0" u="none" strike="noStrike" cap="none">
              <a:solidFill>
                <a:schemeClr val="dk1"/>
              </a:solidFill>
              <a:latin typeface="Calibri"/>
              <a:ea typeface="Calibri"/>
              <a:cs typeface="Calibri"/>
              <a:sym typeface="Calibri"/>
            </a:endParaRPr>
          </a:p>
        </p:txBody>
      </p:sp>
      <p:sp>
        <p:nvSpPr>
          <p:cNvPr id="37" name="Google Shape;37;p2"/>
          <p:cNvSpPr/>
          <p:nvPr/>
        </p:nvSpPr>
        <p:spPr>
          <a:xfrm>
            <a:off x="640080" y="2112264"/>
            <a:ext cx="502920" cy="384048"/>
          </a:xfrm>
          <a:prstGeom prst="rect">
            <a:avLst/>
          </a:prstGeom>
          <a:solidFill>
            <a:srgbClr val="1B7FA6"/>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640080" y="2112264"/>
            <a:ext cx="5029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03</a:t>
            </a:r>
            <a:endParaRPr sz="1300" b="0" i="0" u="none" strike="noStrike" cap="none">
              <a:solidFill>
                <a:schemeClr val="dk1"/>
              </a:solidFill>
              <a:latin typeface="Calibri"/>
              <a:ea typeface="Calibri"/>
              <a:cs typeface="Calibri"/>
              <a:sym typeface="Calibri"/>
            </a:endParaRPr>
          </a:p>
        </p:txBody>
      </p:sp>
      <p:sp>
        <p:nvSpPr>
          <p:cNvPr id="39" name="Google Shape;39;p2"/>
          <p:cNvSpPr/>
          <p:nvPr/>
        </p:nvSpPr>
        <p:spPr>
          <a:xfrm>
            <a:off x="1325880" y="2093976"/>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Cyclic Groups and Generators</a:t>
            </a:r>
            <a:endParaRPr sz="1500" b="0" i="0" u="none" strike="noStrike" cap="none">
              <a:solidFill>
                <a:schemeClr val="dk1"/>
              </a:solidFill>
              <a:latin typeface="Calibri"/>
              <a:ea typeface="Calibri"/>
              <a:cs typeface="Calibri"/>
              <a:sym typeface="Calibri"/>
            </a:endParaRPr>
          </a:p>
        </p:txBody>
      </p:sp>
      <p:sp>
        <p:nvSpPr>
          <p:cNvPr id="40" name="Google Shape;40;p2"/>
          <p:cNvSpPr/>
          <p:nvPr/>
        </p:nvSpPr>
        <p:spPr>
          <a:xfrm>
            <a:off x="1325880" y="2313432"/>
            <a:ext cx="45720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Group theory, primitive roots, safe primes</a:t>
            </a:r>
            <a:endParaRPr sz="1100" b="0" i="0" u="none" strike="noStrike" cap="none">
              <a:solidFill>
                <a:schemeClr val="dk1"/>
              </a:solidFill>
              <a:latin typeface="Calibri"/>
              <a:ea typeface="Calibri"/>
              <a:cs typeface="Calibri"/>
              <a:sym typeface="Calibri"/>
            </a:endParaRPr>
          </a:p>
        </p:txBody>
      </p:sp>
      <p:sp>
        <p:nvSpPr>
          <p:cNvPr id="41" name="Google Shape;41;p2"/>
          <p:cNvSpPr/>
          <p:nvPr/>
        </p:nvSpPr>
        <p:spPr>
          <a:xfrm>
            <a:off x="640080" y="2642616"/>
            <a:ext cx="502920" cy="384048"/>
          </a:xfrm>
          <a:prstGeom prst="rect">
            <a:avLst/>
          </a:prstGeom>
          <a:solidFill>
            <a:srgbClr val="1B7FA6"/>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640080" y="2642616"/>
            <a:ext cx="5029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04</a:t>
            </a:r>
            <a:endParaRPr sz="1300" b="0" i="0" u="none" strike="noStrike" cap="none">
              <a:solidFill>
                <a:schemeClr val="dk1"/>
              </a:solidFill>
              <a:latin typeface="Calibri"/>
              <a:ea typeface="Calibri"/>
              <a:cs typeface="Calibri"/>
              <a:sym typeface="Calibri"/>
            </a:endParaRPr>
          </a:p>
        </p:txBody>
      </p:sp>
      <p:sp>
        <p:nvSpPr>
          <p:cNvPr id="43" name="Google Shape;43;p2"/>
          <p:cNvSpPr/>
          <p:nvPr/>
        </p:nvSpPr>
        <p:spPr>
          <a:xfrm>
            <a:off x="1325880" y="2624328"/>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ElGamal Encryption</a:t>
            </a:r>
            <a:endParaRPr sz="1500" b="0" i="0" u="none" strike="noStrike" cap="none">
              <a:solidFill>
                <a:schemeClr val="dk1"/>
              </a:solidFill>
              <a:latin typeface="Calibri"/>
              <a:ea typeface="Calibri"/>
              <a:cs typeface="Calibri"/>
              <a:sym typeface="Calibri"/>
            </a:endParaRPr>
          </a:p>
        </p:txBody>
      </p:sp>
      <p:sp>
        <p:nvSpPr>
          <p:cNvPr id="44" name="Google Shape;44;p2"/>
          <p:cNvSpPr/>
          <p:nvPr/>
        </p:nvSpPr>
        <p:spPr>
          <a:xfrm>
            <a:off x="1325880" y="2843784"/>
            <a:ext cx="45720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Key generation, encryption/decryption</a:t>
            </a:r>
            <a:endParaRPr sz="1100" b="0" i="0" u="none" strike="noStrike" cap="none">
              <a:solidFill>
                <a:schemeClr val="dk1"/>
              </a:solidFill>
              <a:latin typeface="Calibri"/>
              <a:ea typeface="Calibri"/>
              <a:cs typeface="Calibri"/>
              <a:sym typeface="Calibri"/>
            </a:endParaRPr>
          </a:p>
        </p:txBody>
      </p:sp>
      <p:sp>
        <p:nvSpPr>
          <p:cNvPr id="45" name="Google Shape;45;p2"/>
          <p:cNvSpPr/>
          <p:nvPr/>
        </p:nvSpPr>
        <p:spPr>
          <a:xfrm>
            <a:off x="640080" y="3172968"/>
            <a:ext cx="502920" cy="384048"/>
          </a:xfrm>
          <a:prstGeom prst="rect">
            <a:avLst/>
          </a:prstGeom>
          <a:solidFill>
            <a:srgbClr val="1B7FA6"/>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640080" y="3172968"/>
            <a:ext cx="5029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05</a:t>
            </a:r>
            <a:endParaRPr sz="1300" b="0" i="0" u="none" strike="noStrike" cap="none">
              <a:solidFill>
                <a:schemeClr val="dk1"/>
              </a:solidFill>
              <a:latin typeface="Calibri"/>
              <a:ea typeface="Calibri"/>
              <a:cs typeface="Calibri"/>
              <a:sym typeface="Calibri"/>
            </a:endParaRPr>
          </a:p>
        </p:txBody>
      </p:sp>
      <p:sp>
        <p:nvSpPr>
          <p:cNvPr id="47" name="Google Shape;47;p2"/>
          <p:cNvSpPr/>
          <p:nvPr/>
        </p:nvSpPr>
        <p:spPr>
          <a:xfrm>
            <a:off x="1325880" y="3154680"/>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ElGamal &amp; DSA Signatures</a:t>
            </a:r>
            <a:endParaRPr sz="1500" b="0" i="0" u="none" strike="noStrike" cap="none">
              <a:solidFill>
                <a:schemeClr val="dk1"/>
              </a:solidFill>
              <a:latin typeface="Calibri"/>
              <a:ea typeface="Calibri"/>
              <a:cs typeface="Calibri"/>
              <a:sym typeface="Calibri"/>
            </a:endParaRPr>
          </a:p>
        </p:txBody>
      </p:sp>
      <p:sp>
        <p:nvSpPr>
          <p:cNvPr id="48" name="Google Shape;48;p2"/>
          <p:cNvSpPr/>
          <p:nvPr/>
        </p:nvSpPr>
        <p:spPr>
          <a:xfrm>
            <a:off x="1325880" y="3374136"/>
            <a:ext cx="45720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Signing, verification, nonce security</a:t>
            </a:r>
            <a:endParaRPr sz="1100" b="0" i="0" u="none" strike="noStrike" cap="none">
              <a:solidFill>
                <a:schemeClr val="dk1"/>
              </a:solidFill>
              <a:latin typeface="Calibri"/>
              <a:ea typeface="Calibri"/>
              <a:cs typeface="Calibri"/>
              <a:sym typeface="Calibri"/>
            </a:endParaRPr>
          </a:p>
        </p:txBody>
      </p:sp>
      <p:sp>
        <p:nvSpPr>
          <p:cNvPr id="49" name="Google Shape;49;p2"/>
          <p:cNvSpPr/>
          <p:nvPr/>
        </p:nvSpPr>
        <p:spPr>
          <a:xfrm>
            <a:off x="640080" y="3703320"/>
            <a:ext cx="502920" cy="384048"/>
          </a:xfrm>
          <a:prstGeom prst="rect">
            <a:avLst/>
          </a:prstGeom>
          <a:solidFill>
            <a:srgbClr val="1B7FA6"/>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640080" y="3703320"/>
            <a:ext cx="5029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06</a:t>
            </a:r>
            <a:endParaRPr sz="1300" b="0" i="0" u="none" strike="noStrike" cap="none">
              <a:solidFill>
                <a:schemeClr val="dk1"/>
              </a:solidFill>
              <a:latin typeface="Calibri"/>
              <a:ea typeface="Calibri"/>
              <a:cs typeface="Calibri"/>
              <a:sym typeface="Calibri"/>
            </a:endParaRPr>
          </a:p>
        </p:txBody>
      </p:sp>
      <p:sp>
        <p:nvSpPr>
          <p:cNvPr id="51" name="Google Shape;51;p2"/>
          <p:cNvSpPr/>
          <p:nvPr/>
        </p:nvSpPr>
        <p:spPr>
          <a:xfrm>
            <a:off x="1325880" y="3685032"/>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Security Analysis and Attacks</a:t>
            </a:r>
            <a:endParaRPr sz="1500" b="0" i="0" u="none" strike="noStrike" cap="none">
              <a:solidFill>
                <a:schemeClr val="dk1"/>
              </a:solidFill>
              <a:latin typeface="Calibri"/>
              <a:ea typeface="Calibri"/>
              <a:cs typeface="Calibri"/>
              <a:sym typeface="Calibri"/>
            </a:endParaRPr>
          </a:p>
        </p:txBody>
      </p:sp>
      <p:sp>
        <p:nvSpPr>
          <p:cNvPr id="52" name="Google Shape;52;p2"/>
          <p:cNvSpPr/>
          <p:nvPr/>
        </p:nvSpPr>
        <p:spPr>
          <a:xfrm>
            <a:off x="1325880" y="3904488"/>
            <a:ext cx="45720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CDH, DDH, Logjam, nonce reuse</a:t>
            </a:r>
            <a:endParaRPr sz="1100" b="0" i="0" u="none" strike="noStrike" cap="none">
              <a:solidFill>
                <a:schemeClr val="dk1"/>
              </a:solidFill>
              <a:latin typeface="Calibri"/>
              <a:ea typeface="Calibri"/>
              <a:cs typeface="Calibri"/>
              <a:sym typeface="Calibri"/>
            </a:endParaRPr>
          </a:p>
        </p:txBody>
      </p:sp>
      <p:sp>
        <p:nvSpPr>
          <p:cNvPr id="53" name="Google Shape;53;p2"/>
          <p:cNvSpPr/>
          <p:nvPr/>
        </p:nvSpPr>
        <p:spPr>
          <a:xfrm>
            <a:off x="640080" y="4233672"/>
            <a:ext cx="502920" cy="384048"/>
          </a:xfrm>
          <a:prstGeom prst="rect">
            <a:avLst/>
          </a:prstGeom>
          <a:solidFill>
            <a:srgbClr val="1B7FA6"/>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640080" y="4233672"/>
            <a:ext cx="50292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07</a:t>
            </a:r>
            <a:endParaRPr sz="1300" b="0" i="0" u="none" strike="noStrike" cap="none">
              <a:solidFill>
                <a:schemeClr val="dk1"/>
              </a:solidFill>
              <a:latin typeface="Calibri"/>
              <a:ea typeface="Calibri"/>
              <a:cs typeface="Calibri"/>
              <a:sym typeface="Calibri"/>
            </a:endParaRPr>
          </a:p>
        </p:txBody>
      </p:sp>
      <p:sp>
        <p:nvSpPr>
          <p:cNvPr id="55" name="Google Shape;55;p2"/>
          <p:cNvSpPr/>
          <p:nvPr/>
        </p:nvSpPr>
        <p:spPr>
          <a:xfrm>
            <a:off x="1325880" y="4215384"/>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Conclusion &amp; Q&amp;A</a:t>
            </a:r>
            <a:endParaRPr sz="1500" b="0" i="0" u="none" strike="noStrike" cap="none">
              <a:solidFill>
                <a:schemeClr val="dk1"/>
              </a:solidFill>
              <a:latin typeface="Calibri"/>
              <a:ea typeface="Calibri"/>
              <a:cs typeface="Calibri"/>
              <a:sym typeface="Calibri"/>
            </a:endParaRPr>
          </a:p>
        </p:txBody>
      </p:sp>
      <p:sp>
        <p:nvSpPr>
          <p:cNvPr id="56" name="Google Shape;56;p2"/>
          <p:cNvSpPr/>
          <p:nvPr/>
        </p:nvSpPr>
        <p:spPr>
          <a:xfrm>
            <a:off x="1325880" y="4434840"/>
            <a:ext cx="45720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Summary, next steps, questions</a:t>
            </a:r>
            <a:endParaRPr sz="1100" b="0" i="0" u="none" strike="noStrike" cap="none">
              <a:solidFill>
                <a:schemeClr val="dk1"/>
              </a:solidFill>
              <a:latin typeface="Calibri"/>
              <a:ea typeface="Calibri"/>
              <a:cs typeface="Calibri"/>
              <a:sym typeface="Calibri"/>
            </a:endParaRPr>
          </a:p>
        </p:txBody>
      </p:sp>
      <p:sp>
        <p:nvSpPr>
          <p:cNvPr id="57" name="Google Shape;57;p2"/>
          <p:cNvSpPr/>
          <p:nvPr/>
        </p:nvSpPr>
        <p:spPr>
          <a:xfrm>
            <a:off x="6217920" y="1051560"/>
            <a:ext cx="2560320" cy="356616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6217920" y="114300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B7FA6"/>
              </a:buClr>
              <a:buSzPts val="1300"/>
              <a:buFont typeface="Georgia"/>
              <a:buNone/>
            </a:pPr>
            <a:r>
              <a:rPr lang="en-US" sz="1300" b="1" i="0" u="none" strike="noStrike" cap="none">
                <a:solidFill>
                  <a:srgbClr val="1B7FA6"/>
                </a:solidFill>
                <a:latin typeface="Georgia"/>
                <a:ea typeface="Georgia"/>
                <a:cs typeface="Georgia"/>
                <a:sym typeface="Georgia"/>
              </a:rPr>
              <a:t>Time Allocation</a:t>
            </a:r>
            <a:endParaRPr sz="1300" b="0" i="0" u="none" strike="noStrike" cap="none">
              <a:solidFill>
                <a:schemeClr val="dk1"/>
              </a:solidFill>
              <a:latin typeface="Calibri"/>
              <a:ea typeface="Calibri"/>
              <a:cs typeface="Calibri"/>
              <a:sym typeface="Calibri"/>
            </a:endParaRPr>
          </a:p>
        </p:txBody>
      </p:sp>
      <p:sp>
        <p:nvSpPr>
          <p:cNvPr id="59" name="Google Shape;59;p2"/>
          <p:cNvSpPr/>
          <p:nvPr/>
        </p:nvSpPr>
        <p:spPr>
          <a:xfrm>
            <a:off x="6217920" y="155448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~20 min</a:t>
            </a:r>
            <a:endParaRPr sz="1200" b="0" i="0" u="none" strike="noStrike" cap="none">
              <a:solidFill>
                <a:schemeClr val="dk1"/>
              </a:solidFill>
              <a:latin typeface="Calibri"/>
              <a:ea typeface="Calibri"/>
              <a:cs typeface="Calibri"/>
              <a:sym typeface="Calibri"/>
            </a:endParaRPr>
          </a:p>
        </p:txBody>
      </p:sp>
      <p:sp>
        <p:nvSpPr>
          <p:cNvPr id="60" name="Google Shape;60;p2"/>
          <p:cNvSpPr/>
          <p:nvPr/>
        </p:nvSpPr>
        <p:spPr>
          <a:xfrm>
            <a:off x="6217920" y="196596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~10 min</a:t>
            </a:r>
            <a:endParaRPr sz="1200" b="0" i="0" u="none" strike="noStrike" cap="none">
              <a:solidFill>
                <a:schemeClr val="dk1"/>
              </a:solidFill>
              <a:latin typeface="Calibri"/>
              <a:ea typeface="Calibri"/>
              <a:cs typeface="Calibri"/>
              <a:sym typeface="Calibri"/>
            </a:endParaRPr>
          </a:p>
        </p:txBody>
      </p:sp>
      <p:sp>
        <p:nvSpPr>
          <p:cNvPr id="61" name="Google Shape;61;p2"/>
          <p:cNvSpPr/>
          <p:nvPr/>
        </p:nvSpPr>
        <p:spPr>
          <a:xfrm>
            <a:off x="6217920" y="237744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~15 min</a:t>
            </a:r>
            <a:endParaRPr sz="1200" b="0" i="0" u="none" strike="noStrike" cap="none">
              <a:solidFill>
                <a:schemeClr val="dk1"/>
              </a:solidFill>
              <a:latin typeface="Calibri"/>
              <a:ea typeface="Calibri"/>
              <a:cs typeface="Calibri"/>
              <a:sym typeface="Calibri"/>
            </a:endParaRPr>
          </a:p>
        </p:txBody>
      </p:sp>
      <p:sp>
        <p:nvSpPr>
          <p:cNvPr id="62" name="Google Shape;62;p2"/>
          <p:cNvSpPr/>
          <p:nvPr/>
        </p:nvSpPr>
        <p:spPr>
          <a:xfrm>
            <a:off x="6217920" y="278892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~15 min</a:t>
            </a:r>
            <a:endParaRPr sz="1200" b="0" i="0" u="none" strike="noStrike" cap="none">
              <a:solidFill>
                <a:schemeClr val="dk1"/>
              </a:solidFill>
              <a:latin typeface="Calibri"/>
              <a:ea typeface="Calibri"/>
              <a:cs typeface="Calibri"/>
              <a:sym typeface="Calibri"/>
            </a:endParaRPr>
          </a:p>
        </p:txBody>
      </p:sp>
      <p:sp>
        <p:nvSpPr>
          <p:cNvPr id="63" name="Google Shape;63;p2"/>
          <p:cNvSpPr/>
          <p:nvPr/>
        </p:nvSpPr>
        <p:spPr>
          <a:xfrm>
            <a:off x="6217920" y="320040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~15 min</a:t>
            </a:r>
            <a:endParaRPr sz="1200" b="0" i="0" u="none" strike="noStrike" cap="none">
              <a:solidFill>
                <a:schemeClr val="dk1"/>
              </a:solidFill>
              <a:latin typeface="Calibri"/>
              <a:ea typeface="Calibri"/>
              <a:cs typeface="Calibri"/>
              <a:sym typeface="Calibri"/>
            </a:endParaRPr>
          </a:p>
        </p:txBody>
      </p:sp>
      <p:sp>
        <p:nvSpPr>
          <p:cNvPr id="64" name="Google Shape;64;p2"/>
          <p:cNvSpPr/>
          <p:nvPr/>
        </p:nvSpPr>
        <p:spPr>
          <a:xfrm>
            <a:off x="6217920" y="361188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~15 min</a:t>
            </a:r>
            <a:endParaRPr sz="1200" b="0" i="0" u="none" strike="noStrike" cap="none">
              <a:solidFill>
                <a:schemeClr val="dk1"/>
              </a:solidFill>
              <a:latin typeface="Calibri"/>
              <a:ea typeface="Calibri"/>
              <a:cs typeface="Calibri"/>
              <a:sym typeface="Calibri"/>
            </a:endParaRPr>
          </a:p>
        </p:txBody>
      </p:sp>
      <p:sp>
        <p:nvSpPr>
          <p:cNvPr id="65" name="Google Shape;65;p2"/>
          <p:cNvSpPr/>
          <p:nvPr/>
        </p:nvSpPr>
        <p:spPr>
          <a:xfrm>
            <a:off x="6217920" y="4023360"/>
            <a:ext cx="256032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~10 min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70"/>
        <p:cNvGrpSpPr/>
        <p:nvPr/>
      </p:nvGrpSpPr>
      <p:grpSpPr>
        <a:xfrm>
          <a:off x="0" y="0"/>
          <a:ext cx="0" cy="0"/>
          <a:chOff x="0" y="0"/>
          <a:chExt cx="0" cy="0"/>
        </a:xfrm>
      </p:grpSpPr>
      <p:sp>
        <p:nvSpPr>
          <p:cNvPr id="71" name="Google Shape;71;p3"/>
          <p:cNvSpPr/>
          <p:nvPr/>
        </p:nvSpPr>
        <p:spPr>
          <a:xfrm>
            <a:off x="731520" y="914400"/>
            <a:ext cx="1828800" cy="228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9600"/>
              <a:buFont typeface="Georgia"/>
              <a:buNone/>
            </a:pPr>
            <a:r>
              <a:rPr lang="en-US" sz="9600" b="1" i="0" u="none" strike="noStrike" cap="none">
                <a:solidFill>
                  <a:srgbClr val="1B7FA6"/>
                </a:solidFill>
                <a:latin typeface="Georgia"/>
                <a:ea typeface="Georgia"/>
                <a:cs typeface="Georgia"/>
                <a:sym typeface="Georgia"/>
              </a:rPr>
              <a:t>01</a:t>
            </a:r>
            <a:endParaRPr sz="9600" b="0" i="0" u="none" strike="noStrike" cap="none">
              <a:solidFill>
                <a:schemeClr val="dk1"/>
              </a:solidFill>
              <a:latin typeface="Calibri"/>
              <a:ea typeface="Calibri"/>
              <a:cs typeface="Calibri"/>
              <a:sym typeface="Calibri"/>
            </a:endParaRPr>
          </a:p>
        </p:txBody>
      </p:sp>
      <p:sp>
        <p:nvSpPr>
          <p:cNvPr id="72" name="Google Shape;72;p3"/>
          <p:cNvSpPr/>
          <p:nvPr/>
        </p:nvSpPr>
        <p:spPr>
          <a:xfrm>
            <a:off x="914400" y="1828800"/>
            <a:ext cx="731520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i="0" u="none" strike="noStrike" cap="none">
                <a:solidFill>
                  <a:srgbClr val="FFFFFF"/>
                </a:solidFill>
                <a:latin typeface="Georgia"/>
                <a:ea typeface="Georgia"/>
                <a:cs typeface="Georgia"/>
                <a:sym typeface="Georgia"/>
              </a:rPr>
              <a:t>Diffie-Hellman Key Exchange</a:t>
            </a:r>
            <a:endParaRPr sz="3600" b="0" i="0" u="none" strike="noStrike" cap="none">
              <a:solidFill>
                <a:schemeClr val="dk1"/>
              </a:solidFill>
              <a:latin typeface="Calibri"/>
              <a:ea typeface="Calibri"/>
              <a:cs typeface="Calibri"/>
              <a:sym typeface="Calibri"/>
            </a:endParaRPr>
          </a:p>
        </p:txBody>
      </p:sp>
      <p:sp>
        <p:nvSpPr>
          <p:cNvPr id="73" name="Google Shape;73;p3"/>
          <p:cNvSpPr/>
          <p:nvPr/>
        </p:nvSpPr>
        <p:spPr>
          <a:xfrm>
            <a:off x="914400" y="292608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600"/>
              <a:buFont typeface="Calibri"/>
              <a:buNone/>
            </a:pPr>
            <a:r>
              <a:rPr lang="en-US" sz="1600" b="0" i="0" u="none" strike="noStrike" cap="none">
                <a:solidFill>
                  <a:srgbClr val="2BA4D4"/>
                </a:solidFill>
                <a:latin typeface="Calibri"/>
                <a:ea typeface="Calibri"/>
                <a:cs typeface="Calibri"/>
                <a:sym typeface="Calibri"/>
              </a:rPr>
              <a:t>Establishing shared secrets over insecure channels</a:t>
            </a:r>
            <a:endParaRPr sz="1600" b="0" i="0" u="none" strike="noStrike" cap="none">
              <a:solidFill>
                <a:schemeClr val="dk1"/>
              </a:solidFill>
              <a:latin typeface="Calibri"/>
              <a:ea typeface="Calibri"/>
              <a:cs typeface="Calibri"/>
              <a:sym typeface="Calibri"/>
            </a:endParaRPr>
          </a:p>
        </p:txBody>
      </p:sp>
      <p:sp>
        <p:nvSpPr>
          <p:cNvPr id="74" name="Google Shape;74;p3"/>
          <p:cNvSpPr/>
          <p:nvPr/>
        </p:nvSpPr>
        <p:spPr>
          <a:xfrm>
            <a:off x="914400" y="4206240"/>
            <a:ext cx="22860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80"/>
        <p:cNvGrpSpPr/>
        <p:nvPr/>
      </p:nvGrpSpPr>
      <p:grpSpPr>
        <a:xfrm>
          <a:off x="0" y="0"/>
          <a:ext cx="0" cy="0"/>
          <a:chOff x="0" y="0"/>
          <a:chExt cx="0" cy="0"/>
        </a:xfrm>
      </p:grpSpPr>
      <p:sp>
        <p:nvSpPr>
          <p:cNvPr id="81" name="Google Shape;81;p4"/>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1: Diffie-Hellman Key Exchange</a:t>
            </a:r>
            <a:endParaRPr sz="900" b="0" i="0" u="none" strike="noStrike" cap="none">
              <a:solidFill>
                <a:schemeClr val="dk1"/>
              </a:solidFill>
              <a:latin typeface="Calibri"/>
              <a:ea typeface="Calibri"/>
              <a:cs typeface="Calibri"/>
              <a:sym typeface="Calibri"/>
            </a:endParaRPr>
          </a:p>
        </p:txBody>
      </p:sp>
      <p:sp>
        <p:nvSpPr>
          <p:cNvPr id="83" name="Google Shape;83;p4"/>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4</a:t>
            </a:r>
            <a:endParaRPr sz="1000" b="0" i="0" u="none" strike="noStrike" cap="none">
              <a:solidFill>
                <a:schemeClr val="dk1"/>
              </a:solidFill>
              <a:latin typeface="Calibri"/>
              <a:ea typeface="Calibri"/>
              <a:cs typeface="Calibri"/>
              <a:sym typeface="Calibri"/>
            </a:endParaRPr>
          </a:p>
        </p:txBody>
      </p:sp>
      <p:sp>
        <p:nvSpPr>
          <p:cNvPr id="84" name="Google Shape;84;p4"/>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The Key Exchange Problem</a:t>
            </a:r>
            <a:endParaRPr sz="2400" b="0" i="0" u="none" strike="noStrike" cap="none">
              <a:solidFill>
                <a:schemeClr val="dk1"/>
              </a:solidFill>
              <a:latin typeface="Calibri"/>
              <a:ea typeface="Calibri"/>
              <a:cs typeface="Calibri"/>
              <a:sym typeface="Calibri"/>
            </a:endParaRPr>
          </a:p>
        </p:txBody>
      </p:sp>
      <p:sp>
        <p:nvSpPr>
          <p:cNvPr id="85" name="Google Shape;85;p4"/>
          <p:cNvSpPr/>
          <p:nvPr/>
        </p:nvSpPr>
        <p:spPr>
          <a:xfrm>
            <a:off x="548640" y="1097280"/>
            <a:ext cx="3840480" cy="292608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p:nvPr/>
        </p:nvSpPr>
        <p:spPr>
          <a:xfrm>
            <a:off x="548640" y="1097280"/>
            <a:ext cx="3840480" cy="41148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731520" y="1115568"/>
            <a:ext cx="3474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400"/>
              <a:buFont typeface="Georgia"/>
              <a:buNone/>
            </a:pPr>
            <a:r>
              <a:rPr lang="en-US" sz="1400" b="1" i="0" u="none" strike="noStrike" cap="none">
                <a:solidFill>
                  <a:srgbClr val="EF4444"/>
                </a:solidFill>
                <a:latin typeface="Georgia"/>
                <a:ea typeface="Georgia"/>
                <a:cs typeface="Georgia"/>
                <a:sym typeface="Georgia"/>
              </a:rPr>
              <a:t>The Problem</a:t>
            </a:r>
            <a:endParaRPr sz="1400" b="0" i="0" u="none" strike="noStrike" cap="none">
              <a:solidFill>
                <a:schemeClr val="dk1"/>
              </a:solidFill>
              <a:latin typeface="Calibri"/>
              <a:ea typeface="Calibri"/>
              <a:cs typeface="Calibri"/>
              <a:sym typeface="Calibri"/>
            </a:endParaRPr>
          </a:p>
        </p:txBody>
      </p:sp>
      <p:sp>
        <p:nvSpPr>
          <p:cNvPr id="88" name="Google Shape;88;p4"/>
          <p:cNvSpPr/>
          <p:nvPr/>
        </p:nvSpPr>
        <p:spPr>
          <a:xfrm>
            <a:off x="640080" y="1600200"/>
            <a:ext cx="3566160" cy="22860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250"/>
              <a:buFont typeface="Calibri"/>
              <a:buChar char="•"/>
            </a:pPr>
            <a:r>
              <a:rPr lang="en-US" sz="1250" b="0" i="0" u="none" strike="noStrike" cap="none">
                <a:solidFill>
                  <a:srgbClr val="1E293B"/>
                </a:solidFill>
                <a:latin typeface="Calibri"/>
                <a:ea typeface="Calibri"/>
                <a:cs typeface="Calibri"/>
                <a:sym typeface="Calibri"/>
              </a:rPr>
              <a:t>Alice and Bob want to communicate securely but have never met</a:t>
            </a:r>
            <a:endParaRPr sz="125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250"/>
              <a:buFont typeface="Calibri"/>
              <a:buChar char="•"/>
            </a:pPr>
            <a:r>
              <a:rPr lang="en-US" sz="1250" b="0" i="0" u="none" strike="noStrike" cap="none">
                <a:solidFill>
                  <a:srgbClr val="1E293B"/>
                </a:solidFill>
                <a:latin typeface="Calibri"/>
                <a:ea typeface="Calibri"/>
                <a:cs typeface="Calibri"/>
                <a:sym typeface="Calibri"/>
              </a:rPr>
              <a:t>They need a shared symmetric key K over a public channel</a:t>
            </a:r>
            <a:endParaRPr sz="125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250"/>
              <a:buFont typeface="Calibri"/>
              <a:buChar char="•"/>
            </a:pPr>
            <a:r>
              <a:rPr lang="en-US" sz="1250" b="0" i="0" u="none" strike="noStrike" cap="none">
                <a:solidFill>
                  <a:srgbClr val="1E293B"/>
                </a:solidFill>
                <a:latin typeface="Calibri"/>
                <a:ea typeface="Calibri"/>
                <a:cs typeface="Calibri"/>
                <a:sym typeface="Calibri"/>
              </a:rPr>
              <a:t>Adversary Eve can observe all traffic on the channel</a:t>
            </a:r>
            <a:endParaRPr sz="125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250"/>
              <a:buFont typeface="Calibri"/>
              <a:buChar char="•"/>
            </a:pPr>
            <a:r>
              <a:rPr lang="en-US" sz="1250" b="0" i="0" u="none" strike="noStrike" cap="none">
                <a:solidFill>
                  <a:srgbClr val="1E293B"/>
                </a:solidFill>
                <a:latin typeface="Calibri"/>
                <a:ea typeface="Calibri"/>
                <a:cs typeface="Calibri"/>
                <a:sym typeface="Calibri"/>
              </a:rPr>
              <a:t>With only symmetric crypto, this seems impossible</a:t>
            </a:r>
            <a:endParaRPr sz="1250" b="0" i="0" u="none" strike="noStrike" cap="none">
              <a:solidFill>
                <a:schemeClr val="dk1"/>
              </a:solidFill>
              <a:latin typeface="Calibri"/>
              <a:ea typeface="Calibri"/>
              <a:cs typeface="Calibri"/>
              <a:sym typeface="Calibri"/>
            </a:endParaRPr>
          </a:p>
        </p:txBody>
      </p:sp>
      <p:sp>
        <p:nvSpPr>
          <p:cNvPr id="89" name="Google Shape;89;p4"/>
          <p:cNvSpPr/>
          <p:nvPr/>
        </p:nvSpPr>
        <p:spPr>
          <a:xfrm>
            <a:off x="4754880" y="1097280"/>
            <a:ext cx="3840480" cy="292608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a:off x="4754880" y="1097280"/>
            <a:ext cx="3840480" cy="411480"/>
          </a:xfrm>
          <a:prstGeom prst="rect">
            <a:avLst/>
          </a:prstGeom>
          <a:solidFill>
            <a:srgbClr val="ECF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4937760" y="1115568"/>
            <a:ext cx="3474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400"/>
              <a:buFont typeface="Georgia"/>
              <a:buNone/>
            </a:pPr>
            <a:r>
              <a:rPr lang="en-US" sz="1400" b="1" i="0" u="none" strike="noStrike" cap="none">
                <a:solidFill>
                  <a:srgbClr val="10B981"/>
                </a:solidFill>
                <a:latin typeface="Georgia"/>
                <a:ea typeface="Georgia"/>
                <a:cs typeface="Georgia"/>
                <a:sym typeface="Georgia"/>
              </a:rPr>
              <a:t>The DH Insight (1976)</a:t>
            </a:r>
            <a:endParaRPr sz="1400" b="0" i="0" u="none" strike="noStrike" cap="none">
              <a:solidFill>
                <a:schemeClr val="dk1"/>
              </a:solidFill>
              <a:latin typeface="Calibri"/>
              <a:ea typeface="Calibri"/>
              <a:cs typeface="Calibri"/>
              <a:sym typeface="Calibri"/>
            </a:endParaRPr>
          </a:p>
        </p:txBody>
      </p:sp>
      <p:sp>
        <p:nvSpPr>
          <p:cNvPr id="92" name="Google Shape;92;p4"/>
          <p:cNvSpPr/>
          <p:nvPr/>
        </p:nvSpPr>
        <p:spPr>
          <a:xfrm>
            <a:off x="4846320" y="1600200"/>
            <a:ext cx="3566160" cy="347472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250"/>
              <a:buFont typeface="Calibri"/>
              <a:buChar char="•"/>
            </a:pPr>
            <a:r>
              <a:rPr lang="en-US" sz="1250" b="0" i="0" u="none" strike="noStrike" cap="none" dirty="0">
                <a:solidFill>
                  <a:srgbClr val="1E293B"/>
                </a:solidFill>
                <a:latin typeface="Calibri"/>
                <a:ea typeface="Calibri"/>
                <a:cs typeface="Calibri"/>
                <a:sym typeface="Calibri"/>
              </a:rPr>
              <a:t>Each party contributes a random secret</a:t>
            </a:r>
            <a:endParaRPr sz="1250" b="0" i="0" u="none" strike="noStrike" cap="none" dirty="0">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250"/>
              <a:buFont typeface="Calibri"/>
              <a:buChar char="•"/>
            </a:pPr>
            <a:r>
              <a:rPr lang="en-US" sz="1250" b="0" i="0" u="none" strike="noStrike" cap="none" dirty="0">
                <a:solidFill>
                  <a:srgbClr val="1E293B"/>
                </a:solidFill>
                <a:latin typeface="Calibri"/>
                <a:ea typeface="Calibri"/>
                <a:cs typeface="Calibri"/>
                <a:sym typeface="Calibri"/>
              </a:rPr>
              <a:t>Exchange derived public values openly</a:t>
            </a:r>
            <a:endParaRPr sz="1250" b="0" i="0" u="none" strike="noStrike" cap="none" dirty="0">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250"/>
              <a:buFont typeface="Calibri"/>
              <a:buChar char="•"/>
            </a:pPr>
            <a:r>
              <a:rPr lang="en-US" sz="1250" b="0" i="0" u="none" strike="noStrike" cap="none" dirty="0">
                <a:solidFill>
                  <a:srgbClr val="1E293B"/>
                </a:solidFill>
                <a:latin typeface="Calibri"/>
                <a:ea typeface="Calibri"/>
                <a:cs typeface="Calibri"/>
                <a:sym typeface="Calibri"/>
              </a:rPr>
              <a:t>Independently compute the same shared secret</a:t>
            </a:r>
            <a:endParaRPr sz="1250" b="0" i="0" u="none" strike="noStrike" cap="none" dirty="0">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250"/>
              <a:buFont typeface="Calibri"/>
              <a:buChar char="•"/>
            </a:pPr>
            <a:r>
              <a:rPr lang="en-US" sz="1250" b="0" i="0" u="none" strike="noStrike" cap="none" dirty="0">
                <a:solidFill>
                  <a:srgbClr val="1E293B"/>
                </a:solidFill>
                <a:latin typeface="Calibri"/>
                <a:ea typeface="Calibri"/>
                <a:cs typeface="Calibri"/>
                <a:sym typeface="Calibri"/>
              </a:rPr>
              <a:t>Eve cannot compute it despite seeing all public data</a:t>
            </a:r>
            <a:endParaRPr lang="ru-RU" sz="1250" dirty="0">
              <a:solidFill>
                <a:schemeClr val="dk1"/>
              </a:solidFill>
              <a:latin typeface="Calibri"/>
              <a:ea typeface="Calibri"/>
              <a:cs typeface="Calibri"/>
              <a:sym typeface="Calibri"/>
            </a:endParaRPr>
          </a:p>
          <a:p>
            <a:pPr marL="342900" lvl="0" indent="-342900">
              <a:spcBef>
                <a:spcPts val="600"/>
              </a:spcBef>
              <a:buClr>
                <a:srgbClr val="1E293B"/>
              </a:buClr>
              <a:buSzPts val="1250"/>
              <a:buFont typeface="Calibri"/>
              <a:buChar char="•"/>
            </a:pPr>
            <a:r>
              <a:rPr lang="ru-RU" sz="1250" dirty="0">
                <a:solidFill>
                  <a:srgbClr val="1E293B"/>
                </a:solidFill>
                <a:latin typeface="Calibri"/>
                <a:ea typeface="Calibri"/>
                <a:cs typeface="Calibri"/>
                <a:sym typeface="Calibri"/>
              </a:rPr>
              <a:t>Каждая сторона предоставляет случайный секрет</a:t>
            </a:r>
          </a:p>
          <a:p>
            <a:pPr marL="342900" lvl="0" indent="-342900">
              <a:spcBef>
                <a:spcPts val="600"/>
              </a:spcBef>
              <a:buClr>
                <a:srgbClr val="1E293B"/>
              </a:buClr>
              <a:buSzPts val="1250"/>
              <a:buFont typeface="Calibri"/>
              <a:buChar char="•"/>
            </a:pPr>
            <a:r>
              <a:rPr lang="ru-RU" sz="1250" dirty="0">
                <a:solidFill>
                  <a:srgbClr val="1E293B"/>
                </a:solidFill>
                <a:latin typeface="Calibri"/>
                <a:ea typeface="Calibri"/>
                <a:cs typeface="Calibri"/>
                <a:sym typeface="Calibri"/>
              </a:rPr>
              <a:t>Обменивайтесь полученными публичными значениями открыто</a:t>
            </a:r>
          </a:p>
          <a:p>
            <a:pPr marL="342900" lvl="0" indent="-342900">
              <a:spcBef>
                <a:spcPts val="600"/>
              </a:spcBef>
              <a:buClr>
                <a:srgbClr val="1E293B"/>
              </a:buClr>
              <a:buSzPts val="1250"/>
              <a:buFont typeface="Calibri"/>
              <a:buChar char="•"/>
            </a:pPr>
            <a:r>
              <a:rPr lang="ru-RU" sz="1250" dirty="0">
                <a:solidFill>
                  <a:srgbClr val="1E293B"/>
                </a:solidFill>
                <a:latin typeface="Calibri"/>
                <a:ea typeface="Calibri"/>
                <a:cs typeface="Calibri"/>
                <a:sym typeface="Calibri"/>
              </a:rPr>
              <a:t>Независимо вычисляйте один и тот же общий секрет</a:t>
            </a:r>
          </a:p>
          <a:p>
            <a:pPr marL="342900" lvl="0" indent="-342900">
              <a:spcBef>
                <a:spcPts val="600"/>
              </a:spcBef>
              <a:buClr>
                <a:srgbClr val="1E293B"/>
              </a:buClr>
              <a:buSzPts val="1250"/>
              <a:buFont typeface="Calibri"/>
              <a:buChar char="•"/>
            </a:pPr>
            <a:r>
              <a:rPr lang="ru-RU" sz="1250" dirty="0" err="1">
                <a:solidFill>
                  <a:srgbClr val="1E293B"/>
                </a:solidFill>
                <a:latin typeface="Calibri"/>
                <a:ea typeface="Calibri"/>
                <a:cs typeface="Calibri"/>
                <a:sym typeface="Calibri"/>
              </a:rPr>
              <a:t>Eve</a:t>
            </a:r>
            <a:r>
              <a:rPr lang="ru-RU" sz="1250" dirty="0">
                <a:solidFill>
                  <a:srgbClr val="1E293B"/>
                </a:solidFill>
                <a:latin typeface="Calibri"/>
                <a:ea typeface="Calibri"/>
                <a:cs typeface="Calibri"/>
                <a:sym typeface="Calibri"/>
              </a:rPr>
              <a:t> не может вычислить его, несмотря на то, что видит все общедоступные данные</a:t>
            </a:r>
            <a:endParaRPr lang="ru-RU" sz="1250" b="0" i="0" u="none" strike="noStrike" cap="none" dirty="0">
              <a:solidFill>
                <a:srgbClr val="1E293B"/>
              </a:solidFill>
              <a:latin typeface="Calibri"/>
              <a:ea typeface="Calibri"/>
              <a:cs typeface="Calibri"/>
              <a:sym typeface="Calibri"/>
            </a:endParaRPr>
          </a:p>
        </p:txBody>
      </p:sp>
      <p:sp>
        <p:nvSpPr>
          <p:cNvPr id="93" name="Google Shape;93;p4"/>
          <p:cNvSpPr/>
          <p:nvPr/>
        </p:nvSpPr>
        <p:spPr>
          <a:xfrm>
            <a:off x="548640" y="4251960"/>
            <a:ext cx="73152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b="0" i="1" u="none" strike="noStrike" cap="none">
                <a:solidFill>
                  <a:srgbClr val="64748B"/>
                </a:solidFill>
                <a:latin typeface="Calibri"/>
                <a:ea typeface="Calibri"/>
                <a:cs typeface="Calibri"/>
                <a:sym typeface="Calibri"/>
              </a:rPr>
              <a:t>Diffie &amp; Hellman, 'New Directions in Cryptography', IEEE 1976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98"/>
        <p:cNvGrpSpPr/>
        <p:nvPr/>
      </p:nvGrpSpPr>
      <p:grpSpPr>
        <a:xfrm>
          <a:off x="0" y="0"/>
          <a:ext cx="0" cy="0"/>
          <a:chOff x="0" y="0"/>
          <a:chExt cx="0" cy="0"/>
        </a:xfrm>
      </p:grpSpPr>
      <p:sp>
        <p:nvSpPr>
          <p:cNvPr id="99" name="Google Shape;99;p5"/>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1: Diffie-Hellman Key Exchange</a:t>
            </a:r>
            <a:endParaRPr sz="900" b="0" i="0" u="none" strike="noStrike" cap="none">
              <a:solidFill>
                <a:schemeClr val="dk1"/>
              </a:solidFill>
              <a:latin typeface="Calibri"/>
              <a:ea typeface="Calibri"/>
              <a:cs typeface="Calibri"/>
              <a:sym typeface="Calibri"/>
            </a:endParaRPr>
          </a:p>
        </p:txBody>
      </p:sp>
      <p:sp>
        <p:nvSpPr>
          <p:cNvPr id="101" name="Google Shape;101;p5"/>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5</a:t>
            </a:r>
            <a:endParaRPr sz="1000" b="0" i="0" u="none" strike="noStrike" cap="none">
              <a:solidFill>
                <a:schemeClr val="dk1"/>
              </a:solidFill>
              <a:latin typeface="Calibri"/>
              <a:ea typeface="Calibri"/>
              <a:cs typeface="Calibri"/>
              <a:sym typeface="Calibri"/>
            </a:endParaRPr>
          </a:p>
        </p:txBody>
      </p:sp>
      <p:sp>
        <p:nvSpPr>
          <p:cNvPr id="102" name="Google Shape;102;p5"/>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The DH Protocol: Setup</a:t>
            </a:r>
            <a:endParaRPr sz="2400" b="0" i="0" u="none" strike="noStrike" cap="none">
              <a:solidFill>
                <a:schemeClr val="dk1"/>
              </a:solidFill>
              <a:latin typeface="Calibri"/>
              <a:ea typeface="Calibri"/>
              <a:cs typeface="Calibri"/>
              <a:sym typeface="Calibri"/>
            </a:endParaRPr>
          </a:p>
        </p:txBody>
      </p:sp>
      <p:sp>
        <p:nvSpPr>
          <p:cNvPr id="103" name="Google Shape;103;p5"/>
          <p:cNvSpPr/>
          <p:nvPr/>
        </p:nvSpPr>
        <p:spPr>
          <a:xfrm>
            <a:off x="548640" y="1097280"/>
            <a:ext cx="8046720" cy="118872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p:nvPr/>
        </p:nvSpPr>
        <p:spPr>
          <a:xfrm>
            <a:off x="731520" y="114300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400"/>
              <a:buFont typeface="Georgia"/>
              <a:buNone/>
            </a:pPr>
            <a:r>
              <a:rPr lang="en-US" sz="1400" b="1" i="0" u="none" strike="noStrike" cap="none">
                <a:solidFill>
                  <a:srgbClr val="1B7FA6"/>
                </a:solidFill>
                <a:latin typeface="Georgia"/>
                <a:ea typeface="Georgia"/>
                <a:cs typeface="Georgia"/>
                <a:sym typeface="Georgia"/>
              </a:rPr>
              <a:t>Public Parameters (agreed beforehand or standardized)</a:t>
            </a:r>
            <a:endParaRPr sz="1400" b="0" i="0" u="none" strike="noStrike" cap="none">
              <a:solidFill>
                <a:schemeClr val="dk1"/>
              </a:solidFill>
              <a:latin typeface="Calibri"/>
              <a:ea typeface="Calibri"/>
              <a:cs typeface="Calibri"/>
              <a:sym typeface="Calibri"/>
            </a:endParaRPr>
          </a:p>
        </p:txBody>
      </p:sp>
      <p:sp>
        <p:nvSpPr>
          <p:cNvPr id="105" name="Google Shape;105;p5"/>
          <p:cNvSpPr/>
          <p:nvPr/>
        </p:nvSpPr>
        <p:spPr>
          <a:xfrm>
            <a:off x="822960" y="1554480"/>
            <a:ext cx="731520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B7FA6"/>
              </a:buClr>
              <a:buSzPts val="1400"/>
              <a:buFont typeface="Consolas"/>
              <a:buNone/>
            </a:pPr>
            <a:r>
              <a:rPr lang="en-US" sz="1400" b="1" i="0" u="none" strike="noStrike" cap="none">
                <a:solidFill>
                  <a:srgbClr val="1B7FA6"/>
                </a:solidFill>
                <a:latin typeface="Consolas"/>
                <a:ea typeface="Consolas"/>
                <a:cs typeface="Consolas"/>
                <a:sym typeface="Consolas"/>
              </a:rPr>
              <a:t>p</a:t>
            </a:r>
            <a:r>
              <a:rPr lang="en-US" sz="1400" b="0" i="0" u="none" strike="noStrike" cap="none">
                <a:solidFill>
                  <a:srgbClr val="1E293B"/>
                </a:solidFill>
                <a:latin typeface="Calibri"/>
                <a:ea typeface="Calibri"/>
                <a:cs typeface="Calibri"/>
                <a:sym typeface="Calibri"/>
              </a:rPr>
              <a:t> : Large prime number (typically 2048–4096 bits)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B7FA6"/>
              </a:buClr>
              <a:buSzPts val="1400"/>
              <a:buFont typeface="Consolas"/>
              <a:buNone/>
            </a:pPr>
            <a:r>
              <a:rPr lang="en-US" sz="1400" b="1" i="0" u="none" strike="noStrike" cap="none">
                <a:solidFill>
                  <a:srgbClr val="1B7FA6"/>
                </a:solidFill>
                <a:latin typeface="Consolas"/>
                <a:ea typeface="Consolas"/>
                <a:cs typeface="Consolas"/>
                <a:sym typeface="Consolas"/>
              </a:rPr>
              <a:t>g</a:t>
            </a:r>
            <a:r>
              <a:rPr lang="en-US" sz="1400" b="0" i="0" u="none" strike="noStrike" cap="none">
                <a:solidFill>
                  <a:srgbClr val="1E293B"/>
                </a:solidFill>
                <a:latin typeface="Calibri"/>
                <a:ea typeface="Calibri"/>
                <a:cs typeface="Calibri"/>
                <a:sym typeface="Calibri"/>
              </a:rPr>
              <a:t> : Generator (primitive root modulo p)</a:t>
            </a:r>
            <a:endParaRPr sz="1400" b="0" i="0" u="none" strike="noStrike" cap="none">
              <a:solidFill>
                <a:schemeClr val="dk1"/>
              </a:solidFill>
              <a:latin typeface="Calibri"/>
              <a:ea typeface="Calibri"/>
              <a:cs typeface="Calibri"/>
              <a:sym typeface="Calibri"/>
            </a:endParaRPr>
          </a:p>
        </p:txBody>
      </p:sp>
      <p:sp>
        <p:nvSpPr>
          <p:cNvPr id="106" name="Google Shape;106;p5"/>
          <p:cNvSpPr/>
          <p:nvPr/>
        </p:nvSpPr>
        <p:spPr>
          <a:xfrm>
            <a:off x="548640" y="2560320"/>
            <a:ext cx="3749040" cy="219456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548640" y="2560320"/>
            <a:ext cx="3749040" cy="3657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548640" y="2578608"/>
            <a:ext cx="374904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400"/>
              <a:buFont typeface="Georgia"/>
              <a:buNone/>
            </a:pPr>
            <a:r>
              <a:rPr lang="en-US" sz="1400" b="1" i="0" u="none" strike="noStrike" cap="none">
                <a:solidFill>
                  <a:srgbClr val="1E293B"/>
                </a:solidFill>
                <a:latin typeface="Georgia"/>
                <a:ea typeface="Georgia"/>
                <a:cs typeface="Georgia"/>
                <a:sym typeface="Georgia"/>
              </a:rPr>
              <a:t>Alice</a:t>
            </a:r>
            <a:endParaRPr sz="1400" b="0" i="0" u="none" strike="noStrike" cap="none">
              <a:solidFill>
                <a:schemeClr val="dk1"/>
              </a:solidFill>
              <a:latin typeface="Calibri"/>
              <a:ea typeface="Calibri"/>
              <a:cs typeface="Calibri"/>
              <a:sym typeface="Calibri"/>
            </a:endParaRPr>
          </a:p>
        </p:txBody>
      </p:sp>
      <p:sp>
        <p:nvSpPr>
          <p:cNvPr id="109" name="Google Shape;109;p5"/>
          <p:cNvSpPr/>
          <p:nvPr/>
        </p:nvSpPr>
        <p:spPr>
          <a:xfrm>
            <a:off x="731520" y="2971800"/>
            <a:ext cx="3383280" cy="16459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1. Choose random private key </a:t>
            </a:r>
            <a:r>
              <a:rPr lang="en-US" sz="1300" b="1" i="0" u="none" strike="noStrike" cap="none">
                <a:solidFill>
                  <a:srgbClr val="1B7FA6"/>
                </a:solidFill>
                <a:latin typeface="Consolas"/>
                <a:ea typeface="Consolas"/>
                <a:cs typeface="Consolas"/>
                <a:sym typeface="Consolas"/>
              </a:rPr>
              <a:t>a</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64748B"/>
              </a:buClr>
              <a:buSzPts val="1100"/>
              <a:buFont typeface="Consolas"/>
              <a:buNone/>
            </a:pPr>
            <a:r>
              <a:rPr lang="en-US" sz="1100" b="0" i="0" u="none" strike="noStrike" cap="none">
                <a:solidFill>
                  <a:srgbClr val="64748B"/>
                </a:solidFill>
                <a:latin typeface="Consolas"/>
                <a:ea typeface="Consolas"/>
                <a:cs typeface="Consolas"/>
                <a:sym typeface="Consolas"/>
              </a:rPr>
              <a:t>    (1 &lt; a &lt; p−1)</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2. Compute </a:t>
            </a:r>
            <a:r>
              <a:rPr lang="en-US" sz="1300" b="1" i="0" u="none" strike="noStrike" cap="none">
                <a:solidFill>
                  <a:srgbClr val="1B7FA6"/>
                </a:solidFill>
                <a:latin typeface="Consolas"/>
                <a:ea typeface="Consolas"/>
                <a:cs typeface="Consolas"/>
                <a:sym typeface="Consolas"/>
              </a:rPr>
              <a:t>A = g^a mod p</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3. Send A to Bob (public)</a:t>
            </a:r>
            <a:endParaRPr sz="1300" b="0" i="0" u="none" strike="noStrike" cap="none">
              <a:solidFill>
                <a:schemeClr val="dk1"/>
              </a:solidFill>
              <a:latin typeface="Calibri"/>
              <a:ea typeface="Calibri"/>
              <a:cs typeface="Calibri"/>
              <a:sym typeface="Calibri"/>
            </a:endParaRPr>
          </a:p>
        </p:txBody>
      </p:sp>
      <p:sp>
        <p:nvSpPr>
          <p:cNvPr id="110" name="Google Shape;110;p5"/>
          <p:cNvSpPr/>
          <p:nvPr/>
        </p:nvSpPr>
        <p:spPr>
          <a:xfrm>
            <a:off x="4846320" y="2560320"/>
            <a:ext cx="3749040" cy="219456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4846320" y="2560320"/>
            <a:ext cx="3749040" cy="365760"/>
          </a:xfrm>
          <a:prstGeom prst="rect">
            <a:avLst/>
          </a:prstGeom>
          <a:solidFill>
            <a:srgbClr val="FEF3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4846320" y="2578608"/>
            <a:ext cx="374904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E293B"/>
              </a:buClr>
              <a:buSzPts val="1400"/>
              <a:buFont typeface="Georgia"/>
              <a:buNone/>
            </a:pPr>
            <a:r>
              <a:rPr lang="en-US" sz="1400" b="1" i="0" u="none" strike="noStrike" cap="none">
                <a:solidFill>
                  <a:srgbClr val="1E293B"/>
                </a:solidFill>
                <a:latin typeface="Georgia"/>
                <a:ea typeface="Georgia"/>
                <a:cs typeface="Georgia"/>
                <a:sym typeface="Georgia"/>
              </a:rPr>
              <a:t>Bob</a:t>
            </a:r>
            <a:endParaRPr sz="1400" b="0" i="0" u="none" strike="noStrike" cap="none">
              <a:solidFill>
                <a:schemeClr val="dk1"/>
              </a:solidFill>
              <a:latin typeface="Calibri"/>
              <a:ea typeface="Calibri"/>
              <a:cs typeface="Calibri"/>
              <a:sym typeface="Calibri"/>
            </a:endParaRPr>
          </a:p>
        </p:txBody>
      </p:sp>
      <p:sp>
        <p:nvSpPr>
          <p:cNvPr id="113" name="Google Shape;113;p5"/>
          <p:cNvSpPr/>
          <p:nvPr/>
        </p:nvSpPr>
        <p:spPr>
          <a:xfrm>
            <a:off x="5029200" y="2971800"/>
            <a:ext cx="3383280" cy="16459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1. Choose random private key </a:t>
            </a:r>
            <a:r>
              <a:rPr lang="en-US" sz="1300" b="1" i="0" u="none" strike="noStrike" cap="none">
                <a:solidFill>
                  <a:srgbClr val="B45309"/>
                </a:solidFill>
                <a:latin typeface="Consolas"/>
                <a:ea typeface="Consolas"/>
                <a:cs typeface="Consolas"/>
                <a:sym typeface="Consolas"/>
              </a:rPr>
              <a:t>b</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64748B"/>
              </a:buClr>
              <a:buSzPts val="1100"/>
              <a:buFont typeface="Consolas"/>
              <a:buNone/>
            </a:pPr>
            <a:r>
              <a:rPr lang="en-US" sz="1100" b="0" i="0" u="none" strike="noStrike" cap="none">
                <a:solidFill>
                  <a:srgbClr val="64748B"/>
                </a:solidFill>
                <a:latin typeface="Consolas"/>
                <a:ea typeface="Consolas"/>
                <a:cs typeface="Consolas"/>
                <a:sym typeface="Consolas"/>
              </a:rPr>
              <a:t>    (1 &lt; b &lt; p−1)</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2. Compute </a:t>
            </a:r>
            <a:r>
              <a:rPr lang="en-US" sz="1300" b="1" i="0" u="none" strike="noStrike" cap="none">
                <a:solidFill>
                  <a:srgbClr val="B45309"/>
                </a:solidFill>
                <a:latin typeface="Consolas"/>
                <a:ea typeface="Consolas"/>
                <a:cs typeface="Consolas"/>
                <a:sym typeface="Consolas"/>
              </a:rPr>
              <a:t>B = g^b mod p</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3. Send B to Alice (public)</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118"/>
        <p:cNvGrpSpPr/>
        <p:nvPr/>
      </p:nvGrpSpPr>
      <p:grpSpPr>
        <a:xfrm>
          <a:off x="0" y="0"/>
          <a:ext cx="0" cy="0"/>
          <a:chOff x="0" y="0"/>
          <a:chExt cx="0" cy="0"/>
        </a:xfrm>
      </p:grpSpPr>
      <p:sp>
        <p:nvSpPr>
          <p:cNvPr id="119" name="Google Shape;119;p6"/>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1: Diffie-Hellman Key Exchange</a:t>
            </a:r>
            <a:endParaRPr sz="900" b="0" i="0" u="none" strike="noStrike" cap="none">
              <a:solidFill>
                <a:schemeClr val="dk1"/>
              </a:solidFill>
              <a:latin typeface="Calibri"/>
              <a:ea typeface="Calibri"/>
              <a:cs typeface="Calibri"/>
              <a:sym typeface="Calibri"/>
            </a:endParaRPr>
          </a:p>
        </p:txBody>
      </p:sp>
      <p:sp>
        <p:nvSpPr>
          <p:cNvPr id="121" name="Google Shape;121;p6"/>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6</a:t>
            </a:r>
            <a:endParaRPr sz="1000" b="0" i="0" u="none" strike="noStrike" cap="none">
              <a:solidFill>
                <a:schemeClr val="dk1"/>
              </a:solidFill>
              <a:latin typeface="Calibri"/>
              <a:ea typeface="Calibri"/>
              <a:cs typeface="Calibri"/>
              <a:sym typeface="Calibri"/>
            </a:endParaRPr>
          </a:p>
        </p:txBody>
      </p:sp>
      <p:sp>
        <p:nvSpPr>
          <p:cNvPr id="122" name="Google Shape;122;p6"/>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Shared Secret Computation</a:t>
            </a:r>
            <a:endParaRPr sz="2400" b="0" i="0" u="none" strike="noStrike" cap="none">
              <a:solidFill>
                <a:schemeClr val="dk1"/>
              </a:solidFill>
              <a:latin typeface="Calibri"/>
              <a:ea typeface="Calibri"/>
              <a:cs typeface="Calibri"/>
              <a:sym typeface="Calibri"/>
            </a:endParaRPr>
          </a:p>
        </p:txBody>
      </p:sp>
      <p:sp>
        <p:nvSpPr>
          <p:cNvPr id="123" name="Google Shape;123;p6"/>
          <p:cNvSpPr/>
          <p:nvPr/>
        </p:nvSpPr>
        <p:spPr>
          <a:xfrm>
            <a:off x="914400" y="1097280"/>
            <a:ext cx="7315200" cy="146304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6"/>
          <p:cNvSpPr/>
          <p:nvPr/>
        </p:nvSpPr>
        <p:spPr>
          <a:xfrm>
            <a:off x="1097280" y="1188720"/>
            <a:ext cx="6949440" cy="12801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Alice computes:   K</a:t>
            </a:r>
            <a:r>
              <a:rPr lang="en-US" sz="1000" b="0" i="0" u="none" strike="noStrike" cap="none" baseline="-25000">
                <a:solidFill>
                  <a:srgbClr val="1E293B"/>
                </a:solidFill>
                <a:latin typeface="Calibri"/>
                <a:ea typeface="Calibri"/>
                <a:cs typeface="Calibri"/>
                <a:sym typeface="Calibri"/>
              </a:rPr>
              <a:t>A</a:t>
            </a:r>
            <a:r>
              <a:rPr lang="en-US" sz="1400" b="1" i="0" u="none" strike="noStrike" cap="none">
                <a:solidFill>
                  <a:srgbClr val="1B7FA6"/>
                </a:solidFill>
                <a:latin typeface="Consolas"/>
                <a:ea typeface="Consolas"/>
                <a:cs typeface="Consolas"/>
                <a:sym typeface="Consolas"/>
              </a:rPr>
              <a:t> = B^a mod p = (g^b)^a mod p = g^(ab) mod p</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Bob computes:     K</a:t>
            </a:r>
            <a:r>
              <a:rPr lang="en-US" sz="1000" b="0" i="0" u="none" strike="noStrike" cap="none" baseline="-25000">
                <a:solidFill>
                  <a:srgbClr val="1E293B"/>
                </a:solidFill>
                <a:latin typeface="Calibri"/>
                <a:ea typeface="Calibri"/>
                <a:cs typeface="Calibri"/>
                <a:sym typeface="Calibri"/>
              </a:rPr>
              <a:t>B</a:t>
            </a:r>
            <a:r>
              <a:rPr lang="en-US" sz="1400" b="1" i="0" u="none" strike="noStrike" cap="none">
                <a:solidFill>
                  <a:srgbClr val="B45309"/>
                </a:solidFill>
                <a:latin typeface="Consolas"/>
                <a:ea typeface="Consolas"/>
                <a:cs typeface="Consolas"/>
                <a:sym typeface="Consolas"/>
              </a:rPr>
              <a:t> = A^b mod p = (g^a)^b mod p = g^(ab) mod p</a:t>
            </a:r>
            <a:endParaRPr sz="1400" b="0" i="0" u="none" strike="noStrike" cap="none">
              <a:solidFill>
                <a:schemeClr val="dk1"/>
              </a:solidFill>
              <a:latin typeface="Calibri"/>
              <a:ea typeface="Calibri"/>
              <a:cs typeface="Calibri"/>
              <a:sym typeface="Calibri"/>
            </a:endParaRPr>
          </a:p>
        </p:txBody>
      </p:sp>
      <p:sp>
        <p:nvSpPr>
          <p:cNvPr id="125" name="Google Shape;125;p6"/>
          <p:cNvSpPr/>
          <p:nvPr/>
        </p:nvSpPr>
        <p:spPr>
          <a:xfrm>
            <a:off x="2286000" y="2834640"/>
            <a:ext cx="4572000" cy="640080"/>
          </a:xfrm>
          <a:prstGeom prst="rect">
            <a:avLst/>
          </a:prstGeom>
          <a:solidFill>
            <a:srgbClr val="ECFDF5"/>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6"/>
          <p:cNvSpPr/>
          <p:nvPr/>
        </p:nvSpPr>
        <p:spPr>
          <a:xfrm>
            <a:off x="2286000" y="2834640"/>
            <a:ext cx="457200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47857"/>
              </a:buClr>
              <a:buSzPts val="1800"/>
              <a:buFont typeface="Consolas"/>
              <a:buNone/>
            </a:pPr>
            <a:r>
              <a:rPr lang="en-US" sz="1800" b="1" i="0" u="none" strike="noStrike" cap="none">
                <a:solidFill>
                  <a:srgbClr val="047857"/>
                </a:solidFill>
                <a:latin typeface="Consolas"/>
                <a:ea typeface="Consolas"/>
                <a:cs typeface="Consolas"/>
                <a:sym typeface="Consolas"/>
              </a:rPr>
              <a:t>K_A = K_B = K = g^(ab) mod p</a:t>
            </a:r>
            <a:endParaRPr sz="1800" b="0" i="0" u="none" strike="noStrike" cap="none">
              <a:solidFill>
                <a:schemeClr val="dk1"/>
              </a:solidFill>
              <a:latin typeface="Calibri"/>
              <a:ea typeface="Calibri"/>
              <a:cs typeface="Calibri"/>
              <a:sym typeface="Calibri"/>
            </a:endParaRPr>
          </a:p>
        </p:txBody>
      </p:sp>
      <p:sp>
        <p:nvSpPr>
          <p:cNvPr id="127" name="Google Shape;127;p6"/>
          <p:cNvSpPr/>
          <p:nvPr/>
        </p:nvSpPr>
        <p:spPr>
          <a:xfrm>
            <a:off x="731520" y="374904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Why It Works: Commutativity of Exponentiation</a:t>
            </a:r>
            <a:endParaRPr sz="1500" b="0" i="0" u="none" strike="noStrike" cap="none">
              <a:solidFill>
                <a:schemeClr val="dk1"/>
              </a:solidFill>
              <a:latin typeface="Calibri"/>
              <a:ea typeface="Calibri"/>
              <a:cs typeface="Calibri"/>
              <a:sym typeface="Calibri"/>
            </a:endParaRPr>
          </a:p>
        </p:txBody>
      </p:sp>
      <p:sp>
        <p:nvSpPr>
          <p:cNvPr id="128" name="Google Shape;128;p6"/>
          <p:cNvSpPr/>
          <p:nvPr/>
        </p:nvSpPr>
        <p:spPr>
          <a:xfrm>
            <a:off x="1371600" y="4114800"/>
            <a:ext cx="64008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B7FA6"/>
              </a:buClr>
              <a:buSzPts val="1600"/>
              <a:buFont typeface="Consolas"/>
              <a:buNone/>
            </a:pPr>
            <a:r>
              <a:rPr lang="en-US" sz="1600" b="0" i="0" u="none" strike="noStrike" cap="none">
                <a:solidFill>
                  <a:srgbClr val="1B7FA6"/>
                </a:solidFill>
                <a:latin typeface="Consolas"/>
                <a:ea typeface="Consolas"/>
                <a:cs typeface="Consolas"/>
                <a:sym typeface="Consolas"/>
              </a:rPr>
              <a:t>(g^a)^b  =  g^(ab)  =  g^(ba)  =  (g^b)^a</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133"/>
        <p:cNvGrpSpPr/>
        <p:nvPr/>
      </p:nvGrpSpPr>
      <p:grpSpPr>
        <a:xfrm>
          <a:off x="0" y="0"/>
          <a:ext cx="0" cy="0"/>
          <a:chOff x="0" y="0"/>
          <a:chExt cx="0" cy="0"/>
        </a:xfrm>
      </p:grpSpPr>
      <p:sp>
        <p:nvSpPr>
          <p:cNvPr id="134" name="Google Shape;134;p7"/>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1: Diffie-Hellman Key Exchange</a:t>
            </a:r>
            <a:endParaRPr sz="900" b="0" i="0" u="none" strike="noStrike" cap="none">
              <a:solidFill>
                <a:schemeClr val="dk1"/>
              </a:solidFill>
              <a:latin typeface="Calibri"/>
              <a:ea typeface="Calibri"/>
              <a:cs typeface="Calibri"/>
              <a:sym typeface="Calibri"/>
            </a:endParaRPr>
          </a:p>
        </p:txBody>
      </p:sp>
      <p:sp>
        <p:nvSpPr>
          <p:cNvPr id="136" name="Google Shape;136;p7"/>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7</a:t>
            </a:r>
            <a:endParaRPr sz="1000" b="0" i="0" u="none" strike="noStrike" cap="none">
              <a:solidFill>
                <a:schemeClr val="dk1"/>
              </a:solidFill>
              <a:latin typeface="Calibri"/>
              <a:ea typeface="Calibri"/>
              <a:cs typeface="Calibri"/>
              <a:sym typeface="Calibri"/>
            </a:endParaRPr>
          </a:p>
        </p:txBody>
      </p:sp>
      <p:sp>
        <p:nvSpPr>
          <p:cNvPr id="137" name="Google Shape;137;p7"/>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Example 1.1: Small DH Exchange — Setup</a:t>
            </a:r>
            <a:endParaRPr sz="2400" b="0" i="0" u="none" strike="noStrike" cap="none">
              <a:solidFill>
                <a:schemeClr val="dk1"/>
              </a:solidFill>
              <a:latin typeface="Calibri"/>
              <a:ea typeface="Calibri"/>
              <a:cs typeface="Calibri"/>
              <a:sym typeface="Calibri"/>
            </a:endParaRPr>
          </a:p>
        </p:txBody>
      </p:sp>
      <p:sp>
        <p:nvSpPr>
          <p:cNvPr id="138" name="Google Shape;138;p7"/>
          <p:cNvSpPr/>
          <p:nvPr/>
        </p:nvSpPr>
        <p:spPr>
          <a:xfrm>
            <a:off x="548640" y="1051560"/>
            <a:ext cx="8046720" cy="320040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p:nvPr/>
        </p:nvSpPr>
        <p:spPr>
          <a:xfrm>
            <a:off x="548640" y="1051560"/>
            <a:ext cx="54864" cy="320040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7"/>
          <p:cNvSpPr/>
          <p:nvPr/>
        </p:nvSpPr>
        <p:spPr>
          <a:xfrm>
            <a:off x="777240" y="1188720"/>
            <a:ext cx="7589520" cy="2926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onsolas"/>
              <a:buNone/>
            </a:pPr>
            <a:r>
              <a:rPr lang="en-US" sz="1300" b="1" i="0" u="none" strike="noStrike" cap="none">
                <a:solidFill>
                  <a:srgbClr val="1E293B"/>
                </a:solidFill>
                <a:latin typeface="Consolas"/>
                <a:ea typeface="Consolas"/>
                <a:cs typeface="Consolas"/>
                <a:sym typeface="Consolas"/>
              </a:rPr>
              <a:t>Public parameters: p = 23, g = 5</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Alice chooses: a = 6 (private, kept secret)</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Alice computes: A = 5^6 mod 23</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 15,625 mod 23</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 8</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Alice sends A = 8 (public)</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Bob chooses: b = 15 (private, kept secret)</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Bob computes: B = 5^15 mod 23 = 19</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Bob sends B = 19 (public)</a:t>
            </a:r>
            <a:endParaRPr sz="1300" b="0" i="0" u="none" strike="noStrike" cap="none">
              <a:solidFill>
                <a:schemeClr val="dk1"/>
              </a:solidFill>
              <a:latin typeface="Calibri"/>
              <a:ea typeface="Calibri"/>
              <a:cs typeface="Calibri"/>
              <a:sym typeface="Calibri"/>
            </a:endParaRPr>
          </a:p>
        </p:txBody>
      </p:sp>
      <p:sp>
        <p:nvSpPr>
          <p:cNvPr id="141" name="Google Shape;141;p7"/>
          <p:cNvSpPr/>
          <p:nvPr/>
        </p:nvSpPr>
        <p:spPr>
          <a:xfrm>
            <a:off x="548640" y="4343400"/>
            <a:ext cx="8046720" cy="411480"/>
          </a:xfrm>
          <a:prstGeom prst="rect">
            <a:avLst/>
          </a:prstGeom>
          <a:solidFill>
            <a:srgbClr val="FEF3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a:off x="731520" y="4343400"/>
            <a:ext cx="7680960" cy="411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2400E"/>
              </a:buClr>
              <a:buSzPts val="1300"/>
              <a:buFont typeface="Consolas"/>
              <a:buNone/>
            </a:pPr>
            <a:r>
              <a:rPr lang="en-US" sz="1300" b="0" i="0" u="none" strike="noStrike" cap="none">
                <a:solidFill>
                  <a:srgbClr val="92400E"/>
                </a:solidFill>
                <a:latin typeface="Consolas"/>
                <a:ea typeface="Consolas"/>
                <a:cs typeface="Consolas"/>
                <a:sym typeface="Consolas"/>
              </a:rPr>
              <a:t>Eve observes:  p = 23,  g = 5,  A = 8,  B = 19   (all public)</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147"/>
        <p:cNvGrpSpPr/>
        <p:nvPr/>
      </p:nvGrpSpPr>
      <p:grpSpPr>
        <a:xfrm>
          <a:off x="0" y="0"/>
          <a:ext cx="0" cy="0"/>
          <a:chOff x="0" y="0"/>
          <a:chExt cx="0" cy="0"/>
        </a:xfrm>
      </p:grpSpPr>
      <p:sp>
        <p:nvSpPr>
          <p:cNvPr id="148" name="Google Shape;148;p8"/>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1: Diffie-Hellman Key Exchange</a:t>
            </a:r>
            <a:endParaRPr sz="900" b="0" i="0" u="none" strike="noStrike" cap="none">
              <a:solidFill>
                <a:schemeClr val="dk1"/>
              </a:solidFill>
              <a:latin typeface="Calibri"/>
              <a:ea typeface="Calibri"/>
              <a:cs typeface="Calibri"/>
              <a:sym typeface="Calibri"/>
            </a:endParaRPr>
          </a:p>
        </p:txBody>
      </p:sp>
      <p:sp>
        <p:nvSpPr>
          <p:cNvPr id="150" name="Google Shape;150;p8"/>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8</a:t>
            </a:r>
            <a:endParaRPr sz="1000" b="0" i="0" u="none" strike="noStrike" cap="none">
              <a:solidFill>
                <a:schemeClr val="dk1"/>
              </a:solidFill>
              <a:latin typeface="Calibri"/>
              <a:ea typeface="Calibri"/>
              <a:cs typeface="Calibri"/>
              <a:sym typeface="Calibri"/>
            </a:endParaRPr>
          </a:p>
        </p:txBody>
      </p:sp>
      <p:sp>
        <p:nvSpPr>
          <p:cNvPr id="151" name="Google Shape;151;p8"/>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Example 1.1: Small DH Exchange — Verification</a:t>
            </a:r>
            <a:endParaRPr sz="2400" b="0" i="0" u="none" strike="noStrike" cap="none">
              <a:solidFill>
                <a:schemeClr val="dk1"/>
              </a:solidFill>
              <a:latin typeface="Calibri"/>
              <a:ea typeface="Calibri"/>
              <a:cs typeface="Calibri"/>
              <a:sym typeface="Calibri"/>
            </a:endParaRPr>
          </a:p>
        </p:txBody>
      </p:sp>
      <p:sp>
        <p:nvSpPr>
          <p:cNvPr id="152" name="Google Shape;152;p8"/>
          <p:cNvSpPr/>
          <p:nvPr/>
        </p:nvSpPr>
        <p:spPr>
          <a:xfrm>
            <a:off x="548640" y="1051560"/>
            <a:ext cx="8046720" cy="274320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548640" y="1051560"/>
            <a:ext cx="54864" cy="274320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777240" y="1188720"/>
            <a:ext cx="7589520" cy="2468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onsolas"/>
              <a:buNone/>
            </a:pPr>
            <a:r>
              <a:rPr lang="en-US" sz="1300" b="1" i="0" u="none" strike="noStrike" cap="none">
                <a:solidFill>
                  <a:srgbClr val="1E293B"/>
                </a:solidFill>
                <a:latin typeface="Consolas"/>
                <a:ea typeface="Consolas"/>
                <a:cs typeface="Consolas"/>
                <a:sym typeface="Consolas"/>
              </a:rPr>
              <a:t>Alice computes shared secret:</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K = B^a mod p = 19^6 mod 23</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 47,045,881 mod 23 = 2</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1" i="0" u="none" strike="noStrike" cap="none">
                <a:solidFill>
                  <a:srgbClr val="1E293B"/>
                </a:solidFill>
                <a:latin typeface="Consolas"/>
                <a:ea typeface="Consolas"/>
                <a:cs typeface="Consolas"/>
                <a:sym typeface="Consolas"/>
              </a:rPr>
              <a:t>Bob computes shared secret:</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K = A^b mod p = 8^15 mod 23</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 35,184,372,088,832 mod 23 = 2</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47857"/>
              </a:buClr>
              <a:buSzPts val="1300"/>
              <a:buFont typeface="Consolas"/>
              <a:buNone/>
            </a:pPr>
            <a:r>
              <a:rPr lang="en-US" sz="1300" b="0" i="0" u="none" strike="noStrike" cap="none">
                <a:solidFill>
                  <a:srgbClr val="047857"/>
                </a:solidFill>
                <a:latin typeface="Consolas"/>
                <a:ea typeface="Consolas"/>
                <a:cs typeface="Consolas"/>
                <a:sym typeface="Consolas"/>
              </a:rPr>
              <a:t>✓ Shared secret: K = 2  (Both computed the same value!)</a:t>
            </a:r>
            <a:endParaRPr sz="1300" b="0" i="0" u="none" strike="noStrike" cap="none">
              <a:solidFill>
                <a:schemeClr val="dk1"/>
              </a:solidFill>
              <a:latin typeface="Calibri"/>
              <a:ea typeface="Calibri"/>
              <a:cs typeface="Calibri"/>
              <a:sym typeface="Calibri"/>
            </a:endParaRPr>
          </a:p>
        </p:txBody>
      </p:sp>
      <p:sp>
        <p:nvSpPr>
          <p:cNvPr id="155" name="Google Shape;155;p8"/>
          <p:cNvSpPr/>
          <p:nvPr/>
        </p:nvSpPr>
        <p:spPr>
          <a:xfrm>
            <a:off x="548640" y="3794760"/>
            <a:ext cx="8046720" cy="1005840"/>
          </a:xfrm>
          <a:prstGeom prst="rect">
            <a:avLst/>
          </a:prstGeom>
          <a:solidFill>
            <a:srgbClr val="FEF2F2"/>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548640" y="3794760"/>
            <a:ext cx="54864" cy="100584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822960" y="3840480"/>
            <a:ext cx="7498080"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F4444"/>
              </a:buClr>
              <a:buSzPts val="1300"/>
              <a:buFont typeface="Calibri"/>
              <a:buNone/>
            </a:pPr>
            <a:r>
              <a:rPr lang="en-US" sz="1300" b="1" i="0" u="none" strike="noStrike" cap="none">
                <a:solidFill>
                  <a:srgbClr val="EF4444"/>
                </a:solidFill>
                <a:latin typeface="Calibri"/>
                <a:ea typeface="Calibri"/>
                <a:cs typeface="Calibri"/>
                <a:sym typeface="Calibri"/>
              </a:rPr>
              <a:t>Eve's problem: </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She sees p=23, g=5, A=8, B=19 but cannot compute K=2</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without knowing a or b (requires solving the discrete logarithm).</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162"/>
        <p:cNvGrpSpPr/>
        <p:nvPr/>
      </p:nvGrpSpPr>
      <p:grpSpPr>
        <a:xfrm>
          <a:off x="0" y="0"/>
          <a:ext cx="0" cy="0"/>
          <a:chOff x="0" y="0"/>
          <a:chExt cx="0" cy="0"/>
        </a:xfrm>
      </p:grpSpPr>
      <p:sp>
        <p:nvSpPr>
          <p:cNvPr id="163" name="Google Shape;163;p9"/>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1: Diffie-Hellman Key Exchange</a:t>
            </a:r>
            <a:endParaRPr sz="900" b="0" i="0" u="none" strike="noStrike" cap="none">
              <a:solidFill>
                <a:schemeClr val="dk1"/>
              </a:solidFill>
              <a:latin typeface="Calibri"/>
              <a:ea typeface="Calibri"/>
              <a:cs typeface="Calibri"/>
              <a:sym typeface="Calibri"/>
            </a:endParaRPr>
          </a:p>
        </p:txBody>
      </p:sp>
      <p:sp>
        <p:nvSpPr>
          <p:cNvPr id="165" name="Google Shape;165;p9"/>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9</a:t>
            </a:r>
            <a:endParaRPr sz="1000" b="0" i="0" u="none" strike="noStrike" cap="none">
              <a:solidFill>
                <a:schemeClr val="dk1"/>
              </a:solidFill>
              <a:latin typeface="Calibri"/>
              <a:ea typeface="Calibri"/>
              <a:cs typeface="Calibri"/>
              <a:sym typeface="Calibri"/>
            </a:endParaRPr>
          </a:p>
        </p:txBody>
      </p:sp>
      <p:sp>
        <p:nvSpPr>
          <p:cNvPr id="166" name="Google Shape;166;p9"/>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Man-in-the-Middle (MITM) Attack</a:t>
            </a:r>
            <a:endParaRPr sz="2400" b="0" i="0" u="none" strike="noStrike" cap="none">
              <a:solidFill>
                <a:schemeClr val="dk1"/>
              </a:solidFill>
              <a:latin typeface="Calibri"/>
              <a:ea typeface="Calibri"/>
              <a:cs typeface="Calibri"/>
              <a:sym typeface="Calibri"/>
            </a:endParaRPr>
          </a:p>
        </p:txBody>
      </p:sp>
      <p:sp>
        <p:nvSpPr>
          <p:cNvPr id="167" name="Google Shape;167;p9"/>
          <p:cNvSpPr/>
          <p:nvPr/>
        </p:nvSpPr>
        <p:spPr>
          <a:xfrm>
            <a:off x="548640" y="1051560"/>
            <a:ext cx="8046720" cy="45720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a:off x="731520" y="1051560"/>
            <a:ext cx="7680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F4444"/>
              </a:buClr>
              <a:buSzPts val="1400"/>
              <a:buFont typeface="Calibri"/>
              <a:buNone/>
            </a:pPr>
            <a:r>
              <a:rPr lang="en-US" sz="1400" b="1" i="0" u="none" strike="noStrike" cap="none">
                <a:solidFill>
                  <a:srgbClr val="EF4444"/>
                </a:solidFill>
                <a:latin typeface="Calibri"/>
                <a:ea typeface="Calibri"/>
                <a:cs typeface="Calibri"/>
                <a:sym typeface="Calibri"/>
              </a:rPr>
              <a:t>Critical Vulnerability: Basic DH provides NO authentication</a:t>
            </a:r>
            <a:endParaRPr sz="1400" b="0" i="0" u="none" strike="noStrike" cap="none">
              <a:solidFill>
                <a:schemeClr val="dk1"/>
              </a:solidFill>
              <a:latin typeface="Calibri"/>
              <a:ea typeface="Calibri"/>
              <a:cs typeface="Calibri"/>
              <a:sym typeface="Calibri"/>
            </a:endParaRPr>
          </a:p>
        </p:txBody>
      </p:sp>
      <p:sp>
        <p:nvSpPr>
          <p:cNvPr id="169" name="Google Shape;169;p9"/>
          <p:cNvSpPr/>
          <p:nvPr/>
        </p:nvSpPr>
        <p:spPr>
          <a:xfrm>
            <a:off x="731520" y="1645920"/>
            <a:ext cx="7680960" cy="25603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1. Alice → Eve (intercepts) → Bob</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   Alice sends A = g^a.  Eve intercepts, sends E₁ = g^e₁ to Bob.</a:t>
            </a:r>
            <a:endParaRPr sz="13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2. Bob → Eve (intercepts) → Alice</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   Bob sends B = g^b.  Eve intercepts, sends E₂ = g^e₂ to Alice.</a:t>
            </a:r>
            <a:endParaRPr sz="13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EF4444"/>
              </a:buClr>
              <a:buSzPts val="1300"/>
              <a:buFont typeface="Calibri"/>
              <a:buNone/>
            </a:pPr>
            <a:r>
              <a:rPr lang="en-US" sz="1300" b="1" i="0" u="none" strike="noStrike" cap="none">
                <a:solidFill>
                  <a:srgbClr val="EF4444"/>
                </a:solidFill>
                <a:latin typeface="Calibri"/>
                <a:ea typeface="Calibri"/>
                <a:cs typeface="Calibri"/>
                <a:sym typeface="Calibri"/>
              </a:rPr>
              <a:t>3. Result: Two separate shared secrets</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   Alice–Eve: K₁ = g^(a·e₂)    Bob–Eve: K₂ = g^(b·e₁)</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   Eve decrypts with K₁, re-encrypts with K₂, forwards to Bob.</a:t>
            </a:r>
            <a:endParaRPr sz="1300" b="0" i="0" u="none" strike="noStrike" cap="none">
              <a:solidFill>
                <a:schemeClr val="dk1"/>
              </a:solidFill>
              <a:latin typeface="Calibri"/>
              <a:ea typeface="Calibri"/>
              <a:cs typeface="Calibri"/>
              <a:sym typeface="Calibri"/>
            </a:endParaRPr>
          </a:p>
        </p:txBody>
      </p:sp>
      <p:sp>
        <p:nvSpPr>
          <p:cNvPr id="170" name="Google Shape;170;p9"/>
          <p:cNvSpPr/>
          <p:nvPr/>
        </p:nvSpPr>
        <p:spPr>
          <a:xfrm>
            <a:off x="548640" y="3931920"/>
            <a:ext cx="8046720" cy="868680"/>
          </a:xfrm>
          <a:prstGeom prst="rect">
            <a:avLst/>
          </a:prstGeom>
          <a:solidFill>
            <a:srgbClr val="ECF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731520" y="3950208"/>
            <a:ext cx="10972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300"/>
              <a:buFont typeface="Georgia"/>
              <a:buNone/>
            </a:pPr>
            <a:r>
              <a:rPr lang="en-US" sz="1300" b="1" i="0" u="none" strike="noStrike" cap="none">
                <a:solidFill>
                  <a:srgbClr val="10B981"/>
                </a:solidFill>
                <a:latin typeface="Georgia"/>
                <a:ea typeface="Georgia"/>
                <a:cs typeface="Georgia"/>
                <a:sym typeface="Georgia"/>
              </a:rPr>
              <a:t>Defenses:</a:t>
            </a:r>
            <a:endParaRPr sz="1300" b="0" i="0" u="none" strike="noStrike" cap="none">
              <a:solidFill>
                <a:schemeClr val="dk1"/>
              </a:solidFill>
              <a:latin typeface="Calibri"/>
              <a:ea typeface="Calibri"/>
              <a:cs typeface="Calibri"/>
              <a:sym typeface="Calibri"/>
            </a:endParaRPr>
          </a:p>
        </p:txBody>
      </p:sp>
      <p:sp>
        <p:nvSpPr>
          <p:cNvPr id="172" name="Google Shape;172;p9"/>
          <p:cNvSpPr/>
          <p:nvPr/>
        </p:nvSpPr>
        <p:spPr>
          <a:xfrm>
            <a:off x="731520" y="4251960"/>
            <a:ext cx="768096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Digital Signatures</a:t>
            </a:r>
            <a:r>
              <a:rPr lang="en-US" sz="1200" b="0" i="0" u="none" strike="noStrike" cap="none">
                <a:solidFill>
                  <a:srgbClr val="64748B"/>
                </a:solidFill>
                <a:latin typeface="Calibri"/>
                <a:ea typeface="Calibri"/>
                <a:cs typeface="Calibri"/>
                <a:sym typeface="Calibri"/>
              </a:rPr>
              <a:t> (sign A, B with long-term keys)   |   </a:t>
            </a:r>
            <a:r>
              <a:rPr lang="en-US" sz="1200" b="1" i="0" u="none" strike="noStrike" cap="none">
                <a:solidFill>
                  <a:srgbClr val="1E293B"/>
                </a:solidFill>
                <a:latin typeface="Calibri"/>
                <a:ea typeface="Calibri"/>
                <a:cs typeface="Calibri"/>
                <a:sym typeface="Calibri"/>
              </a:rPr>
              <a:t>Certificates / PKI</a:t>
            </a:r>
            <a:r>
              <a:rPr lang="en-US" sz="1200" b="0" i="0" u="none" strike="noStrike" cap="none">
                <a:solidFill>
                  <a:srgbClr val="64748B"/>
                </a:solidFill>
                <a:latin typeface="Calibri"/>
                <a:ea typeface="Calibri"/>
                <a:cs typeface="Calibri"/>
                <a:sym typeface="Calibri"/>
              </a:rPr>
              <a:t> (TLS/SSL)   |   </a:t>
            </a:r>
            <a:r>
              <a:rPr lang="en-US" sz="1200" b="1" i="0" u="none" strike="noStrike" cap="none">
                <a:solidFill>
                  <a:srgbClr val="1E293B"/>
                </a:solidFill>
                <a:latin typeface="Calibri"/>
                <a:ea typeface="Calibri"/>
                <a:cs typeface="Calibri"/>
                <a:sym typeface="Calibri"/>
              </a:rPr>
              <a:t>Pre-shared Keys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177"/>
        <p:cNvGrpSpPr/>
        <p:nvPr/>
      </p:nvGrpSpPr>
      <p:grpSpPr>
        <a:xfrm>
          <a:off x="0" y="0"/>
          <a:ext cx="0" cy="0"/>
          <a:chOff x="0" y="0"/>
          <a:chExt cx="0" cy="0"/>
        </a:xfrm>
      </p:grpSpPr>
      <p:sp>
        <p:nvSpPr>
          <p:cNvPr id="178" name="Google Shape;178;p10"/>
          <p:cNvSpPr/>
          <p:nvPr/>
        </p:nvSpPr>
        <p:spPr>
          <a:xfrm>
            <a:off x="731520" y="914400"/>
            <a:ext cx="1828800" cy="228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9600"/>
              <a:buFont typeface="Georgia"/>
              <a:buNone/>
            </a:pPr>
            <a:r>
              <a:rPr lang="en-US" sz="9600" b="1" i="0" u="none" strike="noStrike" cap="none">
                <a:solidFill>
                  <a:srgbClr val="1B7FA6"/>
                </a:solidFill>
                <a:latin typeface="Georgia"/>
                <a:ea typeface="Georgia"/>
                <a:cs typeface="Georgia"/>
                <a:sym typeface="Georgia"/>
              </a:rPr>
              <a:t>02</a:t>
            </a:r>
            <a:endParaRPr sz="9600" b="0" i="0" u="none" strike="noStrike" cap="none">
              <a:solidFill>
                <a:schemeClr val="dk1"/>
              </a:solidFill>
              <a:latin typeface="Calibri"/>
              <a:ea typeface="Calibri"/>
              <a:cs typeface="Calibri"/>
              <a:sym typeface="Calibri"/>
            </a:endParaRPr>
          </a:p>
        </p:txBody>
      </p:sp>
      <p:sp>
        <p:nvSpPr>
          <p:cNvPr id="179" name="Google Shape;179;p10"/>
          <p:cNvSpPr/>
          <p:nvPr/>
        </p:nvSpPr>
        <p:spPr>
          <a:xfrm>
            <a:off x="914400" y="1828800"/>
            <a:ext cx="731520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i="0" u="none" strike="noStrike" cap="none">
                <a:solidFill>
                  <a:srgbClr val="FFFFFF"/>
                </a:solidFill>
                <a:latin typeface="Georgia"/>
                <a:ea typeface="Georgia"/>
                <a:cs typeface="Georgia"/>
                <a:sym typeface="Georgia"/>
              </a:rPr>
              <a:t>The Discrete Logarithm Problem</a:t>
            </a:r>
            <a:endParaRPr sz="3600" b="0" i="0" u="none" strike="noStrike" cap="none">
              <a:solidFill>
                <a:schemeClr val="dk1"/>
              </a:solidFill>
              <a:latin typeface="Calibri"/>
              <a:ea typeface="Calibri"/>
              <a:cs typeface="Calibri"/>
              <a:sym typeface="Calibri"/>
            </a:endParaRPr>
          </a:p>
        </p:txBody>
      </p:sp>
      <p:sp>
        <p:nvSpPr>
          <p:cNvPr id="180" name="Google Shape;180;p10"/>
          <p:cNvSpPr/>
          <p:nvPr/>
        </p:nvSpPr>
        <p:spPr>
          <a:xfrm>
            <a:off x="914400" y="292608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600"/>
              <a:buFont typeface="Calibri"/>
              <a:buNone/>
            </a:pPr>
            <a:r>
              <a:rPr lang="en-US" sz="1600" b="0" i="0" u="none" strike="noStrike" cap="none">
                <a:solidFill>
                  <a:srgbClr val="2BA4D4"/>
                </a:solidFill>
                <a:latin typeface="Calibri"/>
                <a:ea typeface="Calibri"/>
                <a:cs typeface="Calibri"/>
                <a:sym typeface="Calibri"/>
              </a:rPr>
              <a:t>The mathematical foundation of Diffie-Hellman security</a:t>
            </a:r>
            <a:endParaRPr sz="1600" b="0" i="0" u="none" strike="noStrike" cap="none">
              <a:solidFill>
                <a:schemeClr val="dk1"/>
              </a:solidFill>
              <a:latin typeface="Calibri"/>
              <a:ea typeface="Calibri"/>
              <a:cs typeface="Calibri"/>
              <a:sym typeface="Calibri"/>
            </a:endParaRPr>
          </a:p>
        </p:txBody>
      </p:sp>
      <p:sp>
        <p:nvSpPr>
          <p:cNvPr id="181" name="Google Shape;181;p10"/>
          <p:cNvSpPr/>
          <p:nvPr/>
        </p:nvSpPr>
        <p:spPr>
          <a:xfrm>
            <a:off x="914400" y="4206240"/>
            <a:ext cx="22860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0"/>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10</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187"/>
        <p:cNvGrpSpPr/>
        <p:nvPr/>
      </p:nvGrpSpPr>
      <p:grpSpPr>
        <a:xfrm>
          <a:off x="0" y="0"/>
          <a:ext cx="0" cy="0"/>
          <a:chOff x="0" y="0"/>
          <a:chExt cx="0" cy="0"/>
        </a:xfrm>
      </p:grpSpPr>
      <p:sp>
        <p:nvSpPr>
          <p:cNvPr id="188" name="Google Shape;188;p11"/>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1"/>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2: Discrete Logarithm Problem</a:t>
            </a:r>
            <a:endParaRPr sz="900" b="0" i="0" u="none" strike="noStrike" cap="none">
              <a:solidFill>
                <a:schemeClr val="dk1"/>
              </a:solidFill>
              <a:latin typeface="Calibri"/>
              <a:ea typeface="Calibri"/>
              <a:cs typeface="Calibri"/>
              <a:sym typeface="Calibri"/>
            </a:endParaRPr>
          </a:p>
        </p:txBody>
      </p:sp>
      <p:sp>
        <p:nvSpPr>
          <p:cNvPr id="190" name="Google Shape;190;p11"/>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11</a:t>
            </a:r>
            <a:endParaRPr sz="1000" b="0" i="0" u="none" strike="noStrike" cap="none">
              <a:solidFill>
                <a:schemeClr val="dk1"/>
              </a:solidFill>
              <a:latin typeface="Calibri"/>
              <a:ea typeface="Calibri"/>
              <a:cs typeface="Calibri"/>
              <a:sym typeface="Calibri"/>
            </a:endParaRPr>
          </a:p>
        </p:txBody>
      </p:sp>
      <p:sp>
        <p:nvSpPr>
          <p:cNvPr id="191" name="Google Shape;191;p11"/>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Formal Definition of DLP</a:t>
            </a:r>
            <a:endParaRPr sz="2400" b="0" i="0" u="none" strike="noStrike" cap="none">
              <a:solidFill>
                <a:schemeClr val="dk1"/>
              </a:solidFill>
              <a:latin typeface="Calibri"/>
              <a:ea typeface="Calibri"/>
              <a:cs typeface="Calibri"/>
              <a:sym typeface="Calibri"/>
            </a:endParaRPr>
          </a:p>
        </p:txBody>
      </p:sp>
      <p:sp>
        <p:nvSpPr>
          <p:cNvPr id="192" name="Google Shape;192;p11"/>
          <p:cNvSpPr/>
          <p:nvPr/>
        </p:nvSpPr>
        <p:spPr>
          <a:xfrm>
            <a:off x="548640" y="1097280"/>
            <a:ext cx="8046720" cy="182880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a:off x="548640" y="1097280"/>
            <a:ext cx="54864" cy="182880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1"/>
          <p:cNvSpPr/>
          <p:nvPr/>
        </p:nvSpPr>
        <p:spPr>
          <a:xfrm>
            <a:off x="777240" y="114300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500"/>
              <a:buFont typeface="Georgia"/>
              <a:buNone/>
            </a:pPr>
            <a:r>
              <a:rPr lang="en-US" sz="1500" b="1" i="0" u="none" strike="noStrike" cap="none">
                <a:solidFill>
                  <a:srgbClr val="1B7FA6"/>
                </a:solidFill>
                <a:latin typeface="Georgia"/>
                <a:ea typeface="Georgia"/>
                <a:cs typeface="Georgia"/>
                <a:sym typeface="Georgia"/>
              </a:rPr>
              <a:t>Definition 2.1 — Discrete Logarithm</a:t>
            </a:r>
            <a:endParaRPr sz="1500" b="0" i="0" u="none" strike="noStrike" cap="none">
              <a:solidFill>
                <a:schemeClr val="dk1"/>
              </a:solidFill>
              <a:latin typeface="Calibri"/>
              <a:ea typeface="Calibri"/>
              <a:cs typeface="Calibri"/>
              <a:sym typeface="Calibri"/>
            </a:endParaRPr>
          </a:p>
        </p:txBody>
      </p:sp>
      <p:sp>
        <p:nvSpPr>
          <p:cNvPr id="195" name="Google Shape;195;p11"/>
          <p:cNvSpPr/>
          <p:nvPr/>
        </p:nvSpPr>
        <p:spPr>
          <a:xfrm>
            <a:off x="777240" y="1554480"/>
            <a:ext cx="7589520" cy="6400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Given prime </a:t>
            </a:r>
            <a:r>
              <a:rPr lang="en-US" sz="1400" b="1" i="0" u="none" strike="noStrike" cap="none">
                <a:solidFill>
                  <a:srgbClr val="1B7FA6"/>
                </a:solidFill>
                <a:latin typeface="Consolas"/>
                <a:ea typeface="Consolas"/>
                <a:cs typeface="Consolas"/>
                <a:sym typeface="Consolas"/>
              </a:rPr>
              <a:t>p</a:t>
            </a:r>
            <a:r>
              <a:rPr lang="en-US" sz="1400" b="0" i="0" u="none" strike="noStrike" cap="none">
                <a:solidFill>
                  <a:srgbClr val="1E293B"/>
                </a:solidFill>
                <a:latin typeface="Calibri"/>
                <a:ea typeface="Calibri"/>
                <a:cs typeface="Calibri"/>
                <a:sym typeface="Calibri"/>
              </a:rPr>
              <a:t>, generator </a:t>
            </a:r>
            <a:r>
              <a:rPr lang="en-US" sz="1400" b="1" i="0" u="none" strike="noStrike" cap="none">
                <a:solidFill>
                  <a:srgbClr val="1B7FA6"/>
                </a:solidFill>
                <a:latin typeface="Consolas"/>
                <a:ea typeface="Consolas"/>
                <a:cs typeface="Consolas"/>
                <a:sym typeface="Consolas"/>
              </a:rPr>
              <a:t>g</a:t>
            </a:r>
            <a:r>
              <a:rPr lang="en-US" sz="1400" b="0" i="0" u="none" strike="noStrike" cap="none">
                <a:solidFill>
                  <a:srgbClr val="1E293B"/>
                </a:solidFill>
                <a:latin typeface="Calibri"/>
                <a:ea typeface="Calibri"/>
                <a:cs typeface="Calibri"/>
                <a:sym typeface="Calibri"/>
              </a:rPr>
              <a:t> of Z*_p, and element </a:t>
            </a:r>
            <a:r>
              <a:rPr lang="en-US" sz="1400" b="1" i="0" u="none" strike="noStrike" cap="none">
                <a:solidFill>
                  <a:srgbClr val="1B7FA6"/>
                </a:solidFill>
                <a:latin typeface="Consolas"/>
                <a:ea typeface="Consolas"/>
                <a:cs typeface="Consolas"/>
                <a:sym typeface="Consolas"/>
              </a:rPr>
              <a:t>h ∈ Z*_p</a:t>
            </a:r>
            <a:r>
              <a:rPr lang="en-US" sz="1400" b="0" i="0" u="none" strike="noStrike" cap="none">
                <a:solidFill>
                  <a:srgbClr val="1E293B"/>
                </a:solidFill>
                <a:latin typeface="Calibri"/>
                <a:ea typeface="Calibri"/>
                <a:cs typeface="Calibri"/>
                <a:sym typeface="Calibri"/>
              </a:rPr>
              <a:t>, find the unique integer </a:t>
            </a:r>
            <a:r>
              <a:rPr lang="en-US" sz="1400" b="1" i="0" u="none" strike="noStrike" cap="none">
                <a:solidFill>
                  <a:srgbClr val="EF4444"/>
                </a:solidFill>
                <a:latin typeface="Consolas"/>
                <a:ea typeface="Consolas"/>
                <a:cs typeface="Consolas"/>
                <a:sym typeface="Consolas"/>
              </a:rPr>
              <a:t>x</a:t>
            </a:r>
            <a:r>
              <a:rPr lang="en-US" sz="1400" b="0" i="0" u="none" strike="noStrike" cap="none">
                <a:solidFill>
                  <a:srgbClr val="1E293B"/>
                </a:solidFill>
                <a:latin typeface="Calibri"/>
                <a:ea typeface="Calibri"/>
                <a:cs typeface="Calibri"/>
                <a:sym typeface="Calibri"/>
              </a:rPr>
              <a:t> (0 ≤ x &lt; p−1) such that:</a:t>
            </a:r>
            <a:endParaRPr sz="1400" b="0" i="0" u="none" strike="noStrike" cap="none">
              <a:solidFill>
                <a:schemeClr val="dk1"/>
              </a:solidFill>
              <a:latin typeface="Calibri"/>
              <a:ea typeface="Calibri"/>
              <a:cs typeface="Calibri"/>
              <a:sym typeface="Calibri"/>
            </a:endParaRPr>
          </a:p>
        </p:txBody>
      </p:sp>
      <p:sp>
        <p:nvSpPr>
          <p:cNvPr id="196" name="Google Shape;196;p11"/>
          <p:cNvSpPr/>
          <p:nvPr/>
        </p:nvSpPr>
        <p:spPr>
          <a:xfrm>
            <a:off x="2286000" y="2194560"/>
            <a:ext cx="457200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B7FA6"/>
              </a:buClr>
              <a:buSzPts val="2200"/>
              <a:buFont typeface="Consolas"/>
              <a:buNone/>
            </a:pPr>
            <a:r>
              <a:rPr lang="en-US" sz="2200" b="1" i="0" u="none" strike="noStrike" cap="none">
                <a:solidFill>
                  <a:srgbClr val="1B7FA6"/>
                </a:solidFill>
                <a:latin typeface="Consolas"/>
                <a:ea typeface="Consolas"/>
                <a:cs typeface="Consolas"/>
                <a:sym typeface="Consolas"/>
              </a:rPr>
              <a:t>g^x  ≡  h  (mod p)</a:t>
            </a:r>
            <a:endParaRPr sz="2200" b="0" i="0" u="none" strike="noStrike" cap="none">
              <a:solidFill>
                <a:schemeClr val="dk1"/>
              </a:solidFill>
              <a:latin typeface="Calibri"/>
              <a:ea typeface="Calibri"/>
              <a:cs typeface="Calibri"/>
              <a:sym typeface="Calibri"/>
            </a:endParaRPr>
          </a:p>
        </p:txBody>
      </p:sp>
      <p:sp>
        <p:nvSpPr>
          <p:cNvPr id="197" name="Google Shape;197;p11"/>
          <p:cNvSpPr/>
          <p:nvPr/>
        </p:nvSpPr>
        <p:spPr>
          <a:xfrm>
            <a:off x="548640" y="320040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Georgia"/>
              <a:buNone/>
            </a:pPr>
            <a:r>
              <a:rPr lang="en-US" sz="1600" b="1" i="0" u="none" strike="noStrike" cap="none">
                <a:solidFill>
                  <a:srgbClr val="1E293B"/>
                </a:solidFill>
                <a:latin typeface="Georgia"/>
                <a:ea typeface="Georgia"/>
                <a:cs typeface="Georgia"/>
                <a:sym typeface="Georgia"/>
              </a:rPr>
              <a:t>Computational Asymmetry</a:t>
            </a:r>
            <a:endParaRPr sz="1600" b="0" i="0" u="none" strike="noStrike" cap="none">
              <a:solidFill>
                <a:schemeClr val="dk1"/>
              </a:solidFill>
              <a:latin typeface="Calibri"/>
              <a:ea typeface="Calibri"/>
              <a:cs typeface="Calibri"/>
              <a:sym typeface="Calibri"/>
            </a:endParaRPr>
          </a:p>
        </p:txBody>
      </p:sp>
      <p:sp>
        <p:nvSpPr>
          <p:cNvPr id="198" name="Google Shape;198;p11"/>
          <p:cNvSpPr/>
          <p:nvPr/>
        </p:nvSpPr>
        <p:spPr>
          <a:xfrm>
            <a:off x="548640" y="3657600"/>
            <a:ext cx="3749040" cy="1005840"/>
          </a:xfrm>
          <a:prstGeom prst="rect">
            <a:avLst/>
          </a:prstGeom>
          <a:solidFill>
            <a:srgbClr val="ECF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1"/>
          <p:cNvSpPr/>
          <p:nvPr/>
        </p:nvSpPr>
        <p:spPr>
          <a:xfrm>
            <a:off x="731520" y="3703320"/>
            <a:ext cx="3383280"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B981"/>
              </a:buClr>
              <a:buSzPts val="1200"/>
              <a:buFont typeface="Calibri"/>
              <a:buNone/>
            </a:pPr>
            <a:r>
              <a:rPr lang="en-US" sz="1200" b="1" i="0" u="none" strike="noStrike" cap="none">
                <a:solidFill>
                  <a:srgbClr val="10B981"/>
                </a:solidFill>
                <a:latin typeface="Calibri"/>
                <a:ea typeface="Calibri"/>
                <a:cs typeface="Calibri"/>
                <a:sym typeface="Calibri"/>
              </a:rPr>
              <a:t>Forward (Exponentiation) — EASY</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g, x, p → h = g^x mod p</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O(log x) multiplications</a:t>
            </a:r>
            <a:endParaRPr sz="1200" b="0" i="0" u="none" strike="noStrike" cap="none">
              <a:solidFill>
                <a:schemeClr val="dk1"/>
              </a:solidFill>
              <a:latin typeface="Calibri"/>
              <a:ea typeface="Calibri"/>
              <a:cs typeface="Calibri"/>
              <a:sym typeface="Calibri"/>
            </a:endParaRPr>
          </a:p>
        </p:txBody>
      </p:sp>
      <p:sp>
        <p:nvSpPr>
          <p:cNvPr id="200" name="Google Shape;200;p11"/>
          <p:cNvSpPr/>
          <p:nvPr/>
        </p:nvSpPr>
        <p:spPr>
          <a:xfrm>
            <a:off x="4846320" y="3657600"/>
            <a:ext cx="3749040" cy="100584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a:off x="5029200" y="3703320"/>
            <a:ext cx="3383280" cy="9144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F4444"/>
              </a:buClr>
              <a:buSzPts val="1200"/>
              <a:buFont typeface="Calibri"/>
              <a:buNone/>
            </a:pPr>
            <a:r>
              <a:rPr lang="en-US" sz="1200" b="1" i="0" u="none" strike="noStrike" cap="none">
                <a:solidFill>
                  <a:srgbClr val="EF4444"/>
                </a:solidFill>
                <a:latin typeface="Calibri"/>
                <a:ea typeface="Calibri"/>
                <a:cs typeface="Calibri"/>
                <a:sym typeface="Calibri"/>
              </a:rPr>
              <a:t>Inverse (Discrete Log) — HARD</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g, h, p → find x where g^x ≡ h</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64748B"/>
              </a:buClr>
              <a:buSzPts val="1100"/>
              <a:buFont typeface="Calibri"/>
              <a:buNone/>
            </a:pPr>
            <a:r>
              <a:rPr lang="en-US" sz="1100" b="0" i="0" u="none" strike="noStrike" cap="none">
                <a:solidFill>
                  <a:srgbClr val="64748B"/>
                </a:solidFill>
                <a:latin typeface="Calibri"/>
                <a:ea typeface="Calibri"/>
                <a:cs typeface="Calibri"/>
                <a:sym typeface="Calibri"/>
              </a:rPr>
              <a:t>Sub-exponential (GNFS)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206"/>
        <p:cNvGrpSpPr/>
        <p:nvPr/>
      </p:nvGrpSpPr>
      <p:grpSpPr>
        <a:xfrm>
          <a:off x="0" y="0"/>
          <a:ext cx="0" cy="0"/>
          <a:chOff x="0" y="0"/>
          <a:chExt cx="0" cy="0"/>
        </a:xfrm>
      </p:grpSpPr>
      <p:sp>
        <p:nvSpPr>
          <p:cNvPr id="207" name="Google Shape;207;p12"/>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2: Discrete Logarithm Problem</a:t>
            </a:r>
            <a:endParaRPr sz="900" b="0" i="0" u="none" strike="noStrike" cap="none">
              <a:solidFill>
                <a:schemeClr val="dk1"/>
              </a:solidFill>
              <a:latin typeface="Calibri"/>
              <a:ea typeface="Calibri"/>
              <a:cs typeface="Calibri"/>
              <a:sym typeface="Calibri"/>
            </a:endParaRPr>
          </a:p>
        </p:txBody>
      </p:sp>
      <p:sp>
        <p:nvSpPr>
          <p:cNvPr id="209" name="Google Shape;209;p12"/>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12</a:t>
            </a:r>
            <a:endParaRPr sz="1000" b="0" i="0" u="none" strike="noStrike" cap="none">
              <a:solidFill>
                <a:schemeClr val="dk1"/>
              </a:solidFill>
              <a:latin typeface="Calibri"/>
              <a:ea typeface="Calibri"/>
              <a:cs typeface="Calibri"/>
              <a:sym typeface="Calibri"/>
            </a:endParaRPr>
          </a:p>
        </p:txBody>
      </p:sp>
      <p:sp>
        <p:nvSpPr>
          <p:cNvPr id="210" name="Google Shape;210;p12"/>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Example 2.1: Computing a Discrete Logarithm</a:t>
            </a:r>
            <a:endParaRPr sz="2400" b="0" i="0" u="none" strike="noStrike" cap="none">
              <a:solidFill>
                <a:schemeClr val="dk1"/>
              </a:solidFill>
              <a:latin typeface="Calibri"/>
              <a:ea typeface="Calibri"/>
              <a:cs typeface="Calibri"/>
              <a:sym typeface="Calibri"/>
            </a:endParaRPr>
          </a:p>
        </p:txBody>
      </p:sp>
      <p:sp>
        <p:nvSpPr>
          <p:cNvPr id="211" name="Google Shape;211;p12"/>
          <p:cNvSpPr/>
          <p:nvPr/>
        </p:nvSpPr>
        <p:spPr>
          <a:xfrm>
            <a:off x="548640" y="1051560"/>
            <a:ext cx="8046720" cy="374904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2"/>
          <p:cNvSpPr/>
          <p:nvPr/>
        </p:nvSpPr>
        <p:spPr>
          <a:xfrm>
            <a:off x="548640" y="1051560"/>
            <a:ext cx="54864" cy="374904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2"/>
          <p:cNvSpPr/>
          <p:nvPr/>
        </p:nvSpPr>
        <p:spPr>
          <a:xfrm>
            <a:off x="777240" y="1188720"/>
            <a:ext cx="7589520" cy="3474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onsolas"/>
              <a:buNone/>
            </a:pPr>
            <a:r>
              <a:rPr lang="en-US" sz="1300" b="1" i="0" u="none" strike="noStrike" cap="none">
                <a:solidFill>
                  <a:srgbClr val="1E293B"/>
                </a:solidFill>
                <a:latin typeface="Consolas"/>
                <a:ea typeface="Consolas"/>
                <a:cs typeface="Consolas"/>
                <a:sym typeface="Consolas"/>
              </a:rPr>
              <a:t>Given: p = 23, g = 5, h = 8</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1" i="0" u="none" strike="noStrike" cap="none">
                <a:solidFill>
                  <a:srgbClr val="1E293B"/>
                </a:solidFill>
                <a:latin typeface="Consolas"/>
                <a:ea typeface="Consolas"/>
                <a:cs typeface="Consolas"/>
                <a:sym typeface="Consolas"/>
              </a:rPr>
              <a:t>Find: x where 5^x ≡ 8 (mod 23)</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Brute force search:</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5^1 mod 23 = 5</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5^2 mod 23 = 2</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5^3 mod 23 = 10</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5^4 mod 23 = 4</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5^5 mod 23 = 20</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  5^6 mod 23 = 8   ← Found it!</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47857"/>
              </a:buClr>
              <a:buSzPts val="1300"/>
              <a:buFont typeface="Consolas"/>
              <a:buNone/>
            </a:pPr>
            <a:r>
              <a:rPr lang="en-US" sz="1300" b="0" i="0" u="none" strike="noStrike" cap="none">
                <a:solidFill>
                  <a:srgbClr val="047857"/>
                </a:solidFill>
                <a:latin typeface="Consolas"/>
                <a:ea typeface="Consolas"/>
                <a:cs typeface="Consolas"/>
                <a:sym typeface="Consolas"/>
              </a:rPr>
              <a:t>✓ Therefore: log₅(8) = 6  (mod 23)</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218"/>
        <p:cNvGrpSpPr/>
        <p:nvPr/>
      </p:nvGrpSpPr>
      <p:grpSpPr>
        <a:xfrm>
          <a:off x="0" y="0"/>
          <a:ext cx="0" cy="0"/>
          <a:chOff x="0" y="0"/>
          <a:chExt cx="0" cy="0"/>
        </a:xfrm>
      </p:grpSpPr>
      <p:sp>
        <p:nvSpPr>
          <p:cNvPr id="219" name="Google Shape;219;p13"/>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3"/>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2: Discrete Logarithm Problem</a:t>
            </a:r>
            <a:endParaRPr sz="900" b="0" i="0" u="none" strike="noStrike" cap="none">
              <a:solidFill>
                <a:schemeClr val="dk1"/>
              </a:solidFill>
              <a:latin typeface="Calibri"/>
              <a:ea typeface="Calibri"/>
              <a:cs typeface="Calibri"/>
              <a:sym typeface="Calibri"/>
            </a:endParaRPr>
          </a:p>
        </p:txBody>
      </p:sp>
      <p:sp>
        <p:nvSpPr>
          <p:cNvPr id="221" name="Google Shape;221;p13"/>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13</a:t>
            </a:r>
            <a:endParaRPr sz="1000" b="0" i="0" u="none" strike="noStrike" cap="none">
              <a:solidFill>
                <a:schemeClr val="dk1"/>
              </a:solidFill>
              <a:latin typeface="Calibri"/>
              <a:ea typeface="Calibri"/>
              <a:cs typeface="Calibri"/>
              <a:sym typeface="Calibri"/>
            </a:endParaRPr>
          </a:p>
        </p:txBody>
      </p:sp>
      <p:sp>
        <p:nvSpPr>
          <p:cNvPr id="222" name="Google Shape;222;p13"/>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Key Size Recommendations</a:t>
            </a:r>
            <a:endParaRPr sz="2400" b="0" i="0" u="none" strike="noStrike" cap="none">
              <a:solidFill>
                <a:schemeClr val="dk1"/>
              </a:solidFill>
              <a:latin typeface="Calibri"/>
              <a:ea typeface="Calibri"/>
              <a:cs typeface="Calibri"/>
              <a:sym typeface="Calibri"/>
            </a:endParaRPr>
          </a:p>
        </p:txBody>
      </p:sp>
      <p:graphicFrame>
        <p:nvGraphicFramePr>
          <p:cNvPr id="223" name="Google Shape;223;p13"/>
          <p:cNvGraphicFramePr/>
          <p:nvPr/>
        </p:nvGraphicFramePr>
        <p:xfrm>
          <a:off x="731520" y="1188720"/>
          <a:ext cx="3000000" cy="3000000"/>
        </p:xfrm>
        <a:graphic>
          <a:graphicData uri="http://schemas.openxmlformats.org/drawingml/2006/table">
            <a:tbl>
              <a:tblPr>
                <a:noFill/>
                <a:tableStyleId>{D0E0BE0B-6D61-4DE2-A626-A33BB0977795}</a:tableStyleId>
              </a:tblPr>
              <a:tblGrid>
                <a:gridCol w="2011675">
                  <a:extLst>
                    <a:ext uri="{9D8B030D-6E8A-4147-A177-3AD203B41FA5}">
                      <a16:colId xmlns:a16="http://schemas.microsoft.com/office/drawing/2014/main" val="20000"/>
                    </a:ext>
                  </a:extLst>
                </a:gridCol>
                <a:gridCol w="2194550">
                  <a:extLst>
                    <a:ext uri="{9D8B030D-6E8A-4147-A177-3AD203B41FA5}">
                      <a16:colId xmlns:a16="http://schemas.microsoft.com/office/drawing/2014/main" val="20001"/>
                    </a:ext>
                  </a:extLst>
                </a:gridCol>
                <a:gridCol w="3474725">
                  <a:extLst>
                    <a:ext uri="{9D8B030D-6E8A-4147-A177-3AD203B41FA5}">
                      <a16:colId xmlns:a16="http://schemas.microsoft.com/office/drawing/2014/main" val="20002"/>
                    </a:ext>
                  </a:extLst>
                </a:gridCol>
              </a:tblGrid>
              <a:tr h="165100">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Key Size</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7FA6"/>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Security Level</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7FA6"/>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Status</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7FA6"/>
                    </a:solidFill>
                  </a:tcPr>
                </a:tc>
                <a:extLst>
                  <a:ext uri="{0D108BD9-81ED-4DB2-BD59-A6C34878D82A}">
                    <a16:rowId xmlns:a16="http://schemas.microsoft.com/office/drawing/2014/main" val="10000"/>
                  </a:ext>
                </a:extLst>
              </a:tr>
              <a:tr h="165100">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1024 bits</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EF2F2"/>
                    </a:solidFill>
                  </a:tcPr>
                </a:tc>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80-bit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EF2F2"/>
                    </a:solidFill>
                  </a:tcPr>
                </a:tc>
                <a:tc>
                  <a:txBody>
                    <a:bodyPr/>
                    <a:lstStyle/>
                    <a:p>
                      <a:pPr marL="0" marR="0" lvl="0" indent="0" algn="l" rtl="0">
                        <a:spcBef>
                          <a:spcPts val="0"/>
                        </a:spcBef>
                        <a:spcAft>
                          <a:spcPts val="0"/>
                        </a:spcAft>
                        <a:buClr>
                          <a:srgbClr val="EF4444"/>
                        </a:buClr>
                        <a:buSzPts val="1300"/>
                        <a:buFont typeface="Calibri"/>
                        <a:buNone/>
                      </a:pPr>
                      <a:r>
                        <a:rPr lang="en-US" sz="1300" b="1" u="none" strike="noStrike" cap="none">
                          <a:solidFill>
                            <a:srgbClr val="EF4444"/>
                          </a:solidFill>
                          <a:latin typeface="Calibri"/>
                          <a:ea typeface="Calibri"/>
                          <a:cs typeface="Calibri"/>
                          <a:sym typeface="Calibri"/>
                        </a:rPr>
                        <a:t>DEPRECATED (Logjam 2015)</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EF2F2"/>
                    </a:solidFill>
                  </a:tcPr>
                </a:tc>
                <a:extLst>
                  <a:ext uri="{0D108BD9-81ED-4DB2-BD59-A6C34878D82A}">
                    <a16:rowId xmlns:a16="http://schemas.microsoft.com/office/drawing/2014/main" val="10001"/>
                  </a:ext>
                </a:extLst>
              </a:tr>
              <a:tr h="165100">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2048 bits</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112-bit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B45309"/>
                        </a:buClr>
                        <a:buSzPts val="1300"/>
                        <a:buFont typeface="Calibri"/>
                        <a:buNone/>
                      </a:pPr>
                      <a:r>
                        <a:rPr lang="en-US" sz="1300" b="1" u="none" strike="noStrike" cap="none">
                          <a:solidFill>
                            <a:srgbClr val="B45309"/>
                          </a:solidFill>
                          <a:latin typeface="Calibri"/>
                          <a:ea typeface="Calibri"/>
                          <a:cs typeface="Calibri"/>
                          <a:sym typeface="Calibri"/>
                        </a:rPr>
                        <a:t>MINIMUM (good until ~2030)</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165100">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3072 bits</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CFDF5"/>
                    </a:solidFill>
                  </a:tcPr>
                </a:tc>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128-bit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CFDF5"/>
                    </a:solidFill>
                  </a:tcPr>
                </a:tc>
                <a:tc>
                  <a:txBody>
                    <a:bodyPr/>
                    <a:lstStyle/>
                    <a:p>
                      <a:pPr marL="0" marR="0" lvl="0" indent="0" algn="l" rtl="0">
                        <a:spcBef>
                          <a:spcPts val="0"/>
                        </a:spcBef>
                        <a:spcAft>
                          <a:spcPts val="0"/>
                        </a:spcAft>
                        <a:buClr>
                          <a:srgbClr val="10B981"/>
                        </a:buClr>
                        <a:buSzPts val="1300"/>
                        <a:buFont typeface="Calibri"/>
                        <a:buNone/>
                      </a:pPr>
                      <a:r>
                        <a:rPr lang="en-US" sz="1300" b="1" u="none" strike="noStrike" cap="none">
                          <a:solidFill>
                            <a:srgbClr val="10B981"/>
                          </a:solidFill>
                          <a:latin typeface="Calibri"/>
                          <a:ea typeface="Calibri"/>
                          <a:cs typeface="Calibri"/>
                          <a:sym typeface="Calibri"/>
                        </a:rPr>
                        <a:t>RECOMMENDED</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ECFDF5"/>
                    </a:solidFill>
                  </a:tcPr>
                </a:tc>
                <a:extLst>
                  <a:ext uri="{0D108BD9-81ED-4DB2-BD59-A6C34878D82A}">
                    <a16:rowId xmlns:a16="http://schemas.microsoft.com/office/drawing/2014/main" val="10003"/>
                  </a:ext>
                </a:extLst>
              </a:tr>
              <a:tr h="165100">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4096 bits</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300"/>
                        <a:buFont typeface="Calibri"/>
                        <a:buNone/>
                      </a:pPr>
                      <a:r>
                        <a:rPr lang="en-US" sz="1300" u="none" strike="noStrike" cap="none">
                          <a:solidFill>
                            <a:srgbClr val="000000"/>
                          </a:solidFill>
                          <a:latin typeface="Calibri"/>
                          <a:ea typeface="Calibri"/>
                          <a:cs typeface="Calibri"/>
                          <a:sym typeface="Calibri"/>
                        </a:rPr>
                        <a:t>140-bit</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B7FA6"/>
                        </a:buClr>
                        <a:buSzPts val="1300"/>
                        <a:buFont typeface="Calibri"/>
                        <a:buNone/>
                      </a:pPr>
                      <a:r>
                        <a:rPr lang="en-US" sz="1300" b="1" u="none" strike="noStrike" cap="none">
                          <a:solidFill>
                            <a:srgbClr val="1B7FA6"/>
                          </a:solidFill>
                          <a:latin typeface="Calibri"/>
                          <a:ea typeface="Calibri"/>
                          <a:cs typeface="Calibri"/>
                          <a:sym typeface="Calibri"/>
                        </a:rPr>
                        <a:t>HIGH SECURITY</a:t>
                      </a:r>
                      <a:endParaRPr sz="13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24" name="Google Shape;224;p13"/>
          <p:cNvSpPr/>
          <p:nvPr/>
        </p:nvSpPr>
        <p:spPr>
          <a:xfrm>
            <a:off x="731520" y="329184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Discrete Logarithm Records</a:t>
            </a:r>
            <a:endParaRPr sz="1500" b="0" i="0" u="none" strike="noStrike" cap="none">
              <a:solidFill>
                <a:schemeClr val="dk1"/>
              </a:solidFill>
              <a:latin typeface="Calibri"/>
              <a:ea typeface="Calibri"/>
              <a:cs typeface="Calibri"/>
              <a:sym typeface="Calibri"/>
            </a:endParaRPr>
          </a:p>
        </p:txBody>
      </p:sp>
      <p:sp>
        <p:nvSpPr>
          <p:cNvPr id="225" name="Google Shape;225;p13"/>
          <p:cNvSpPr/>
          <p:nvPr/>
        </p:nvSpPr>
        <p:spPr>
          <a:xfrm>
            <a:off x="731520" y="3657600"/>
            <a:ext cx="7680960" cy="128016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2005: 160-bit solved (academic research)</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2014: 596-bit solved (special form primes)</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2016: 768-bit solved (massive computation required)</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1024-bit: Vulnerable to nation-state adversaries by ~2030</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230"/>
        <p:cNvGrpSpPr/>
        <p:nvPr/>
      </p:nvGrpSpPr>
      <p:grpSpPr>
        <a:xfrm>
          <a:off x="0" y="0"/>
          <a:ext cx="0" cy="0"/>
          <a:chOff x="0" y="0"/>
          <a:chExt cx="0" cy="0"/>
        </a:xfrm>
      </p:grpSpPr>
      <p:sp>
        <p:nvSpPr>
          <p:cNvPr id="231" name="Google Shape;231;p14"/>
          <p:cNvSpPr/>
          <p:nvPr/>
        </p:nvSpPr>
        <p:spPr>
          <a:xfrm>
            <a:off x="731520" y="914400"/>
            <a:ext cx="1828800" cy="228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9600"/>
              <a:buFont typeface="Georgia"/>
              <a:buNone/>
            </a:pPr>
            <a:r>
              <a:rPr lang="en-US" sz="9600" b="1" i="0" u="none" strike="noStrike" cap="none">
                <a:solidFill>
                  <a:srgbClr val="1B7FA6"/>
                </a:solidFill>
                <a:latin typeface="Georgia"/>
                <a:ea typeface="Georgia"/>
                <a:cs typeface="Georgia"/>
                <a:sym typeface="Georgia"/>
              </a:rPr>
              <a:t>03</a:t>
            </a:r>
            <a:endParaRPr sz="9600" b="0" i="0" u="none" strike="noStrike" cap="none">
              <a:solidFill>
                <a:schemeClr val="dk1"/>
              </a:solidFill>
              <a:latin typeface="Calibri"/>
              <a:ea typeface="Calibri"/>
              <a:cs typeface="Calibri"/>
              <a:sym typeface="Calibri"/>
            </a:endParaRPr>
          </a:p>
        </p:txBody>
      </p:sp>
      <p:sp>
        <p:nvSpPr>
          <p:cNvPr id="232" name="Google Shape;232;p14"/>
          <p:cNvSpPr/>
          <p:nvPr/>
        </p:nvSpPr>
        <p:spPr>
          <a:xfrm>
            <a:off x="914400" y="1828800"/>
            <a:ext cx="731520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i="0" u="none" strike="noStrike" cap="none">
                <a:solidFill>
                  <a:srgbClr val="FFFFFF"/>
                </a:solidFill>
                <a:latin typeface="Georgia"/>
                <a:ea typeface="Georgia"/>
                <a:cs typeface="Georgia"/>
                <a:sym typeface="Georgia"/>
              </a:rPr>
              <a:t>Cyclic Groups and Generators</a:t>
            </a:r>
            <a:endParaRPr sz="3600" b="0" i="0" u="none" strike="noStrike" cap="none">
              <a:solidFill>
                <a:schemeClr val="dk1"/>
              </a:solidFill>
              <a:latin typeface="Calibri"/>
              <a:ea typeface="Calibri"/>
              <a:cs typeface="Calibri"/>
              <a:sym typeface="Calibri"/>
            </a:endParaRPr>
          </a:p>
        </p:txBody>
      </p:sp>
      <p:sp>
        <p:nvSpPr>
          <p:cNvPr id="233" name="Google Shape;233;p14"/>
          <p:cNvSpPr/>
          <p:nvPr/>
        </p:nvSpPr>
        <p:spPr>
          <a:xfrm>
            <a:off x="914400" y="292608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600"/>
              <a:buFont typeface="Calibri"/>
              <a:buNone/>
            </a:pPr>
            <a:r>
              <a:rPr lang="en-US" sz="1600" b="0" i="0" u="none" strike="noStrike" cap="none">
                <a:solidFill>
                  <a:srgbClr val="2BA4D4"/>
                </a:solidFill>
                <a:latin typeface="Calibri"/>
                <a:ea typeface="Calibri"/>
                <a:cs typeface="Calibri"/>
                <a:sym typeface="Calibri"/>
              </a:rPr>
              <a:t>The mathematical structure underlying Diffie-Hellman</a:t>
            </a:r>
            <a:endParaRPr sz="1600" b="0" i="0" u="none" strike="noStrike" cap="none">
              <a:solidFill>
                <a:schemeClr val="dk1"/>
              </a:solidFill>
              <a:latin typeface="Calibri"/>
              <a:ea typeface="Calibri"/>
              <a:cs typeface="Calibri"/>
              <a:sym typeface="Calibri"/>
            </a:endParaRPr>
          </a:p>
        </p:txBody>
      </p:sp>
      <p:sp>
        <p:nvSpPr>
          <p:cNvPr id="234" name="Google Shape;234;p14"/>
          <p:cNvSpPr/>
          <p:nvPr/>
        </p:nvSpPr>
        <p:spPr>
          <a:xfrm>
            <a:off x="914400" y="4206240"/>
            <a:ext cx="22860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4"/>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240"/>
        <p:cNvGrpSpPr/>
        <p:nvPr/>
      </p:nvGrpSpPr>
      <p:grpSpPr>
        <a:xfrm>
          <a:off x="0" y="0"/>
          <a:ext cx="0" cy="0"/>
          <a:chOff x="0" y="0"/>
          <a:chExt cx="0" cy="0"/>
        </a:xfrm>
      </p:grpSpPr>
      <p:sp>
        <p:nvSpPr>
          <p:cNvPr id="241" name="Google Shape;241;p15"/>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5"/>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3: Cyclic Groups and Generators</a:t>
            </a:r>
            <a:endParaRPr sz="900" b="0" i="0" u="none" strike="noStrike" cap="none">
              <a:solidFill>
                <a:schemeClr val="dk1"/>
              </a:solidFill>
              <a:latin typeface="Calibri"/>
              <a:ea typeface="Calibri"/>
              <a:cs typeface="Calibri"/>
              <a:sym typeface="Calibri"/>
            </a:endParaRPr>
          </a:p>
        </p:txBody>
      </p:sp>
      <p:sp>
        <p:nvSpPr>
          <p:cNvPr id="243" name="Google Shape;243;p15"/>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15</a:t>
            </a:r>
            <a:endParaRPr sz="1000" b="0" i="0" u="none" strike="noStrike" cap="none">
              <a:solidFill>
                <a:schemeClr val="dk1"/>
              </a:solidFill>
              <a:latin typeface="Calibri"/>
              <a:ea typeface="Calibri"/>
              <a:cs typeface="Calibri"/>
              <a:sym typeface="Calibri"/>
            </a:endParaRPr>
          </a:p>
        </p:txBody>
      </p:sp>
      <p:sp>
        <p:nvSpPr>
          <p:cNvPr id="244" name="Google Shape;244;p15"/>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Group Theory Essentials</a:t>
            </a:r>
            <a:endParaRPr sz="2400" b="0" i="0" u="none" strike="noStrike" cap="none">
              <a:solidFill>
                <a:schemeClr val="dk1"/>
              </a:solidFill>
              <a:latin typeface="Calibri"/>
              <a:ea typeface="Calibri"/>
              <a:cs typeface="Calibri"/>
              <a:sym typeface="Calibri"/>
            </a:endParaRPr>
          </a:p>
        </p:txBody>
      </p:sp>
      <p:sp>
        <p:nvSpPr>
          <p:cNvPr id="245" name="Google Shape;245;p15"/>
          <p:cNvSpPr/>
          <p:nvPr/>
        </p:nvSpPr>
        <p:spPr>
          <a:xfrm>
            <a:off x="548640" y="1097280"/>
            <a:ext cx="8046720" cy="137160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5"/>
          <p:cNvSpPr/>
          <p:nvPr/>
        </p:nvSpPr>
        <p:spPr>
          <a:xfrm>
            <a:off x="548640" y="1097280"/>
            <a:ext cx="54864" cy="137160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5"/>
          <p:cNvSpPr/>
          <p:nvPr/>
        </p:nvSpPr>
        <p:spPr>
          <a:xfrm>
            <a:off x="777240" y="114300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400"/>
              <a:buFont typeface="Georgia"/>
              <a:buNone/>
            </a:pPr>
            <a:r>
              <a:rPr lang="en-US" sz="1400" b="1" i="0" u="none" strike="noStrike" cap="none">
                <a:solidFill>
                  <a:srgbClr val="1B7FA6"/>
                </a:solidFill>
                <a:latin typeface="Georgia"/>
                <a:ea typeface="Georgia"/>
                <a:cs typeface="Georgia"/>
                <a:sym typeface="Georgia"/>
              </a:rPr>
              <a:t>Definition 3.1 — Cyclic Group</a:t>
            </a:r>
            <a:endParaRPr sz="1400" b="0" i="0" u="none" strike="noStrike" cap="none">
              <a:solidFill>
                <a:schemeClr val="dk1"/>
              </a:solidFill>
              <a:latin typeface="Calibri"/>
              <a:ea typeface="Calibri"/>
              <a:cs typeface="Calibri"/>
              <a:sym typeface="Calibri"/>
            </a:endParaRPr>
          </a:p>
        </p:txBody>
      </p:sp>
      <p:sp>
        <p:nvSpPr>
          <p:cNvPr id="248" name="Google Shape;248;p15"/>
          <p:cNvSpPr/>
          <p:nvPr/>
        </p:nvSpPr>
        <p:spPr>
          <a:xfrm>
            <a:off x="777240" y="1508760"/>
            <a:ext cx="7589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A group G is cyclic if there exists an element g ∈ G (called a generator) such that every element in G can be expressed as g^k for some integer k.</a:t>
            </a:r>
            <a:endParaRPr sz="1400" b="0" i="0" u="none" strike="noStrike" cap="none">
              <a:solidFill>
                <a:schemeClr val="dk1"/>
              </a:solidFill>
              <a:latin typeface="Calibri"/>
              <a:ea typeface="Calibri"/>
              <a:cs typeface="Calibri"/>
              <a:sym typeface="Calibri"/>
            </a:endParaRPr>
          </a:p>
        </p:txBody>
      </p:sp>
      <p:sp>
        <p:nvSpPr>
          <p:cNvPr id="249" name="Google Shape;249;p15"/>
          <p:cNvSpPr/>
          <p:nvPr/>
        </p:nvSpPr>
        <p:spPr>
          <a:xfrm>
            <a:off x="548640" y="2651760"/>
            <a:ext cx="8046720" cy="137160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5"/>
          <p:cNvSpPr/>
          <p:nvPr/>
        </p:nvSpPr>
        <p:spPr>
          <a:xfrm>
            <a:off x="548640" y="2651760"/>
            <a:ext cx="54864" cy="1371600"/>
          </a:xfrm>
          <a:prstGeom prst="rect">
            <a:avLst/>
          </a:prstGeom>
          <a:solidFill>
            <a:srgbClr val="2BA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5"/>
          <p:cNvSpPr/>
          <p:nvPr/>
        </p:nvSpPr>
        <p:spPr>
          <a:xfrm>
            <a:off x="777240" y="269748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BA4D4"/>
              </a:buClr>
              <a:buSzPts val="1400"/>
              <a:buFont typeface="Georgia"/>
              <a:buNone/>
            </a:pPr>
            <a:r>
              <a:rPr lang="en-US" sz="1400" b="1" i="0" u="none" strike="noStrike" cap="none">
                <a:solidFill>
                  <a:srgbClr val="2BA4D4"/>
                </a:solidFill>
                <a:latin typeface="Georgia"/>
                <a:ea typeface="Georgia"/>
                <a:cs typeface="Georgia"/>
                <a:sym typeface="Georgia"/>
              </a:rPr>
              <a:t>Definition 3.2 — Z*_p</a:t>
            </a:r>
            <a:endParaRPr sz="1400" b="0" i="0" u="none" strike="noStrike" cap="none">
              <a:solidFill>
                <a:schemeClr val="dk1"/>
              </a:solidFill>
              <a:latin typeface="Calibri"/>
              <a:ea typeface="Calibri"/>
              <a:cs typeface="Calibri"/>
              <a:sym typeface="Calibri"/>
            </a:endParaRPr>
          </a:p>
        </p:txBody>
      </p:sp>
      <p:sp>
        <p:nvSpPr>
          <p:cNvPr id="252" name="Google Shape;252;p15"/>
          <p:cNvSpPr/>
          <p:nvPr/>
        </p:nvSpPr>
        <p:spPr>
          <a:xfrm>
            <a:off x="777240" y="3063240"/>
            <a:ext cx="7589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For prime p, Z*_p = {1, 2, ..., p−1} is the multiplicative group of integers modulo p. It has order φ(p) = p−1.</a:t>
            </a:r>
            <a:endParaRPr sz="1400" b="0" i="0" u="none" strike="noStrike" cap="none">
              <a:solidFill>
                <a:schemeClr val="dk1"/>
              </a:solidFill>
              <a:latin typeface="Calibri"/>
              <a:ea typeface="Calibri"/>
              <a:cs typeface="Calibri"/>
              <a:sym typeface="Calibri"/>
            </a:endParaRPr>
          </a:p>
        </p:txBody>
      </p:sp>
      <p:sp>
        <p:nvSpPr>
          <p:cNvPr id="253" name="Google Shape;253;p15"/>
          <p:cNvSpPr/>
          <p:nvPr/>
        </p:nvSpPr>
        <p:spPr>
          <a:xfrm>
            <a:off x="548640" y="4206240"/>
            <a:ext cx="8046720" cy="594360"/>
          </a:xfrm>
          <a:prstGeom prst="rect">
            <a:avLst/>
          </a:prstGeom>
          <a:solidFill>
            <a:srgbClr val="EFF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a:off x="777240" y="4206240"/>
            <a:ext cx="758952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1300"/>
              <a:buFont typeface="Calibri"/>
              <a:buNone/>
            </a:pPr>
            <a:r>
              <a:rPr lang="en-US" sz="1300" b="1" i="0" u="none" strike="noStrike" cap="none">
                <a:solidFill>
                  <a:srgbClr val="1B7FA6"/>
                </a:solidFill>
                <a:latin typeface="Calibri"/>
                <a:ea typeface="Calibri"/>
                <a:cs typeface="Calibri"/>
                <a:sym typeface="Calibri"/>
              </a:rPr>
              <a:t>A generator of Z*_p produces ALL elements {1, 2, ..., p−1} through its successive powers.</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259"/>
        <p:cNvGrpSpPr/>
        <p:nvPr/>
      </p:nvGrpSpPr>
      <p:grpSpPr>
        <a:xfrm>
          <a:off x="0" y="0"/>
          <a:ext cx="0" cy="0"/>
          <a:chOff x="0" y="0"/>
          <a:chExt cx="0" cy="0"/>
        </a:xfrm>
      </p:grpSpPr>
      <p:sp>
        <p:nvSpPr>
          <p:cNvPr id="260" name="Google Shape;260;p16"/>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6"/>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3: Cyclic Groups and Generators</a:t>
            </a:r>
            <a:endParaRPr sz="900" b="0" i="0" u="none" strike="noStrike" cap="none">
              <a:solidFill>
                <a:schemeClr val="dk1"/>
              </a:solidFill>
              <a:latin typeface="Calibri"/>
              <a:ea typeface="Calibri"/>
              <a:cs typeface="Calibri"/>
              <a:sym typeface="Calibri"/>
            </a:endParaRPr>
          </a:p>
        </p:txBody>
      </p:sp>
      <p:sp>
        <p:nvSpPr>
          <p:cNvPr id="262" name="Google Shape;262;p16"/>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16</a:t>
            </a:r>
            <a:endParaRPr sz="1000" b="0" i="0" u="none" strike="noStrike" cap="none">
              <a:solidFill>
                <a:schemeClr val="dk1"/>
              </a:solidFill>
              <a:latin typeface="Calibri"/>
              <a:ea typeface="Calibri"/>
              <a:cs typeface="Calibri"/>
              <a:sym typeface="Calibri"/>
            </a:endParaRPr>
          </a:p>
        </p:txBody>
      </p:sp>
      <p:sp>
        <p:nvSpPr>
          <p:cNvPr id="263" name="Google Shape;263;p16"/>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Example 3.1: Verifying g = 2 Is a Generator of Z*₁₁</a:t>
            </a:r>
            <a:endParaRPr sz="2400" b="0" i="0" u="none" strike="noStrike" cap="none">
              <a:solidFill>
                <a:schemeClr val="dk1"/>
              </a:solidFill>
              <a:latin typeface="Calibri"/>
              <a:ea typeface="Calibri"/>
              <a:cs typeface="Calibri"/>
              <a:sym typeface="Calibri"/>
            </a:endParaRPr>
          </a:p>
        </p:txBody>
      </p:sp>
      <p:sp>
        <p:nvSpPr>
          <p:cNvPr id="264" name="Google Shape;264;p16"/>
          <p:cNvSpPr/>
          <p:nvPr/>
        </p:nvSpPr>
        <p:spPr>
          <a:xfrm>
            <a:off x="548640" y="1005840"/>
            <a:ext cx="8046720" cy="384048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6"/>
          <p:cNvSpPr/>
          <p:nvPr/>
        </p:nvSpPr>
        <p:spPr>
          <a:xfrm>
            <a:off x="548640" y="1005840"/>
            <a:ext cx="54864" cy="384048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p:cNvSpPr/>
          <p:nvPr/>
        </p:nvSpPr>
        <p:spPr>
          <a:xfrm>
            <a:off x="777240" y="1143000"/>
            <a:ext cx="7589520" cy="35661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onsolas"/>
              <a:buNone/>
            </a:pPr>
            <a:r>
              <a:rPr lang="en-US" sz="1300" b="1" i="0" u="none" strike="noStrike" cap="none">
                <a:solidFill>
                  <a:srgbClr val="1E293B"/>
                </a:solidFill>
                <a:latin typeface="Consolas"/>
                <a:ea typeface="Consolas"/>
                <a:cs typeface="Consolas"/>
                <a:sym typeface="Consolas"/>
              </a:rPr>
              <a:t>Compute all powers of 2 modulo 11:</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2^1  mod 11 = 2      2^6  mod 11 = 9</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2^2  mod 11 = 4      2^7  mod 11 = 7</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2^3  mod 11 = 8      2^8  mod 11 = 3</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2^4  mod 11 = 5      2^9  mod 11 = 6</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2^5  mod 11 = 10     2^10 mod 11 = 1</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300"/>
              <a:buFont typeface="Consolas"/>
              <a:buNone/>
            </a:pPr>
            <a:r>
              <a:rPr lang="en-US" sz="1300" b="1" i="0" u="none" strike="noStrike" cap="none">
                <a:solidFill>
                  <a:srgbClr val="1E293B"/>
                </a:solidFill>
                <a:latin typeface="Consolas"/>
                <a:ea typeface="Consolas"/>
                <a:cs typeface="Consolas"/>
                <a:sym typeface="Consolas"/>
              </a:rPr>
              <a:t>Generated set: {2, 4, 8, 5, 10, 9, 7, 3, 6, 1}</a:t>
            </a: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47857"/>
              </a:buClr>
              <a:buSzPts val="1300"/>
              <a:buFont typeface="Consolas"/>
              <a:buNone/>
            </a:pPr>
            <a:r>
              <a:rPr lang="en-US" sz="1300" b="0" i="0" u="none" strike="noStrike" cap="none">
                <a:solidFill>
                  <a:srgbClr val="047857"/>
                </a:solidFill>
                <a:latin typeface="Consolas"/>
                <a:ea typeface="Consolas"/>
                <a:cs typeface="Consolas"/>
                <a:sym typeface="Consolas"/>
              </a:rPr>
              <a:t>✓ All 10 elements of Z*₁₁ appear → g = 2 is a generator!</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271"/>
        <p:cNvGrpSpPr/>
        <p:nvPr/>
      </p:nvGrpSpPr>
      <p:grpSpPr>
        <a:xfrm>
          <a:off x="0" y="0"/>
          <a:ext cx="0" cy="0"/>
          <a:chOff x="0" y="0"/>
          <a:chExt cx="0" cy="0"/>
        </a:xfrm>
      </p:grpSpPr>
      <p:sp>
        <p:nvSpPr>
          <p:cNvPr id="272" name="Google Shape;272;p17"/>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7"/>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3: Cyclic Groups and Generators</a:t>
            </a:r>
            <a:endParaRPr sz="900" b="0" i="0" u="none" strike="noStrike" cap="none">
              <a:solidFill>
                <a:schemeClr val="dk1"/>
              </a:solidFill>
              <a:latin typeface="Calibri"/>
              <a:ea typeface="Calibri"/>
              <a:cs typeface="Calibri"/>
              <a:sym typeface="Calibri"/>
            </a:endParaRPr>
          </a:p>
        </p:txBody>
      </p:sp>
      <p:sp>
        <p:nvSpPr>
          <p:cNvPr id="274" name="Google Shape;274;p17"/>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17</a:t>
            </a:r>
            <a:endParaRPr sz="1000" b="0" i="0" u="none" strike="noStrike" cap="none">
              <a:solidFill>
                <a:schemeClr val="dk1"/>
              </a:solidFill>
              <a:latin typeface="Calibri"/>
              <a:ea typeface="Calibri"/>
              <a:cs typeface="Calibri"/>
              <a:sym typeface="Calibri"/>
            </a:endParaRPr>
          </a:p>
        </p:txBody>
      </p:sp>
      <p:sp>
        <p:nvSpPr>
          <p:cNvPr id="275" name="Google Shape;275;p17"/>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Finding Generators — Efficient Test</a:t>
            </a:r>
            <a:endParaRPr sz="2400" b="0" i="0" u="none" strike="noStrike" cap="none">
              <a:solidFill>
                <a:schemeClr val="dk1"/>
              </a:solidFill>
              <a:latin typeface="Calibri"/>
              <a:ea typeface="Calibri"/>
              <a:cs typeface="Calibri"/>
              <a:sym typeface="Calibri"/>
            </a:endParaRPr>
          </a:p>
        </p:txBody>
      </p:sp>
      <p:sp>
        <p:nvSpPr>
          <p:cNvPr id="276" name="Google Shape;276;p17"/>
          <p:cNvSpPr/>
          <p:nvPr/>
        </p:nvSpPr>
        <p:spPr>
          <a:xfrm>
            <a:off x="548640" y="1097280"/>
            <a:ext cx="8046720" cy="210312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7"/>
          <p:cNvSpPr/>
          <p:nvPr/>
        </p:nvSpPr>
        <p:spPr>
          <a:xfrm>
            <a:off x="548640" y="1097280"/>
            <a:ext cx="54864" cy="2103120"/>
          </a:xfrm>
          <a:prstGeom prst="rect">
            <a:avLst/>
          </a:prstGeom>
          <a:solidFill>
            <a:srgbClr val="F59E0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7"/>
          <p:cNvSpPr/>
          <p:nvPr/>
        </p:nvSpPr>
        <p:spPr>
          <a:xfrm>
            <a:off x="777240" y="1143000"/>
            <a:ext cx="2743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2400E"/>
              </a:buClr>
              <a:buSzPts val="1400"/>
              <a:buFont typeface="Georgia"/>
              <a:buNone/>
            </a:pPr>
            <a:r>
              <a:rPr lang="en-US" sz="1400" b="1" i="0" u="none" strike="noStrike" cap="none">
                <a:solidFill>
                  <a:srgbClr val="92400E"/>
                </a:solidFill>
                <a:latin typeface="Georgia"/>
                <a:ea typeface="Georgia"/>
                <a:cs typeface="Georgia"/>
                <a:sym typeface="Georgia"/>
              </a:rPr>
              <a:t>Theorem 3.1</a:t>
            </a:r>
            <a:endParaRPr sz="1400" b="0" i="0" u="none" strike="noStrike" cap="none">
              <a:solidFill>
                <a:schemeClr val="dk1"/>
              </a:solidFill>
              <a:latin typeface="Calibri"/>
              <a:ea typeface="Calibri"/>
              <a:cs typeface="Calibri"/>
              <a:sym typeface="Calibri"/>
            </a:endParaRPr>
          </a:p>
        </p:txBody>
      </p:sp>
      <p:sp>
        <p:nvSpPr>
          <p:cNvPr id="279" name="Google Shape;279;p17"/>
          <p:cNvSpPr/>
          <p:nvPr/>
        </p:nvSpPr>
        <p:spPr>
          <a:xfrm>
            <a:off x="777240" y="1508760"/>
            <a:ext cx="7589520" cy="3657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For prime p, there exist </a:t>
            </a:r>
            <a:r>
              <a:rPr lang="en-US" sz="1400" b="1" i="0" u="none" strike="noStrike" cap="none">
                <a:solidFill>
                  <a:srgbClr val="1B7FA6"/>
                </a:solidFill>
                <a:latin typeface="Consolas"/>
                <a:ea typeface="Consolas"/>
                <a:cs typeface="Consolas"/>
                <a:sym typeface="Consolas"/>
              </a:rPr>
              <a:t>φ(p−1)</a:t>
            </a:r>
            <a:r>
              <a:rPr lang="en-US" sz="1400" b="0" i="0" u="none" strike="noStrike" cap="none">
                <a:solidFill>
                  <a:srgbClr val="1E293B"/>
                </a:solidFill>
                <a:latin typeface="Calibri"/>
                <a:ea typeface="Calibri"/>
                <a:cs typeface="Calibri"/>
                <a:sym typeface="Calibri"/>
              </a:rPr>
              <a:t> generators of Z*_p.</a:t>
            </a:r>
            <a:endParaRPr sz="1400" b="0" i="0" u="none" strike="noStrike" cap="none">
              <a:solidFill>
                <a:schemeClr val="dk1"/>
              </a:solidFill>
              <a:latin typeface="Calibri"/>
              <a:ea typeface="Calibri"/>
              <a:cs typeface="Calibri"/>
              <a:sym typeface="Calibri"/>
            </a:endParaRPr>
          </a:p>
        </p:txBody>
      </p:sp>
      <p:sp>
        <p:nvSpPr>
          <p:cNvPr id="280" name="Google Shape;280;p17"/>
          <p:cNvSpPr/>
          <p:nvPr/>
        </p:nvSpPr>
        <p:spPr>
          <a:xfrm>
            <a:off x="777240" y="1920240"/>
            <a:ext cx="2743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400"/>
              <a:buFont typeface="Georgia"/>
              <a:buNone/>
            </a:pPr>
            <a:r>
              <a:rPr lang="en-US" sz="1400" b="1" i="0" u="none" strike="noStrike" cap="none">
                <a:solidFill>
                  <a:srgbClr val="1E293B"/>
                </a:solidFill>
                <a:latin typeface="Georgia"/>
                <a:ea typeface="Georgia"/>
                <a:cs typeface="Georgia"/>
                <a:sym typeface="Georgia"/>
              </a:rPr>
              <a:t>Efficient Test:</a:t>
            </a:r>
            <a:endParaRPr sz="1400" b="0" i="0" u="none" strike="noStrike" cap="none">
              <a:solidFill>
                <a:schemeClr val="dk1"/>
              </a:solidFill>
              <a:latin typeface="Calibri"/>
              <a:ea typeface="Calibri"/>
              <a:cs typeface="Calibri"/>
              <a:sym typeface="Calibri"/>
            </a:endParaRPr>
          </a:p>
        </p:txBody>
      </p:sp>
      <p:sp>
        <p:nvSpPr>
          <p:cNvPr id="281" name="Google Shape;281;p17"/>
          <p:cNvSpPr/>
          <p:nvPr/>
        </p:nvSpPr>
        <p:spPr>
          <a:xfrm>
            <a:off x="777240" y="2286000"/>
            <a:ext cx="7589520" cy="8229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Let p−1 = q₁^e₁ × q₂^e₂ × ... × qₖ^eₖ  (prime factorization)</a:t>
            </a:r>
            <a:endParaRPr sz="13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g is a generator if and only if:</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1B7FA6"/>
              </a:buClr>
              <a:buSzPts val="1400"/>
              <a:buFont typeface="Consolas"/>
              <a:buNone/>
            </a:pPr>
            <a:r>
              <a:rPr lang="en-US" sz="1400" b="1" i="0" u="none" strike="noStrike" cap="none">
                <a:solidFill>
                  <a:srgbClr val="1B7FA6"/>
                </a:solidFill>
                <a:latin typeface="Consolas"/>
                <a:ea typeface="Consolas"/>
                <a:cs typeface="Consolas"/>
                <a:sym typeface="Consolas"/>
              </a:rPr>
              <a:t>g^((p−1)/qᵢ) ≠ 1 (mod p)   for ALL prime factors qᵢ</a:t>
            </a:r>
            <a:endParaRPr sz="1300" b="0" i="0" u="none" strike="noStrike" cap="none">
              <a:solidFill>
                <a:schemeClr val="dk1"/>
              </a:solidFill>
              <a:latin typeface="Calibri"/>
              <a:ea typeface="Calibri"/>
              <a:cs typeface="Calibri"/>
              <a:sym typeface="Calibri"/>
            </a:endParaRPr>
          </a:p>
        </p:txBody>
      </p:sp>
      <p:sp>
        <p:nvSpPr>
          <p:cNvPr id="282" name="Google Shape;282;p17"/>
          <p:cNvSpPr/>
          <p:nvPr/>
        </p:nvSpPr>
        <p:spPr>
          <a:xfrm>
            <a:off x="548640" y="3429000"/>
            <a:ext cx="8046720" cy="137160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7"/>
          <p:cNvSpPr/>
          <p:nvPr/>
        </p:nvSpPr>
        <p:spPr>
          <a:xfrm>
            <a:off x="548640" y="3429000"/>
            <a:ext cx="54864" cy="137160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7"/>
          <p:cNvSpPr/>
          <p:nvPr/>
        </p:nvSpPr>
        <p:spPr>
          <a:xfrm>
            <a:off x="777240" y="347472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400"/>
              <a:buFont typeface="Georgia"/>
              <a:buNone/>
            </a:pPr>
            <a:r>
              <a:rPr lang="en-US" sz="1400" b="1" i="0" u="none" strike="noStrike" cap="none">
                <a:solidFill>
                  <a:srgbClr val="1B7FA6"/>
                </a:solidFill>
                <a:latin typeface="Georgia"/>
                <a:ea typeface="Georgia"/>
                <a:cs typeface="Georgia"/>
                <a:sym typeface="Georgia"/>
              </a:rPr>
              <a:t>Example 3.2: Is g = 3 a generator of Z*₁₇?</a:t>
            </a:r>
            <a:endParaRPr sz="1400" b="0" i="0" u="none" strike="noStrike" cap="none">
              <a:solidFill>
                <a:schemeClr val="dk1"/>
              </a:solidFill>
              <a:latin typeface="Calibri"/>
              <a:ea typeface="Calibri"/>
              <a:cs typeface="Calibri"/>
              <a:sym typeface="Calibri"/>
            </a:endParaRPr>
          </a:p>
        </p:txBody>
      </p:sp>
      <p:sp>
        <p:nvSpPr>
          <p:cNvPr id="285" name="Google Shape;285;p17"/>
          <p:cNvSpPr/>
          <p:nvPr/>
        </p:nvSpPr>
        <p:spPr>
          <a:xfrm>
            <a:off x="777240" y="3840480"/>
            <a:ext cx="7589520" cy="8229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p − 1 = 16 = 2⁴   →   Only prime factor: q = 2</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047857"/>
              </a:buClr>
              <a:buSzPts val="1300"/>
              <a:buFont typeface="Consolas"/>
              <a:buNone/>
            </a:pPr>
            <a:r>
              <a:rPr lang="en-US" sz="1300" b="0" i="0" u="none" strike="noStrike" cap="none">
                <a:solidFill>
                  <a:srgbClr val="047857"/>
                </a:solidFill>
                <a:latin typeface="Consolas"/>
                <a:ea typeface="Consolas"/>
                <a:cs typeface="Consolas"/>
                <a:sym typeface="Consolas"/>
              </a:rPr>
              <a:t>Test: 3^((17−1)/2) = 3^8 mod 17 = 6561 mod 17 = 16 ≠ 1  ✓</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0B981"/>
              </a:buClr>
              <a:buSzPts val="1300"/>
              <a:buFont typeface="Consolas"/>
              <a:buNone/>
            </a:pPr>
            <a:r>
              <a:rPr lang="en-US" sz="1300" b="1" i="0" u="none" strike="noStrike" cap="none">
                <a:solidFill>
                  <a:srgbClr val="10B981"/>
                </a:solidFill>
                <a:latin typeface="Consolas"/>
                <a:ea typeface="Consolas"/>
                <a:cs typeface="Consolas"/>
                <a:sym typeface="Consolas"/>
              </a:rPr>
              <a:t>→ g = 3 IS a generator of Z*₁₇</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290"/>
        <p:cNvGrpSpPr/>
        <p:nvPr/>
      </p:nvGrpSpPr>
      <p:grpSpPr>
        <a:xfrm>
          <a:off x="0" y="0"/>
          <a:ext cx="0" cy="0"/>
          <a:chOff x="0" y="0"/>
          <a:chExt cx="0" cy="0"/>
        </a:xfrm>
      </p:grpSpPr>
      <p:sp>
        <p:nvSpPr>
          <p:cNvPr id="291" name="Google Shape;291;p18"/>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8"/>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3: Cyclic Groups and Generators</a:t>
            </a:r>
            <a:endParaRPr sz="900" b="0" i="0" u="none" strike="noStrike" cap="none">
              <a:solidFill>
                <a:schemeClr val="dk1"/>
              </a:solidFill>
              <a:latin typeface="Calibri"/>
              <a:ea typeface="Calibri"/>
              <a:cs typeface="Calibri"/>
              <a:sym typeface="Calibri"/>
            </a:endParaRPr>
          </a:p>
        </p:txBody>
      </p:sp>
      <p:sp>
        <p:nvSpPr>
          <p:cNvPr id="293" name="Google Shape;293;p18"/>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18</a:t>
            </a:r>
            <a:endParaRPr sz="1000" b="0" i="0" u="none" strike="noStrike" cap="none">
              <a:solidFill>
                <a:schemeClr val="dk1"/>
              </a:solidFill>
              <a:latin typeface="Calibri"/>
              <a:ea typeface="Calibri"/>
              <a:cs typeface="Calibri"/>
              <a:sym typeface="Calibri"/>
            </a:endParaRPr>
          </a:p>
        </p:txBody>
      </p:sp>
      <p:sp>
        <p:nvSpPr>
          <p:cNvPr id="294" name="Google Shape;294;p18"/>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Safe Primes</a:t>
            </a:r>
            <a:endParaRPr sz="2400" b="0" i="0" u="none" strike="noStrike" cap="none">
              <a:solidFill>
                <a:schemeClr val="dk1"/>
              </a:solidFill>
              <a:latin typeface="Calibri"/>
              <a:ea typeface="Calibri"/>
              <a:cs typeface="Calibri"/>
              <a:sym typeface="Calibri"/>
            </a:endParaRPr>
          </a:p>
        </p:txBody>
      </p:sp>
      <p:sp>
        <p:nvSpPr>
          <p:cNvPr id="295" name="Google Shape;295;p18"/>
          <p:cNvSpPr/>
          <p:nvPr/>
        </p:nvSpPr>
        <p:spPr>
          <a:xfrm>
            <a:off x="548640" y="1097280"/>
            <a:ext cx="8046720" cy="118872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8"/>
          <p:cNvSpPr/>
          <p:nvPr/>
        </p:nvSpPr>
        <p:spPr>
          <a:xfrm>
            <a:off x="548640" y="1097280"/>
            <a:ext cx="54864" cy="118872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8"/>
          <p:cNvSpPr/>
          <p:nvPr/>
        </p:nvSpPr>
        <p:spPr>
          <a:xfrm>
            <a:off x="777240" y="114300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400"/>
              <a:buFont typeface="Georgia"/>
              <a:buNone/>
            </a:pPr>
            <a:r>
              <a:rPr lang="en-US" sz="1400" b="1" i="0" u="none" strike="noStrike" cap="none">
                <a:solidFill>
                  <a:srgbClr val="1B7FA6"/>
                </a:solidFill>
                <a:latin typeface="Georgia"/>
                <a:ea typeface="Georgia"/>
                <a:cs typeface="Georgia"/>
                <a:sym typeface="Georgia"/>
              </a:rPr>
              <a:t>Definition 3.4 — Safe Prime</a:t>
            </a:r>
            <a:endParaRPr sz="1400" b="0" i="0" u="none" strike="noStrike" cap="none">
              <a:solidFill>
                <a:schemeClr val="dk1"/>
              </a:solidFill>
              <a:latin typeface="Calibri"/>
              <a:ea typeface="Calibri"/>
              <a:cs typeface="Calibri"/>
              <a:sym typeface="Calibri"/>
            </a:endParaRPr>
          </a:p>
        </p:txBody>
      </p:sp>
      <p:sp>
        <p:nvSpPr>
          <p:cNvPr id="298" name="Google Shape;298;p18"/>
          <p:cNvSpPr/>
          <p:nvPr/>
        </p:nvSpPr>
        <p:spPr>
          <a:xfrm>
            <a:off x="777240" y="1508760"/>
            <a:ext cx="75895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400"/>
              <a:buFont typeface="Calibri"/>
              <a:buNone/>
            </a:pPr>
            <a:r>
              <a:rPr lang="en-US" sz="1400" b="0" i="0" u="none" strike="noStrike" cap="none">
                <a:solidFill>
                  <a:srgbClr val="1E293B"/>
                </a:solidFill>
                <a:latin typeface="Calibri"/>
                <a:ea typeface="Calibri"/>
                <a:cs typeface="Calibri"/>
                <a:sym typeface="Calibri"/>
              </a:rPr>
              <a:t>A prime p is safe if p = 2q + 1 where q is also prime (called a Sophie Germain prime).</a:t>
            </a:r>
            <a:endParaRPr sz="1400" b="0" i="0" u="none" strike="noStrike" cap="none">
              <a:solidFill>
                <a:schemeClr val="dk1"/>
              </a:solidFill>
              <a:latin typeface="Calibri"/>
              <a:ea typeface="Calibri"/>
              <a:cs typeface="Calibri"/>
              <a:sym typeface="Calibri"/>
            </a:endParaRPr>
          </a:p>
        </p:txBody>
      </p:sp>
      <p:sp>
        <p:nvSpPr>
          <p:cNvPr id="299" name="Google Shape;299;p18"/>
          <p:cNvSpPr/>
          <p:nvPr/>
        </p:nvSpPr>
        <p:spPr>
          <a:xfrm>
            <a:off x="731520" y="2468880"/>
            <a:ext cx="7680960" cy="109728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Prevents small subgroup attacks — p−1 = 2q has only two prime factors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Easier to find generators — approximately half of Z*_p elements are generators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Stronger security guarantees for Diffie-Hellman parameters</a:t>
            </a:r>
            <a:endParaRPr sz="1400" b="0" i="0" u="none" strike="noStrike" cap="none">
              <a:solidFill>
                <a:schemeClr val="dk1"/>
              </a:solidFill>
              <a:latin typeface="Calibri"/>
              <a:ea typeface="Calibri"/>
              <a:cs typeface="Calibri"/>
              <a:sym typeface="Calibri"/>
            </a:endParaRPr>
          </a:p>
        </p:txBody>
      </p:sp>
      <p:sp>
        <p:nvSpPr>
          <p:cNvPr id="300" name="Google Shape;300;p18"/>
          <p:cNvSpPr/>
          <p:nvPr/>
        </p:nvSpPr>
        <p:spPr>
          <a:xfrm>
            <a:off x="548640" y="3703320"/>
            <a:ext cx="8046720" cy="914400"/>
          </a:xfrm>
          <a:prstGeom prst="rect">
            <a:avLst/>
          </a:prstGeom>
          <a:solidFill>
            <a:srgbClr val="EFF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8"/>
          <p:cNvSpPr/>
          <p:nvPr/>
        </p:nvSpPr>
        <p:spPr>
          <a:xfrm>
            <a:off x="777240" y="3721608"/>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300"/>
              <a:buFont typeface="Georgia"/>
              <a:buNone/>
            </a:pPr>
            <a:r>
              <a:rPr lang="en-US" sz="1300" b="1" i="0" u="none" strike="noStrike" cap="none">
                <a:solidFill>
                  <a:srgbClr val="1B7FA6"/>
                </a:solidFill>
                <a:latin typeface="Georgia"/>
                <a:ea typeface="Georgia"/>
                <a:cs typeface="Georgia"/>
                <a:sym typeface="Georgia"/>
              </a:rPr>
              <a:t>Example 3.3 — Safe Primes:</a:t>
            </a:r>
            <a:endParaRPr sz="1300" b="0" i="0" u="none" strike="noStrike" cap="none">
              <a:solidFill>
                <a:schemeClr val="dk1"/>
              </a:solidFill>
              <a:latin typeface="Calibri"/>
              <a:ea typeface="Calibri"/>
              <a:cs typeface="Calibri"/>
              <a:sym typeface="Calibri"/>
            </a:endParaRPr>
          </a:p>
        </p:txBody>
      </p:sp>
      <p:sp>
        <p:nvSpPr>
          <p:cNvPr id="302" name="Google Shape;302;p18"/>
          <p:cNvSpPr/>
          <p:nvPr/>
        </p:nvSpPr>
        <p:spPr>
          <a:xfrm>
            <a:off x="777240" y="4023360"/>
            <a:ext cx="7589520" cy="5486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p = 11, q = 5:   11 = 2(5) + 1  ✓       p = 23, q = 11:  23 = 2(11) + 1  ✓       </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p = 47, q = 23:  47 = 2(23) + 1  ✓</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307"/>
        <p:cNvGrpSpPr/>
        <p:nvPr/>
      </p:nvGrpSpPr>
      <p:grpSpPr>
        <a:xfrm>
          <a:off x="0" y="0"/>
          <a:ext cx="0" cy="0"/>
          <a:chOff x="0" y="0"/>
          <a:chExt cx="0" cy="0"/>
        </a:xfrm>
      </p:grpSpPr>
      <p:sp>
        <p:nvSpPr>
          <p:cNvPr id="308" name="Google Shape;308;p19"/>
          <p:cNvSpPr/>
          <p:nvPr/>
        </p:nvSpPr>
        <p:spPr>
          <a:xfrm>
            <a:off x="731520" y="914400"/>
            <a:ext cx="1828800" cy="228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9600"/>
              <a:buFont typeface="Georgia"/>
              <a:buNone/>
            </a:pPr>
            <a:r>
              <a:rPr lang="en-US" sz="9600" b="1" i="0" u="none" strike="noStrike" cap="none">
                <a:solidFill>
                  <a:srgbClr val="1B7FA6"/>
                </a:solidFill>
                <a:latin typeface="Georgia"/>
                <a:ea typeface="Georgia"/>
                <a:cs typeface="Georgia"/>
                <a:sym typeface="Georgia"/>
              </a:rPr>
              <a:t>04</a:t>
            </a:r>
            <a:endParaRPr sz="9600" b="0" i="0" u="none" strike="noStrike" cap="none">
              <a:solidFill>
                <a:schemeClr val="dk1"/>
              </a:solidFill>
              <a:latin typeface="Calibri"/>
              <a:ea typeface="Calibri"/>
              <a:cs typeface="Calibri"/>
              <a:sym typeface="Calibri"/>
            </a:endParaRPr>
          </a:p>
        </p:txBody>
      </p:sp>
      <p:sp>
        <p:nvSpPr>
          <p:cNvPr id="309" name="Google Shape;309;p19"/>
          <p:cNvSpPr/>
          <p:nvPr/>
        </p:nvSpPr>
        <p:spPr>
          <a:xfrm>
            <a:off x="914400" y="1828800"/>
            <a:ext cx="731520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i="0" u="none" strike="noStrike" cap="none">
                <a:solidFill>
                  <a:srgbClr val="FFFFFF"/>
                </a:solidFill>
                <a:latin typeface="Georgia"/>
                <a:ea typeface="Georgia"/>
                <a:cs typeface="Georgia"/>
                <a:sym typeface="Georgia"/>
              </a:rPr>
              <a:t>ElGamal Encryption</a:t>
            </a:r>
            <a:endParaRPr sz="3600" b="0" i="0" u="none" strike="noStrike" cap="none">
              <a:solidFill>
                <a:schemeClr val="dk1"/>
              </a:solidFill>
              <a:latin typeface="Calibri"/>
              <a:ea typeface="Calibri"/>
              <a:cs typeface="Calibri"/>
              <a:sym typeface="Calibri"/>
            </a:endParaRPr>
          </a:p>
        </p:txBody>
      </p:sp>
      <p:sp>
        <p:nvSpPr>
          <p:cNvPr id="310" name="Google Shape;310;p19"/>
          <p:cNvSpPr/>
          <p:nvPr/>
        </p:nvSpPr>
        <p:spPr>
          <a:xfrm>
            <a:off x="914400" y="292608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600"/>
              <a:buFont typeface="Calibri"/>
              <a:buNone/>
            </a:pPr>
            <a:r>
              <a:rPr lang="en-US" sz="1600" b="0" i="0" u="none" strike="noStrike" cap="none">
                <a:solidFill>
                  <a:srgbClr val="2BA4D4"/>
                </a:solidFill>
                <a:latin typeface="Calibri"/>
                <a:ea typeface="Calibri"/>
                <a:cs typeface="Calibri"/>
                <a:sym typeface="Calibri"/>
              </a:rPr>
              <a:t>A public-key cryptosystem based on Diffie-Hellman</a:t>
            </a:r>
            <a:endParaRPr sz="1600" b="0" i="0" u="none" strike="noStrike" cap="none">
              <a:solidFill>
                <a:schemeClr val="dk1"/>
              </a:solidFill>
              <a:latin typeface="Calibri"/>
              <a:ea typeface="Calibri"/>
              <a:cs typeface="Calibri"/>
              <a:sym typeface="Calibri"/>
            </a:endParaRPr>
          </a:p>
        </p:txBody>
      </p:sp>
      <p:sp>
        <p:nvSpPr>
          <p:cNvPr id="311" name="Google Shape;311;p19"/>
          <p:cNvSpPr/>
          <p:nvPr/>
        </p:nvSpPr>
        <p:spPr>
          <a:xfrm>
            <a:off x="914400" y="4206240"/>
            <a:ext cx="22860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19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317"/>
        <p:cNvGrpSpPr/>
        <p:nvPr/>
      </p:nvGrpSpPr>
      <p:grpSpPr>
        <a:xfrm>
          <a:off x="0" y="0"/>
          <a:ext cx="0" cy="0"/>
          <a:chOff x="0" y="0"/>
          <a:chExt cx="0" cy="0"/>
        </a:xfrm>
      </p:grpSpPr>
      <p:sp>
        <p:nvSpPr>
          <p:cNvPr id="318" name="Google Shape;318;p20"/>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0"/>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4: ElGamal Encryption</a:t>
            </a:r>
            <a:endParaRPr sz="900" b="0" i="0" u="none" strike="noStrike" cap="none">
              <a:solidFill>
                <a:schemeClr val="dk1"/>
              </a:solidFill>
              <a:latin typeface="Calibri"/>
              <a:ea typeface="Calibri"/>
              <a:cs typeface="Calibri"/>
              <a:sym typeface="Calibri"/>
            </a:endParaRPr>
          </a:p>
        </p:txBody>
      </p:sp>
      <p:sp>
        <p:nvSpPr>
          <p:cNvPr id="320" name="Google Shape;320;p20"/>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20</a:t>
            </a:r>
            <a:endParaRPr sz="1000" b="0" i="0" u="none" strike="noStrike" cap="none">
              <a:solidFill>
                <a:schemeClr val="dk1"/>
              </a:solidFill>
              <a:latin typeface="Calibri"/>
              <a:ea typeface="Calibri"/>
              <a:cs typeface="Calibri"/>
              <a:sym typeface="Calibri"/>
            </a:endParaRPr>
          </a:p>
        </p:txBody>
      </p:sp>
      <p:sp>
        <p:nvSpPr>
          <p:cNvPr id="321" name="Google Shape;321;p20"/>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ElGamal Key Generation</a:t>
            </a:r>
            <a:endParaRPr sz="2400" b="0" i="0" u="none" strike="noStrike" cap="none">
              <a:solidFill>
                <a:schemeClr val="dk1"/>
              </a:solidFill>
              <a:latin typeface="Calibri"/>
              <a:ea typeface="Calibri"/>
              <a:cs typeface="Calibri"/>
              <a:sym typeface="Calibri"/>
            </a:endParaRPr>
          </a:p>
        </p:txBody>
      </p:sp>
      <p:sp>
        <p:nvSpPr>
          <p:cNvPr id="322" name="Google Shape;322;p20"/>
          <p:cNvSpPr/>
          <p:nvPr/>
        </p:nvSpPr>
        <p:spPr>
          <a:xfrm>
            <a:off x="548640" y="1097280"/>
            <a:ext cx="8046720" cy="237744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0"/>
          <p:cNvSpPr/>
          <p:nvPr/>
        </p:nvSpPr>
        <p:spPr>
          <a:xfrm>
            <a:off x="777240" y="1280160"/>
            <a:ext cx="365760" cy="365760"/>
          </a:xfrm>
          <a:prstGeom prst="ellipse">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0"/>
          <p:cNvSpPr/>
          <p:nvPr/>
        </p:nvSpPr>
        <p:spPr>
          <a:xfrm>
            <a:off x="777240" y="1280160"/>
            <a:ext cx="36576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25" name="Google Shape;325;p20"/>
          <p:cNvSpPr/>
          <p:nvPr/>
        </p:nvSpPr>
        <p:spPr>
          <a:xfrm>
            <a:off x="1325880" y="1234440"/>
            <a:ext cx="7040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Calibri"/>
              <a:buNone/>
            </a:pPr>
            <a:r>
              <a:rPr lang="en-US" sz="1500" b="0" i="0" u="none" strike="noStrike" cap="none">
                <a:solidFill>
                  <a:srgbClr val="1E293B"/>
                </a:solidFill>
                <a:latin typeface="Calibri"/>
                <a:ea typeface="Calibri"/>
                <a:cs typeface="Calibri"/>
                <a:sym typeface="Calibri"/>
              </a:rPr>
              <a:t>Choose large prime p and generator g of Z*_p</a:t>
            </a:r>
            <a:endParaRPr sz="1500" b="0" i="0" u="none" strike="noStrike" cap="none">
              <a:solidFill>
                <a:schemeClr val="dk1"/>
              </a:solidFill>
              <a:latin typeface="Calibri"/>
              <a:ea typeface="Calibri"/>
              <a:cs typeface="Calibri"/>
              <a:sym typeface="Calibri"/>
            </a:endParaRPr>
          </a:p>
        </p:txBody>
      </p:sp>
      <p:sp>
        <p:nvSpPr>
          <p:cNvPr id="326" name="Google Shape;326;p20"/>
          <p:cNvSpPr/>
          <p:nvPr/>
        </p:nvSpPr>
        <p:spPr>
          <a:xfrm>
            <a:off x="777240" y="1874520"/>
            <a:ext cx="365760" cy="365760"/>
          </a:xfrm>
          <a:prstGeom prst="ellipse">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0"/>
          <p:cNvSpPr/>
          <p:nvPr/>
        </p:nvSpPr>
        <p:spPr>
          <a:xfrm>
            <a:off x="777240" y="1874520"/>
            <a:ext cx="36576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328" name="Google Shape;328;p20"/>
          <p:cNvSpPr/>
          <p:nvPr/>
        </p:nvSpPr>
        <p:spPr>
          <a:xfrm>
            <a:off x="1325880" y="1828800"/>
            <a:ext cx="7040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Calibri"/>
              <a:buNone/>
            </a:pPr>
            <a:r>
              <a:rPr lang="en-US" sz="1500" b="0" i="0" u="none" strike="noStrike" cap="none">
                <a:solidFill>
                  <a:srgbClr val="1E293B"/>
                </a:solidFill>
                <a:latin typeface="Calibri"/>
                <a:ea typeface="Calibri"/>
                <a:cs typeface="Calibri"/>
                <a:sym typeface="Calibri"/>
              </a:rPr>
              <a:t>Choose random private key x  (1 &lt; x &lt; p−1)</a:t>
            </a:r>
            <a:endParaRPr sz="1500" b="0" i="0" u="none" strike="noStrike" cap="none">
              <a:solidFill>
                <a:schemeClr val="dk1"/>
              </a:solidFill>
              <a:latin typeface="Calibri"/>
              <a:ea typeface="Calibri"/>
              <a:cs typeface="Calibri"/>
              <a:sym typeface="Calibri"/>
            </a:endParaRPr>
          </a:p>
        </p:txBody>
      </p:sp>
      <p:sp>
        <p:nvSpPr>
          <p:cNvPr id="329" name="Google Shape;329;p20"/>
          <p:cNvSpPr/>
          <p:nvPr/>
        </p:nvSpPr>
        <p:spPr>
          <a:xfrm>
            <a:off x="777240" y="2468880"/>
            <a:ext cx="365760" cy="365760"/>
          </a:xfrm>
          <a:prstGeom prst="ellipse">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0"/>
          <p:cNvSpPr/>
          <p:nvPr/>
        </p:nvSpPr>
        <p:spPr>
          <a:xfrm>
            <a:off x="777240" y="2468880"/>
            <a:ext cx="36576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331" name="Google Shape;331;p20"/>
          <p:cNvSpPr/>
          <p:nvPr/>
        </p:nvSpPr>
        <p:spPr>
          <a:xfrm>
            <a:off x="1325880" y="2423160"/>
            <a:ext cx="7040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Calibri"/>
              <a:buNone/>
            </a:pPr>
            <a:r>
              <a:rPr lang="en-US" sz="1500" b="0" i="0" u="none" strike="noStrike" cap="none">
                <a:solidFill>
                  <a:srgbClr val="1E293B"/>
                </a:solidFill>
                <a:latin typeface="Calibri"/>
                <a:ea typeface="Calibri"/>
                <a:cs typeface="Calibri"/>
                <a:sym typeface="Calibri"/>
              </a:rPr>
              <a:t>Compute public key y = g^x mod p</a:t>
            </a:r>
            <a:endParaRPr sz="1500" b="0" i="0" u="none" strike="noStrike" cap="none">
              <a:solidFill>
                <a:schemeClr val="dk1"/>
              </a:solidFill>
              <a:latin typeface="Calibri"/>
              <a:ea typeface="Calibri"/>
              <a:cs typeface="Calibri"/>
              <a:sym typeface="Calibri"/>
            </a:endParaRPr>
          </a:p>
        </p:txBody>
      </p:sp>
      <p:sp>
        <p:nvSpPr>
          <p:cNvPr id="332" name="Google Shape;332;p20"/>
          <p:cNvSpPr/>
          <p:nvPr/>
        </p:nvSpPr>
        <p:spPr>
          <a:xfrm>
            <a:off x="548640" y="3749040"/>
            <a:ext cx="3749040" cy="731520"/>
          </a:xfrm>
          <a:prstGeom prst="rect">
            <a:avLst/>
          </a:prstGeom>
          <a:solidFill>
            <a:srgbClr val="ECF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0"/>
          <p:cNvSpPr/>
          <p:nvPr/>
        </p:nvSpPr>
        <p:spPr>
          <a:xfrm>
            <a:off x="548640" y="3749040"/>
            <a:ext cx="3749040" cy="7315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0B981"/>
              </a:buClr>
              <a:buSzPts val="1300"/>
              <a:buFont typeface="Calibri"/>
              <a:buNone/>
            </a:pPr>
            <a:r>
              <a:rPr lang="en-US" sz="1300" b="1" i="0" u="none" strike="noStrike" cap="none">
                <a:solidFill>
                  <a:srgbClr val="10B981"/>
                </a:solidFill>
                <a:latin typeface="Calibri"/>
                <a:ea typeface="Calibri"/>
                <a:cs typeface="Calibri"/>
                <a:sym typeface="Calibri"/>
              </a:rPr>
              <a:t>Public Key</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1E293B"/>
              </a:buClr>
              <a:buSzPts val="1600"/>
              <a:buFont typeface="Consolas"/>
              <a:buNone/>
            </a:pPr>
            <a:r>
              <a:rPr lang="en-US" sz="1600" b="1" i="0" u="none" strike="noStrike" cap="none">
                <a:solidFill>
                  <a:srgbClr val="1E293B"/>
                </a:solidFill>
                <a:latin typeface="Consolas"/>
                <a:ea typeface="Consolas"/>
                <a:cs typeface="Consolas"/>
                <a:sym typeface="Consolas"/>
              </a:rPr>
              <a:t>(p, g, y)</a:t>
            </a:r>
            <a:endParaRPr sz="1300" b="0" i="0" u="none" strike="noStrike" cap="none">
              <a:solidFill>
                <a:schemeClr val="dk1"/>
              </a:solidFill>
              <a:latin typeface="Calibri"/>
              <a:ea typeface="Calibri"/>
              <a:cs typeface="Calibri"/>
              <a:sym typeface="Calibri"/>
            </a:endParaRPr>
          </a:p>
        </p:txBody>
      </p:sp>
      <p:sp>
        <p:nvSpPr>
          <p:cNvPr id="334" name="Google Shape;334;p20"/>
          <p:cNvSpPr/>
          <p:nvPr/>
        </p:nvSpPr>
        <p:spPr>
          <a:xfrm>
            <a:off x="4846320" y="3749040"/>
            <a:ext cx="3749040" cy="73152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0"/>
          <p:cNvSpPr/>
          <p:nvPr/>
        </p:nvSpPr>
        <p:spPr>
          <a:xfrm>
            <a:off x="4846320" y="3749040"/>
            <a:ext cx="3749040" cy="7315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F4444"/>
              </a:buClr>
              <a:buSzPts val="1300"/>
              <a:buFont typeface="Calibri"/>
              <a:buNone/>
            </a:pPr>
            <a:r>
              <a:rPr lang="en-US" sz="1300" b="1" i="0" u="none" strike="noStrike" cap="none">
                <a:solidFill>
                  <a:srgbClr val="EF4444"/>
                </a:solidFill>
                <a:latin typeface="Calibri"/>
                <a:ea typeface="Calibri"/>
                <a:cs typeface="Calibri"/>
                <a:sym typeface="Calibri"/>
              </a:rPr>
              <a:t>Private Key</a:t>
            </a:r>
            <a:endParaRPr sz="13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1E293B"/>
              </a:buClr>
              <a:buSzPts val="1600"/>
              <a:buFont typeface="Consolas"/>
              <a:buNone/>
            </a:pPr>
            <a:r>
              <a:rPr lang="en-US" sz="1600" b="1" i="0" u="none" strike="noStrike" cap="none">
                <a:solidFill>
                  <a:srgbClr val="1E293B"/>
                </a:solidFill>
                <a:latin typeface="Consolas"/>
                <a:ea typeface="Consolas"/>
                <a:cs typeface="Consolas"/>
                <a:sym typeface="Consolas"/>
              </a:rPr>
              <a:t>x</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340"/>
        <p:cNvGrpSpPr/>
        <p:nvPr/>
      </p:nvGrpSpPr>
      <p:grpSpPr>
        <a:xfrm>
          <a:off x="0" y="0"/>
          <a:ext cx="0" cy="0"/>
          <a:chOff x="0" y="0"/>
          <a:chExt cx="0" cy="0"/>
        </a:xfrm>
      </p:grpSpPr>
      <p:sp>
        <p:nvSpPr>
          <p:cNvPr id="341" name="Google Shape;341;p21"/>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1"/>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4: ElGamal Encryption</a:t>
            </a:r>
            <a:endParaRPr sz="900" b="0" i="0" u="none" strike="noStrike" cap="none">
              <a:solidFill>
                <a:schemeClr val="dk1"/>
              </a:solidFill>
              <a:latin typeface="Calibri"/>
              <a:ea typeface="Calibri"/>
              <a:cs typeface="Calibri"/>
              <a:sym typeface="Calibri"/>
            </a:endParaRPr>
          </a:p>
        </p:txBody>
      </p:sp>
      <p:sp>
        <p:nvSpPr>
          <p:cNvPr id="343" name="Google Shape;343;p21"/>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21</a:t>
            </a:r>
            <a:endParaRPr sz="1000" b="0" i="0" u="none" strike="noStrike" cap="none">
              <a:solidFill>
                <a:schemeClr val="dk1"/>
              </a:solidFill>
              <a:latin typeface="Calibri"/>
              <a:ea typeface="Calibri"/>
              <a:cs typeface="Calibri"/>
              <a:sym typeface="Calibri"/>
            </a:endParaRPr>
          </a:p>
        </p:txBody>
      </p:sp>
      <p:sp>
        <p:nvSpPr>
          <p:cNvPr id="344" name="Google Shape;344;p21"/>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ElGamal Encryption &amp; Decryption</a:t>
            </a:r>
            <a:endParaRPr sz="2400" b="0" i="0" u="none" strike="noStrike" cap="none">
              <a:solidFill>
                <a:schemeClr val="dk1"/>
              </a:solidFill>
              <a:latin typeface="Calibri"/>
              <a:ea typeface="Calibri"/>
              <a:cs typeface="Calibri"/>
              <a:sym typeface="Calibri"/>
            </a:endParaRPr>
          </a:p>
        </p:txBody>
      </p:sp>
      <p:sp>
        <p:nvSpPr>
          <p:cNvPr id="345" name="Google Shape;345;p21"/>
          <p:cNvSpPr/>
          <p:nvPr/>
        </p:nvSpPr>
        <p:spPr>
          <a:xfrm>
            <a:off x="548640" y="1097280"/>
            <a:ext cx="3886200" cy="292608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1"/>
          <p:cNvSpPr/>
          <p:nvPr/>
        </p:nvSpPr>
        <p:spPr>
          <a:xfrm>
            <a:off x="548640" y="1097280"/>
            <a:ext cx="3886200" cy="3657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1"/>
          <p:cNvSpPr/>
          <p:nvPr/>
        </p:nvSpPr>
        <p:spPr>
          <a:xfrm>
            <a:off x="640080" y="1115568"/>
            <a:ext cx="36576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B7FA6"/>
              </a:buClr>
              <a:buSzPts val="1200"/>
              <a:buFont typeface="Georgia"/>
              <a:buNone/>
            </a:pPr>
            <a:r>
              <a:rPr lang="en-US" sz="1200" b="1" i="0" u="none" strike="noStrike" cap="none">
                <a:solidFill>
                  <a:srgbClr val="1B7FA6"/>
                </a:solidFill>
                <a:latin typeface="Georgia"/>
                <a:ea typeface="Georgia"/>
                <a:cs typeface="Georgia"/>
                <a:sym typeface="Georgia"/>
              </a:rPr>
              <a:t>Encryption (message M, 1 ≤ M &lt; p)</a:t>
            </a:r>
            <a:endParaRPr sz="1200" b="0" i="0" u="none" strike="noStrike" cap="none">
              <a:solidFill>
                <a:schemeClr val="dk1"/>
              </a:solidFill>
              <a:latin typeface="Calibri"/>
              <a:ea typeface="Calibri"/>
              <a:cs typeface="Calibri"/>
              <a:sym typeface="Calibri"/>
            </a:endParaRPr>
          </a:p>
        </p:txBody>
      </p:sp>
      <p:sp>
        <p:nvSpPr>
          <p:cNvPr id="348" name="Google Shape;348;p21"/>
          <p:cNvSpPr/>
          <p:nvPr/>
        </p:nvSpPr>
        <p:spPr>
          <a:xfrm>
            <a:off x="731520" y="1645920"/>
            <a:ext cx="3520440" cy="21945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1. Choose random k  (1 &lt; k &lt; p−1)</a:t>
            </a:r>
            <a:endParaRPr sz="1200" b="0" i="0" u="none" strike="noStrike" cap="none">
              <a:solidFill>
                <a:schemeClr val="dk1"/>
              </a:solidFill>
              <a:latin typeface="Calibri"/>
              <a:ea typeface="Calibri"/>
              <a:cs typeface="Calibri"/>
              <a:sym typeface="Calibri"/>
            </a:endParaRPr>
          </a:p>
          <a:p>
            <a:pPr marL="0" marR="0" lvl="0" indent="0" algn="l" rtl="0">
              <a:spcBef>
                <a:spcPts val="1000"/>
              </a:spcBef>
              <a:spcAft>
                <a:spcPts val="0"/>
              </a:spcAft>
              <a:buClr>
                <a:srgbClr val="1B7FA6"/>
              </a:buClr>
              <a:buSzPts val="1300"/>
              <a:buFont typeface="Consolas"/>
              <a:buNone/>
            </a:pPr>
            <a:r>
              <a:rPr lang="en-US" sz="1300" b="1" i="0" u="none" strike="noStrike" cap="none">
                <a:solidFill>
                  <a:srgbClr val="1B7FA6"/>
                </a:solidFill>
                <a:latin typeface="Consolas"/>
                <a:ea typeface="Consolas"/>
                <a:cs typeface="Consolas"/>
                <a:sym typeface="Consolas"/>
              </a:rPr>
              <a:t>2. Compute C₁ = g^k mod p</a:t>
            </a:r>
            <a:endParaRPr sz="1200" b="0" i="0" u="none" strike="noStrike" cap="none">
              <a:solidFill>
                <a:schemeClr val="dk1"/>
              </a:solidFill>
              <a:latin typeface="Calibri"/>
              <a:ea typeface="Calibri"/>
              <a:cs typeface="Calibri"/>
              <a:sym typeface="Calibri"/>
            </a:endParaRPr>
          </a:p>
          <a:p>
            <a:pPr marL="0" marR="0" lvl="0" indent="0" algn="l" rtl="0">
              <a:spcBef>
                <a:spcPts val="1000"/>
              </a:spcBef>
              <a:spcAft>
                <a:spcPts val="0"/>
              </a:spcAft>
              <a:buClr>
                <a:srgbClr val="1B7FA6"/>
              </a:buClr>
              <a:buSzPts val="1300"/>
              <a:buFont typeface="Consolas"/>
              <a:buNone/>
            </a:pPr>
            <a:r>
              <a:rPr lang="en-US" sz="1300" b="1" i="0" u="none" strike="noStrike" cap="none">
                <a:solidFill>
                  <a:srgbClr val="1B7FA6"/>
                </a:solidFill>
                <a:latin typeface="Consolas"/>
                <a:ea typeface="Consolas"/>
                <a:cs typeface="Consolas"/>
                <a:sym typeface="Consolas"/>
              </a:rPr>
              <a:t>3. Compute C₂ = M × y^k mod p</a:t>
            </a:r>
            <a:endParaRPr sz="1200" b="0" i="0" u="none" strike="noStrike" cap="none">
              <a:solidFill>
                <a:schemeClr val="dk1"/>
              </a:solidFill>
              <a:latin typeface="Calibri"/>
              <a:ea typeface="Calibri"/>
              <a:cs typeface="Calibri"/>
              <a:sym typeface="Calibri"/>
            </a:endParaRPr>
          </a:p>
          <a:p>
            <a:pPr marL="0" marR="0" lvl="0" indent="0" algn="l" rtl="0">
              <a:spcBef>
                <a:spcPts val="1400"/>
              </a:spcBef>
              <a:spcAft>
                <a:spcPts val="0"/>
              </a:spcAft>
              <a:buClr>
                <a:srgbClr val="1E293B"/>
              </a:buClr>
              <a:buSzPts val="1400"/>
              <a:buFont typeface="Consolas"/>
              <a:buNone/>
            </a:pPr>
            <a:r>
              <a:rPr lang="en-US" sz="1400" b="1" i="0" u="none" strike="noStrike" cap="none">
                <a:solidFill>
                  <a:srgbClr val="1E293B"/>
                </a:solidFill>
                <a:latin typeface="Consolas"/>
                <a:ea typeface="Consolas"/>
                <a:cs typeface="Consolas"/>
                <a:sym typeface="Consolas"/>
              </a:rPr>
              <a:t>Ciphertext: (C₁, C₂)</a:t>
            </a:r>
            <a:endParaRPr sz="1200" b="0" i="0" u="none" strike="noStrike" cap="none">
              <a:solidFill>
                <a:schemeClr val="dk1"/>
              </a:solidFill>
              <a:latin typeface="Calibri"/>
              <a:ea typeface="Calibri"/>
              <a:cs typeface="Calibri"/>
              <a:sym typeface="Calibri"/>
            </a:endParaRPr>
          </a:p>
        </p:txBody>
      </p:sp>
      <p:sp>
        <p:nvSpPr>
          <p:cNvPr id="349" name="Google Shape;349;p21"/>
          <p:cNvSpPr/>
          <p:nvPr/>
        </p:nvSpPr>
        <p:spPr>
          <a:xfrm>
            <a:off x="4709160" y="1097280"/>
            <a:ext cx="3886200" cy="292608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1"/>
          <p:cNvSpPr/>
          <p:nvPr/>
        </p:nvSpPr>
        <p:spPr>
          <a:xfrm>
            <a:off x="4709160" y="1097280"/>
            <a:ext cx="3886200" cy="365760"/>
          </a:xfrm>
          <a:prstGeom prst="rect">
            <a:avLst/>
          </a:prstGeom>
          <a:solidFill>
            <a:srgbClr val="FEF3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1"/>
          <p:cNvSpPr/>
          <p:nvPr/>
        </p:nvSpPr>
        <p:spPr>
          <a:xfrm>
            <a:off x="4800600" y="1115568"/>
            <a:ext cx="36576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2400E"/>
              </a:buClr>
              <a:buSzPts val="1200"/>
              <a:buFont typeface="Georgia"/>
              <a:buNone/>
            </a:pPr>
            <a:r>
              <a:rPr lang="en-US" sz="1200" b="1" i="0" u="none" strike="noStrike" cap="none">
                <a:solidFill>
                  <a:srgbClr val="92400E"/>
                </a:solidFill>
                <a:latin typeface="Georgia"/>
                <a:ea typeface="Georgia"/>
                <a:cs typeface="Georgia"/>
                <a:sym typeface="Georgia"/>
              </a:rPr>
              <a:t>Decryption (ciphertext C₁, C₂)</a:t>
            </a:r>
            <a:endParaRPr sz="1200" b="0" i="0" u="none" strike="noStrike" cap="none">
              <a:solidFill>
                <a:schemeClr val="dk1"/>
              </a:solidFill>
              <a:latin typeface="Calibri"/>
              <a:ea typeface="Calibri"/>
              <a:cs typeface="Calibri"/>
              <a:sym typeface="Calibri"/>
            </a:endParaRPr>
          </a:p>
        </p:txBody>
      </p:sp>
      <p:sp>
        <p:nvSpPr>
          <p:cNvPr id="352" name="Google Shape;352;p21"/>
          <p:cNvSpPr/>
          <p:nvPr/>
        </p:nvSpPr>
        <p:spPr>
          <a:xfrm>
            <a:off x="4892040" y="1645920"/>
            <a:ext cx="3520440" cy="21945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92400E"/>
              </a:buClr>
              <a:buSzPts val="1300"/>
              <a:buFont typeface="Consolas"/>
              <a:buNone/>
            </a:pPr>
            <a:r>
              <a:rPr lang="en-US" sz="1300" b="1" i="0" u="none" strike="noStrike" cap="none">
                <a:solidFill>
                  <a:srgbClr val="92400E"/>
                </a:solidFill>
                <a:latin typeface="Consolas"/>
                <a:ea typeface="Consolas"/>
                <a:cs typeface="Consolas"/>
                <a:sym typeface="Consolas"/>
              </a:rPr>
              <a:t>1. Compute s = C₁^x mod p</a:t>
            </a:r>
            <a:endParaRPr sz="13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rgbClr val="64748B"/>
              </a:buClr>
              <a:buSzPts val="1100"/>
              <a:buFont typeface="Consolas"/>
              <a:buNone/>
            </a:pPr>
            <a:r>
              <a:rPr lang="en-US" sz="1100" b="0" i="0" u="none" strike="noStrike" cap="none">
                <a:solidFill>
                  <a:srgbClr val="64748B"/>
                </a:solidFill>
                <a:latin typeface="Consolas"/>
                <a:ea typeface="Consolas"/>
                <a:cs typeface="Consolas"/>
                <a:sym typeface="Consolas"/>
              </a:rPr>
              <a:t>   = (g^k)^x = g^(kx) mod p</a:t>
            </a:r>
            <a:endParaRPr sz="1300" b="0" i="0" u="none" strike="noStrike" cap="none">
              <a:solidFill>
                <a:schemeClr val="dk1"/>
              </a:solidFill>
              <a:latin typeface="Calibri"/>
              <a:ea typeface="Calibri"/>
              <a:cs typeface="Calibri"/>
              <a:sym typeface="Calibri"/>
            </a:endParaRPr>
          </a:p>
          <a:p>
            <a:pPr marL="0" marR="0" lvl="0" indent="0" algn="l" rtl="0">
              <a:spcBef>
                <a:spcPts val="1000"/>
              </a:spcBef>
              <a:spcAft>
                <a:spcPts val="0"/>
              </a:spcAft>
              <a:buClr>
                <a:srgbClr val="92400E"/>
              </a:buClr>
              <a:buSzPts val="1300"/>
              <a:buFont typeface="Consolas"/>
              <a:buNone/>
            </a:pPr>
            <a:r>
              <a:rPr lang="en-US" sz="1300" b="1" i="0" u="none" strike="noStrike" cap="none">
                <a:solidFill>
                  <a:srgbClr val="92400E"/>
                </a:solidFill>
                <a:latin typeface="Consolas"/>
                <a:ea typeface="Consolas"/>
                <a:cs typeface="Consolas"/>
                <a:sym typeface="Consolas"/>
              </a:rPr>
              <a:t>2. Compute s⁻¹ mod p</a:t>
            </a:r>
            <a:endParaRPr sz="1300" b="0" i="0" u="none" strike="noStrike" cap="none">
              <a:solidFill>
                <a:schemeClr val="dk1"/>
              </a:solidFill>
              <a:latin typeface="Calibri"/>
              <a:ea typeface="Calibri"/>
              <a:cs typeface="Calibri"/>
              <a:sym typeface="Calibri"/>
            </a:endParaRPr>
          </a:p>
          <a:p>
            <a:pPr marL="0" marR="0" lvl="0" indent="0" algn="l" rtl="0">
              <a:spcBef>
                <a:spcPts val="1000"/>
              </a:spcBef>
              <a:spcAft>
                <a:spcPts val="0"/>
              </a:spcAft>
              <a:buClr>
                <a:srgbClr val="92400E"/>
              </a:buClr>
              <a:buSzPts val="1300"/>
              <a:buFont typeface="Consolas"/>
              <a:buNone/>
            </a:pPr>
            <a:r>
              <a:rPr lang="en-US" sz="1300" b="1" i="0" u="none" strike="noStrike" cap="none">
                <a:solidFill>
                  <a:srgbClr val="92400E"/>
                </a:solidFill>
                <a:latin typeface="Consolas"/>
                <a:ea typeface="Consolas"/>
                <a:cs typeface="Consolas"/>
                <a:sym typeface="Consolas"/>
              </a:rPr>
              <a:t>3. Recover M = C₂ × s⁻¹ mod p</a:t>
            </a:r>
            <a:endParaRPr sz="1300" b="0" i="0" u="none" strike="noStrike" cap="none">
              <a:solidFill>
                <a:schemeClr val="dk1"/>
              </a:solidFill>
              <a:latin typeface="Calibri"/>
              <a:ea typeface="Calibri"/>
              <a:cs typeface="Calibri"/>
              <a:sym typeface="Calibri"/>
            </a:endParaRPr>
          </a:p>
        </p:txBody>
      </p:sp>
      <p:sp>
        <p:nvSpPr>
          <p:cNvPr id="353" name="Google Shape;353;p21"/>
          <p:cNvSpPr/>
          <p:nvPr/>
        </p:nvSpPr>
        <p:spPr>
          <a:xfrm>
            <a:off x="548640" y="4160520"/>
            <a:ext cx="8046720" cy="640080"/>
          </a:xfrm>
          <a:prstGeom prst="rect">
            <a:avLst/>
          </a:prstGeom>
          <a:solidFill>
            <a:srgbClr val="EFF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1"/>
          <p:cNvSpPr/>
          <p:nvPr/>
        </p:nvSpPr>
        <p:spPr>
          <a:xfrm>
            <a:off x="731520" y="4160520"/>
            <a:ext cx="768096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1300"/>
              <a:buFont typeface="Calibri"/>
              <a:buNone/>
            </a:pPr>
            <a:r>
              <a:rPr lang="en-US" sz="1300" b="1" i="0" u="none" strike="noStrike" cap="none">
                <a:solidFill>
                  <a:srgbClr val="1B7FA6"/>
                </a:solidFill>
                <a:latin typeface="Calibri"/>
                <a:ea typeface="Calibri"/>
                <a:cs typeface="Calibri"/>
                <a:sym typeface="Calibri"/>
              </a:rPr>
              <a:t>Why it works: </a:t>
            </a:r>
            <a:r>
              <a:rPr lang="en-US" sz="1300" b="0" i="0" u="none" strike="noStrike" cap="none">
                <a:solidFill>
                  <a:srgbClr val="1E293B"/>
                </a:solidFill>
                <a:latin typeface="Consolas"/>
                <a:ea typeface="Consolas"/>
                <a:cs typeface="Consolas"/>
                <a:sym typeface="Consolas"/>
              </a:rPr>
              <a:t>C₂ × s⁻¹ = (M × y^k) × (g^(kx))⁻¹ = M</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359"/>
        <p:cNvGrpSpPr/>
        <p:nvPr/>
      </p:nvGrpSpPr>
      <p:grpSpPr>
        <a:xfrm>
          <a:off x="0" y="0"/>
          <a:ext cx="0" cy="0"/>
          <a:chOff x="0" y="0"/>
          <a:chExt cx="0" cy="0"/>
        </a:xfrm>
      </p:grpSpPr>
      <p:sp>
        <p:nvSpPr>
          <p:cNvPr id="360" name="Google Shape;360;p22"/>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2"/>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4: ElGamal Encryption</a:t>
            </a:r>
            <a:endParaRPr sz="900" b="0" i="0" u="none" strike="noStrike" cap="none">
              <a:solidFill>
                <a:schemeClr val="dk1"/>
              </a:solidFill>
              <a:latin typeface="Calibri"/>
              <a:ea typeface="Calibri"/>
              <a:cs typeface="Calibri"/>
              <a:sym typeface="Calibri"/>
            </a:endParaRPr>
          </a:p>
        </p:txBody>
      </p:sp>
      <p:sp>
        <p:nvSpPr>
          <p:cNvPr id="362" name="Google Shape;362;p22"/>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22</a:t>
            </a:r>
            <a:endParaRPr sz="1000" b="0" i="0" u="none" strike="noStrike" cap="none">
              <a:solidFill>
                <a:schemeClr val="dk1"/>
              </a:solidFill>
              <a:latin typeface="Calibri"/>
              <a:ea typeface="Calibri"/>
              <a:cs typeface="Calibri"/>
              <a:sym typeface="Calibri"/>
            </a:endParaRPr>
          </a:p>
        </p:txBody>
      </p:sp>
      <p:sp>
        <p:nvSpPr>
          <p:cNvPr id="363" name="Google Shape;363;p22"/>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Example 4.1: ElGamal — Key Setup &amp; Encryption</a:t>
            </a:r>
            <a:endParaRPr sz="2400" b="0" i="0" u="none" strike="noStrike" cap="none">
              <a:solidFill>
                <a:schemeClr val="dk1"/>
              </a:solidFill>
              <a:latin typeface="Calibri"/>
              <a:ea typeface="Calibri"/>
              <a:cs typeface="Calibri"/>
              <a:sym typeface="Calibri"/>
            </a:endParaRPr>
          </a:p>
        </p:txBody>
      </p:sp>
      <p:sp>
        <p:nvSpPr>
          <p:cNvPr id="364" name="Google Shape;364;p22"/>
          <p:cNvSpPr/>
          <p:nvPr/>
        </p:nvSpPr>
        <p:spPr>
          <a:xfrm>
            <a:off x="548640" y="1005840"/>
            <a:ext cx="8046720" cy="379476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2"/>
          <p:cNvSpPr/>
          <p:nvPr/>
        </p:nvSpPr>
        <p:spPr>
          <a:xfrm>
            <a:off x="548640" y="1005840"/>
            <a:ext cx="54864" cy="379476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2"/>
          <p:cNvSpPr/>
          <p:nvPr/>
        </p:nvSpPr>
        <p:spPr>
          <a:xfrm>
            <a:off x="777240" y="1143000"/>
            <a:ext cx="7589520" cy="35204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50"/>
              <a:buFont typeface="Consolas"/>
              <a:buNone/>
            </a:pPr>
            <a:r>
              <a:rPr lang="en-US" sz="1250" b="1" i="0" u="none" strike="noStrike" cap="none">
                <a:solidFill>
                  <a:srgbClr val="1E293B"/>
                </a:solidFill>
                <a:latin typeface="Consolas"/>
                <a:ea typeface="Consolas"/>
                <a:cs typeface="Consolas"/>
                <a:sym typeface="Consolas"/>
              </a:rPr>
              <a:t>Parameters: p = 23, g = 5</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1" i="0" u="none" strike="noStrike" cap="none">
                <a:solidFill>
                  <a:srgbClr val="1E293B"/>
                </a:solidFill>
                <a:latin typeface="Consolas"/>
                <a:ea typeface="Consolas"/>
                <a:cs typeface="Consolas"/>
                <a:sym typeface="Consolas"/>
              </a:rPr>
              <a:t>Private key: x = 6</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1" i="0" u="none" strike="noStrike" cap="none">
                <a:solidFill>
                  <a:srgbClr val="1E293B"/>
                </a:solidFill>
                <a:latin typeface="Consolas"/>
                <a:ea typeface="Consolas"/>
                <a:cs typeface="Consolas"/>
                <a:sym typeface="Consolas"/>
              </a:rPr>
              <a:t>Public key: y = 5^6 mod 23 = 8</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250"/>
              <a:buFont typeface="Calibri"/>
              <a:buNone/>
            </a:pP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Encrypting message M = 10:</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  Choose random k = 3</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  C₁ = g^k mod p = 5^3 mod 23 = 125 mod 23 = 10</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  C₂ = M × y^k mod p</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     = 10 × 8^3 mod 23</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     = 10 × 512 mod 23</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     = 10 × 6 mod 23      (since 512 mod 23 = 6)</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50"/>
              <a:buFont typeface="Consolas"/>
              <a:buNone/>
            </a:pPr>
            <a:r>
              <a:rPr lang="en-US" sz="1250" b="0" i="0" u="none" strike="noStrike" cap="none">
                <a:solidFill>
                  <a:srgbClr val="1E293B"/>
                </a:solidFill>
                <a:latin typeface="Consolas"/>
                <a:ea typeface="Consolas"/>
                <a:cs typeface="Consolas"/>
                <a:sym typeface="Consolas"/>
              </a:rPr>
              <a:t>     = 60 mod 23 = 14</a:t>
            </a: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250"/>
              <a:buFont typeface="Calibri"/>
              <a:buNone/>
            </a:pPr>
            <a:endParaRPr sz="125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47857"/>
              </a:buClr>
              <a:buSzPts val="1250"/>
              <a:buFont typeface="Consolas"/>
              <a:buNone/>
            </a:pPr>
            <a:r>
              <a:rPr lang="en-US" sz="1250" b="0" i="0" u="none" strike="noStrike" cap="none">
                <a:solidFill>
                  <a:srgbClr val="047857"/>
                </a:solidFill>
                <a:latin typeface="Consolas"/>
                <a:ea typeface="Consolas"/>
                <a:cs typeface="Consolas"/>
                <a:sym typeface="Consolas"/>
              </a:rPr>
              <a:t>→ Ciphertext: (C₁, C₂) = (10, 14)</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371"/>
        <p:cNvGrpSpPr/>
        <p:nvPr/>
      </p:nvGrpSpPr>
      <p:grpSpPr>
        <a:xfrm>
          <a:off x="0" y="0"/>
          <a:ext cx="0" cy="0"/>
          <a:chOff x="0" y="0"/>
          <a:chExt cx="0" cy="0"/>
        </a:xfrm>
      </p:grpSpPr>
      <p:sp>
        <p:nvSpPr>
          <p:cNvPr id="372" name="Google Shape;372;p23"/>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3"/>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4: ElGamal Encryption</a:t>
            </a:r>
            <a:endParaRPr sz="900" b="0" i="0" u="none" strike="noStrike" cap="none">
              <a:solidFill>
                <a:schemeClr val="dk1"/>
              </a:solidFill>
              <a:latin typeface="Calibri"/>
              <a:ea typeface="Calibri"/>
              <a:cs typeface="Calibri"/>
              <a:sym typeface="Calibri"/>
            </a:endParaRPr>
          </a:p>
        </p:txBody>
      </p:sp>
      <p:sp>
        <p:nvSpPr>
          <p:cNvPr id="374" name="Google Shape;374;p23"/>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23</a:t>
            </a:r>
            <a:endParaRPr sz="1000" b="0" i="0" u="none" strike="noStrike" cap="none">
              <a:solidFill>
                <a:schemeClr val="dk1"/>
              </a:solidFill>
              <a:latin typeface="Calibri"/>
              <a:ea typeface="Calibri"/>
              <a:cs typeface="Calibri"/>
              <a:sym typeface="Calibri"/>
            </a:endParaRPr>
          </a:p>
        </p:txBody>
      </p:sp>
      <p:sp>
        <p:nvSpPr>
          <p:cNvPr id="375" name="Google Shape;375;p23"/>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Example 4.1: ElGamal — Decryption</a:t>
            </a:r>
            <a:endParaRPr sz="2400" b="0" i="0" u="none" strike="noStrike" cap="none">
              <a:solidFill>
                <a:schemeClr val="dk1"/>
              </a:solidFill>
              <a:latin typeface="Calibri"/>
              <a:ea typeface="Calibri"/>
              <a:cs typeface="Calibri"/>
              <a:sym typeface="Calibri"/>
            </a:endParaRPr>
          </a:p>
        </p:txBody>
      </p:sp>
      <p:sp>
        <p:nvSpPr>
          <p:cNvPr id="376" name="Google Shape;376;p23"/>
          <p:cNvSpPr/>
          <p:nvPr/>
        </p:nvSpPr>
        <p:spPr>
          <a:xfrm>
            <a:off x="548640" y="1005840"/>
            <a:ext cx="8046720" cy="384048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3"/>
          <p:cNvSpPr/>
          <p:nvPr/>
        </p:nvSpPr>
        <p:spPr>
          <a:xfrm>
            <a:off x="548640" y="1005840"/>
            <a:ext cx="54864" cy="384048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3"/>
          <p:cNvSpPr/>
          <p:nvPr/>
        </p:nvSpPr>
        <p:spPr>
          <a:xfrm>
            <a:off x="777240" y="1143000"/>
            <a:ext cx="7589520" cy="35661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200"/>
              <a:buFont typeface="Consolas"/>
              <a:buNone/>
            </a:pPr>
            <a:r>
              <a:rPr lang="en-US" sz="1200" b="1" i="0" u="none" strike="noStrike" cap="none">
                <a:solidFill>
                  <a:srgbClr val="1E293B"/>
                </a:solidFill>
                <a:latin typeface="Consolas"/>
                <a:ea typeface="Consolas"/>
                <a:cs typeface="Consolas"/>
                <a:sym typeface="Consolas"/>
              </a:rPr>
              <a:t>Ciphertext: (C₁, C₂) = (10, 14)</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1" i="0" u="none" strike="noStrike" cap="none">
                <a:solidFill>
                  <a:srgbClr val="1E293B"/>
                </a:solidFill>
                <a:latin typeface="Consolas"/>
                <a:ea typeface="Consolas"/>
                <a:cs typeface="Consolas"/>
                <a:sym typeface="Consolas"/>
              </a:rPr>
              <a:t>Private key: x = 6</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Step 1: Compute shared secret</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  s = C₁^x mod p = 10^6 mod 23</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    = 1,000,000 mod 23 = 11</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Step 2: Compute modular inverse</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  s⁻¹ = 11⁻¹ mod 23 = 21</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47857"/>
              </a:buClr>
              <a:buSzPts val="1200"/>
              <a:buFont typeface="Consolas"/>
              <a:buNone/>
            </a:pPr>
            <a:r>
              <a:rPr lang="en-US" sz="1200" b="0" i="0" u="none" strike="noStrike" cap="none">
                <a:solidFill>
                  <a:srgbClr val="047857"/>
                </a:solidFill>
                <a:latin typeface="Consolas"/>
                <a:ea typeface="Consolas"/>
                <a:cs typeface="Consolas"/>
                <a:sym typeface="Consolas"/>
              </a:rPr>
              <a:t>  Verify: 11 × 21 = 231 = 10 × 23 + 1 ≡ 1 (mod 23) ✓</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Step 3: Recover message</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  M = C₂ × s⁻¹ mod p = 14 × 21 mod 23</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1E293B"/>
              </a:buClr>
              <a:buSzPts val="1200"/>
              <a:buFont typeface="Consolas"/>
              <a:buNone/>
            </a:pPr>
            <a:r>
              <a:rPr lang="en-US" sz="1200" b="0" i="0" u="none" strike="noStrike" cap="none">
                <a:solidFill>
                  <a:srgbClr val="1E293B"/>
                </a:solidFill>
                <a:latin typeface="Consolas"/>
                <a:ea typeface="Consolas"/>
                <a:cs typeface="Consolas"/>
                <a:sym typeface="Consolas"/>
              </a:rPr>
              <a:t>    = 294 mod 23 = 10</a:t>
            </a: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a:p>
            <a:pPr marL="0" marR="0" lvl="0" indent="0" algn="l" rtl="0">
              <a:spcBef>
                <a:spcPts val="300"/>
              </a:spcBef>
              <a:spcAft>
                <a:spcPts val="0"/>
              </a:spcAft>
              <a:buClr>
                <a:srgbClr val="047857"/>
              </a:buClr>
              <a:buSzPts val="1200"/>
              <a:buFont typeface="Consolas"/>
              <a:buNone/>
            </a:pPr>
            <a:r>
              <a:rPr lang="en-US" sz="1200" b="0" i="0" u="none" strike="noStrike" cap="none">
                <a:solidFill>
                  <a:srgbClr val="047857"/>
                </a:solidFill>
                <a:latin typeface="Consolas"/>
                <a:ea typeface="Consolas"/>
                <a:cs typeface="Consolas"/>
                <a:sym typeface="Consolas"/>
              </a:rPr>
              <a:t>✓ Decrypted message: M = 10  (matches original!)</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383"/>
        <p:cNvGrpSpPr/>
        <p:nvPr/>
      </p:nvGrpSpPr>
      <p:grpSpPr>
        <a:xfrm>
          <a:off x="0" y="0"/>
          <a:ext cx="0" cy="0"/>
          <a:chOff x="0" y="0"/>
          <a:chExt cx="0" cy="0"/>
        </a:xfrm>
      </p:grpSpPr>
      <p:sp>
        <p:nvSpPr>
          <p:cNvPr id="384" name="Google Shape;384;p24"/>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4"/>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4: ElGamal Encryption</a:t>
            </a:r>
            <a:endParaRPr sz="900" b="0" i="0" u="none" strike="noStrike" cap="none">
              <a:solidFill>
                <a:schemeClr val="dk1"/>
              </a:solidFill>
              <a:latin typeface="Calibri"/>
              <a:ea typeface="Calibri"/>
              <a:cs typeface="Calibri"/>
              <a:sym typeface="Calibri"/>
            </a:endParaRPr>
          </a:p>
        </p:txBody>
      </p:sp>
      <p:sp>
        <p:nvSpPr>
          <p:cNvPr id="386" name="Google Shape;386;p24"/>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24</a:t>
            </a:r>
            <a:endParaRPr sz="1000" b="0" i="0" u="none" strike="noStrike" cap="none">
              <a:solidFill>
                <a:schemeClr val="dk1"/>
              </a:solidFill>
              <a:latin typeface="Calibri"/>
              <a:ea typeface="Calibri"/>
              <a:cs typeface="Calibri"/>
              <a:sym typeface="Calibri"/>
            </a:endParaRPr>
          </a:p>
        </p:txBody>
      </p:sp>
      <p:sp>
        <p:nvSpPr>
          <p:cNvPr id="387" name="Google Shape;387;p24"/>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ElGamal Properties</a:t>
            </a:r>
            <a:endParaRPr sz="2400" b="0" i="0" u="none" strike="noStrike" cap="none">
              <a:solidFill>
                <a:schemeClr val="dk1"/>
              </a:solidFill>
              <a:latin typeface="Calibri"/>
              <a:ea typeface="Calibri"/>
              <a:cs typeface="Calibri"/>
              <a:sym typeface="Calibri"/>
            </a:endParaRPr>
          </a:p>
        </p:txBody>
      </p:sp>
      <p:sp>
        <p:nvSpPr>
          <p:cNvPr id="388" name="Google Shape;388;p24"/>
          <p:cNvSpPr/>
          <p:nvPr/>
        </p:nvSpPr>
        <p:spPr>
          <a:xfrm>
            <a:off x="548640" y="1097280"/>
            <a:ext cx="3840480" cy="274320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4"/>
          <p:cNvSpPr/>
          <p:nvPr/>
        </p:nvSpPr>
        <p:spPr>
          <a:xfrm>
            <a:off x="548640" y="1097280"/>
            <a:ext cx="3840480" cy="365760"/>
          </a:xfrm>
          <a:prstGeom prst="rect">
            <a:avLst/>
          </a:prstGeom>
          <a:solidFill>
            <a:srgbClr val="ECF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4"/>
          <p:cNvSpPr/>
          <p:nvPr/>
        </p:nvSpPr>
        <p:spPr>
          <a:xfrm>
            <a:off x="548640" y="1115568"/>
            <a:ext cx="384048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0B981"/>
              </a:buClr>
              <a:buSzPts val="1400"/>
              <a:buFont typeface="Georgia"/>
              <a:buNone/>
            </a:pPr>
            <a:r>
              <a:rPr lang="en-US" sz="1400" b="1" i="0" u="none" strike="noStrike" cap="none">
                <a:solidFill>
                  <a:srgbClr val="10B981"/>
                </a:solidFill>
                <a:latin typeface="Georgia"/>
                <a:ea typeface="Georgia"/>
                <a:cs typeface="Georgia"/>
                <a:sym typeface="Georgia"/>
              </a:rPr>
              <a:t>Advantages</a:t>
            </a:r>
            <a:endParaRPr sz="1400" b="0" i="0" u="none" strike="noStrike" cap="none">
              <a:solidFill>
                <a:schemeClr val="dk1"/>
              </a:solidFill>
              <a:latin typeface="Calibri"/>
              <a:ea typeface="Calibri"/>
              <a:cs typeface="Calibri"/>
              <a:sym typeface="Calibri"/>
            </a:endParaRPr>
          </a:p>
        </p:txBody>
      </p:sp>
      <p:sp>
        <p:nvSpPr>
          <p:cNvPr id="391" name="Google Shape;391;p24"/>
          <p:cNvSpPr/>
          <p:nvPr/>
        </p:nvSpPr>
        <p:spPr>
          <a:xfrm>
            <a:off x="640080" y="1554480"/>
            <a:ext cx="3566160" cy="210312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Probabilistic: same plaintext → different ciphertexts (random k)</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Semantic security (IND-CPA) under DDH assumption</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Can be adapted into a signature scheme</a:t>
            </a:r>
            <a:endParaRPr sz="1300" b="0" i="0" u="none" strike="noStrike" cap="none">
              <a:solidFill>
                <a:schemeClr val="dk1"/>
              </a:solidFill>
              <a:latin typeface="Calibri"/>
              <a:ea typeface="Calibri"/>
              <a:cs typeface="Calibri"/>
              <a:sym typeface="Calibri"/>
            </a:endParaRPr>
          </a:p>
        </p:txBody>
      </p:sp>
      <p:sp>
        <p:nvSpPr>
          <p:cNvPr id="392" name="Google Shape;392;p24"/>
          <p:cNvSpPr/>
          <p:nvPr/>
        </p:nvSpPr>
        <p:spPr>
          <a:xfrm>
            <a:off x="4754880" y="1097280"/>
            <a:ext cx="3840480" cy="274320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4"/>
          <p:cNvSpPr/>
          <p:nvPr/>
        </p:nvSpPr>
        <p:spPr>
          <a:xfrm>
            <a:off x="4754880" y="1097280"/>
            <a:ext cx="3840480" cy="36576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4"/>
          <p:cNvSpPr/>
          <p:nvPr/>
        </p:nvSpPr>
        <p:spPr>
          <a:xfrm>
            <a:off x="4754880" y="1115568"/>
            <a:ext cx="384048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F4444"/>
              </a:buClr>
              <a:buSzPts val="1400"/>
              <a:buFont typeface="Georgia"/>
              <a:buNone/>
            </a:pPr>
            <a:r>
              <a:rPr lang="en-US" sz="1400" b="1" i="0" u="none" strike="noStrike" cap="none">
                <a:solidFill>
                  <a:srgbClr val="EF4444"/>
                </a:solidFill>
                <a:latin typeface="Georgia"/>
                <a:ea typeface="Georgia"/>
                <a:cs typeface="Georgia"/>
                <a:sym typeface="Georgia"/>
              </a:rPr>
              <a:t>Disadvantages</a:t>
            </a:r>
            <a:endParaRPr sz="1400" b="0" i="0" u="none" strike="noStrike" cap="none">
              <a:solidFill>
                <a:schemeClr val="dk1"/>
              </a:solidFill>
              <a:latin typeface="Calibri"/>
              <a:ea typeface="Calibri"/>
              <a:cs typeface="Calibri"/>
              <a:sym typeface="Calibri"/>
            </a:endParaRPr>
          </a:p>
        </p:txBody>
      </p:sp>
      <p:sp>
        <p:nvSpPr>
          <p:cNvPr id="395" name="Google Shape;395;p24"/>
          <p:cNvSpPr/>
          <p:nvPr/>
        </p:nvSpPr>
        <p:spPr>
          <a:xfrm>
            <a:off x="4846320" y="1554480"/>
            <a:ext cx="3566160" cy="210312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Ciphertext expansion: output is 2× message size</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Slower than RSA (similar overhead to DH)</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Requires high-quality randomness for k each time</a:t>
            </a:r>
            <a:endParaRPr sz="1300" b="0" i="0" u="none" strike="noStrike" cap="none">
              <a:solidFill>
                <a:schemeClr val="dk1"/>
              </a:solidFill>
              <a:latin typeface="Calibri"/>
              <a:ea typeface="Calibri"/>
              <a:cs typeface="Calibri"/>
              <a:sym typeface="Calibri"/>
            </a:endParaRPr>
          </a:p>
        </p:txBody>
      </p:sp>
      <p:sp>
        <p:nvSpPr>
          <p:cNvPr id="396" name="Google Shape;396;p24"/>
          <p:cNvSpPr/>
          <p:nvPr/>
        </p:nvSpPr>
        <p:spPr>
          <a:xfrm>
            <a:off x="548640" y="4069080"/>
            <a:ext cx="8046720" cy="640080"/>
          </a:xfrm>
          <a:prstGeom prst="rect">
            <a:avLst/>
          </a:prstGeom>
          <a:solidFill>
            <a:srgbClr val="EFF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4"/>
          <p:cNvSpPr/>
          <p:nvPr/>
        </p:nvSpPr>
        <p:spPr>
          <a:xfrm>
            <a:off x="777240" y="4069080"/>
            <a:ext cx="758952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Probabilistic encryption is a major advantage over RSA (which is deterministic without padding). Same message encrypted twice with ElGamal yields different ciphertexts — essential for semantic security.</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402"/>
        <p:cNvGrpSpPr/>
        <p:nvPr/>
      </p:nvGrpSpPr>
      <p:grpSpPr>
        <a:xfrm>
          <a:off x="0" y="0"/>
          <a:ext cx="0" cy="0"/>
          <a:chOff x="0" y="0"/>
          <a:chExt cx="0" cy="0"/>
        </a:xfrm>
      </p:grpSpPr>
      <p:sp>
        <p:nvSpPr>
          <p:cNvPr id="403" name="Google Shape;403;p25"/>
          <p:cNvSpPr/>
          <p:nvPr/>
        </p:nvSpPr>
        <p:spPr>
          <a:xfrm>
            <a:off x="731520" y="914400"/>
            <a:ext cx="1828800" cy="228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9600"/>
              <a:buFont typeface="Georgia"/>
              <a:buNone/>
            </a:pPr>
            <a:r>
              <a:rPr lang="en-US" sz="9600" b="1" i="0" u="none" strike="noStrike" cap="none">
                <a:solidFill>
                  <a:srgbClr val="1B7FA6"/>
                </a:solidFill>
                <a:latin typeface="Georgia"/>
                <a:ea typeface="Georgia"/>
                <a:cs typeface="Georgia"/>
                <a:sym typeface="Georgia"/>
              </a:rPr>
              <a:t>05</a:t>
            </a:r>
            <a:endParaRPr sz="9600" b="0" i="0" u="none" strike="noStrike" cap="none">
              <a:solidFill>
                <a:schemeClr val="dk1"/>
              </a:solidFill>
              <a:latin typeface="Calibri"/>
              <a:ea typeface="Calibri"/>
              <a:cs typeface="Calibri"/>
              <a:sym typeface="Calibri"/>
            </a:endParaRPr>
          </a:p>
        </p:txBody>
      </p:sp>
      <p:sp>
        <p:nvSpPr>
          <p:cNvPr id="404" name="Google Shape;404;p25"/>
          <p:cNvSpPr/>
          <p:nvPr/>
        </p:nvSpPr>
        <p:spPr>
          <a:xfrm>
            <a:off x="914400" y="1828800"/>
            <a:ext cx="731520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i="0" u="none" strike="noStrike" cap="none">
                <a:solidFill>
                  <a:srgbClr val="FFFFFF"/>
                </a:solidFill>
                <a:latin typeface="Georgia"/>
                <a:ea typeface="Georgia"/>
                <a:cs typeface="Georgia"/>
                <a:sym typeface="Georgia"/>
              </a:rPr>
              <a:t>ElGamal &amp; DSA Signatures</a:t>
            </a:r>
            <a:endParaRPr sz="3600" b="0" i="0" u="none" strike="noStrike" cap="none">
              <a:solidFill>
                <a:schemeClr val="dk1"/>
              </a:solidFill>
              <a:latin typeface="Calibri"/>
              <a:ea typeface="Calibri"/>
              <a:cs typeface="Calibri"/>
              <a:sym typeface="Calibri"/>
            </a:endParaRPr>
          </a:p>
        </p:txBody>
      </p:sp>
      <p:sp>
        <p:nvSpPr>
          <p:cNvPr id="405" name="Google Shape;405;p25"/>
          <p:cNvSpPr/>
          <p:nvPr/>
        </p:nvSpPr>
        <p:spPr>
          <a:xfrm>
            <a:off x="914400" y="292608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600"/>
              <a:buFont typeface="Calibri"/>
              <a:buNone/>
            </a:pPr>
            <a:r>
              <a:rPr lang="en-US" sz="1600" b="0" i="0" u="none" strike="noStrike" cap="none">
                <a:solidFill>
                  <a:srgbClr val="2BA4D4"/>
                </a:solidFill>
                <a:latin typeface="Calibri"/>
                <a:ea typeface="Calibri"/>
                <a:cs typeface="Calibri"/>
                <a:sym typeface="Calibri"/>
              </a:rPr>
              <a:t>Digital signatures based on the discrete logarithm problem</a:t>
            </a:r>
            <a:endParaRPr sz="1600" b="0" i="0" u="none" strike="noStrike" cap="none">
              <a:solidFill>
                <a:schemeClr val="dk1"/>
              </a:solidFill>
              <a:latin typeface="Calibri"/>
              <a:ea typeface="Calibri"/>
              <a:cs typeface="Calibri"/>
              <a:sym typeface="Calibri"/>
            </a:endParaRPr>
          </a:p>
        </p:txBody>
      </p:sp>
      <p:sp>
        <p:nvSpPr>
          <p:cNvPr id="406" name="Google Shape;406;p25"/>
          <p:cNvSpPr/>
          <p:nvPr/>
        </p:nvSpPr>
        <p:spPr>
          <a:xfrm>
            <a:off x="914400" y="4206240"/>
            <a:ext cx="22860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5"/>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25</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412"/>
        <p:cNvGrpSpPr/>
        <p:nvPr/>
      </p:nvGrpSpPr>
      <p:grpSpPr>
        <a:xfrm>
          <a:off x="0" y="0"/>
          <a:ext cx="0" cy="0"/>
          <a:chOff x="0" y="0"/>
          <a:chExt cx="0" cy="0"/>
        </a:xfrm>
      </p:grpSpPr>
      <p:sp>
        <p:nvSpPr>
          <p:cNvPr id="413" name="Google Shape;413;p26"/>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6"/>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5: ElGamal &amp; DSA Signatures</a:t>
            </a:r>
            <a:endParaRPr sz="900" b="0" i="0" u="none" strike="noStrike" cap="none">
              <a:solidFill>
                <a:schemeClr val="dk1"/>
              </a:solidFill>
              <a:latin typeface="Calibri"/>
              <a:ea typeface="Calibri"/>
              <a:cs typeface="Calibri"/>
              <a:sym typeface="Calibri"/>
            </a:endParaRPr>
          </a:p>
        </p:txBody>
      </p:sp>
      <p:sp>
        <p:nvSpPr>
          <p:cNvPr id="415" name="Google Shape;415;p26"/>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26</a:t>
            </a:r>
            <a:endParaRPr sz="1000" b="0" i="0" u="none" strike="noStrike" cap="none">
              <a:solidFill>
                <a:schemeClr val="dk1"/>
              </a:solidFill>
              <a:latin typeface="Calibri"/>
              <a:ea typeface="Calibri"/>
              <a:cs typeface="Calibri"/>
              <a:sym typeface="Calibri"/>
            </a:endParaRPr>
          </a:p>
        </p:txBody>
      </p:sp>
      <p:sp>
        <p:nvSpPr>
          <p:cNvPr id="416" name="Google Shape;416;p26"/>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ElGamal Signature Scheme</a:t>
            </a:r>
            <a:endParaRPr sz="2400" b="0" i="0" u="none" strike="noStrike" cap="none">
              <a:solidFill>
                <a:schemeClr val="dk1"/>
              </a:solidFill>
              <a:latin typeface="Calibri"/>
              <a:ea typeface="Calibri"/>
              <a:cs typeface="Calibri"/>
              <a:sym typeface="Calibri"/>
            </a:endParaRPr>
          </a:p>
        </p:txBody>
      </p:sp>
      <p:sp>
        <p:nvSpPr>
          <p:cNvPr id="417" name="Google Shape;417;p26"/>
          <p:cNvSpPr/>
          <p:nvPr/>
        </p:nvSpPr>
        <p:spPr>
          <a:xfrm>
            <a:off x="548640" y="1097280"/>
            <a:ext cx="3886200" cy="256032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6"/>
          <p:cNvSpPr/>
          <p:nvPr/>
        </p:nvSpPr>
        <p:spPr>
          <a:xfrm>
            <a:off x="548640" y="1097280"/>
            <a:ext cx="3886200" cy="365760"/>
          </a:xfrm>
          <a:prstGeom prst="rect">
            <a:avLst/>
          </a:prstGeom>
          <a:solidFill>
            <a:srgbClr val="DBEA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6"/>
          <p:cNvSpPr/>
          <p:nvPr/>
        </p:nvSpPr>
        <p:spPr>
          <a:xfrm>
            <a:off x="548640" y="1115568"/>
            <a:ext cx="38862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B7FA6"/>
              </a:buClr>
              <a:buSzPts val="1300"/>
              <a:buFont typeface="Georgia"/>
              <a:buNone/>
            </a:pPr>
            <a:r>
              <a:rPr lang="en-US" sz="1300" b="1" i="0" u="none" strike="noStrike" cap="none">
                <a:solidFill>
                  <a:srgbClr val="1B7FA6"/>
                </a:solidFill>
                <a:latin typeface="Georgia"/>
                <a:ea typeface="Georgia"/>
                <a:cs typeface="Georgia"/>
                <a:sym typeface="Georgia"/>
              </a:rPr>
              <a:t>Signing Message M</a:t>
            </a:r>
            <a:endParaRPr sz="1300" b="0" i="0" u="none" strike="noStrike" cap="none">
              <a:solidFill>
                <a:schemeClr val="dk1"/>
              </a:solidFill>
              <a:latin typeface="Calibri"/>
              <a:ea typeface="Calibri"/>
              <a:cs typeface="Calibri"/>
              <a:sym typeface="Calibri"/>
            </a:endParaRPr>
          </a:p>
        </p:txBody>
      </p:sp>
      <p:sp>
        <p:nvSpPr>
          <p:cNvPr id="420" name="Google Shape;420;p26"/>
          <p:cNvSpPr/>
          <p:nvPr/>
        </p:nvSpPr>
        <p:spPr>
          <a:xfrm>
            <a:off x="731520" y="1554480"/>
            <a:ext cx="3520440" cy="19202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1. Choose random k with</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B7FA6"/>
              </a:buClr>
              <a:buSzPts val="1300"/>
              <a:buFont typeface="Consolas"/>
              <a:buNone/>
            </a:pPr>
            <a:r>
              <a:rPr lang="en-US" sz="1300" b="1" i="0" u="none" strike="noStrike" cap="none">
                <a:solidFill>
                  <a:srgbClr val="1B7FA6"/>
                </a:solidFill>
                <a:latin typeface="Consolas"/>
                <a:ea typeface="Consolas"/>
                <a:cs typeface="Consolas"/>
                <a:sym typeface="Consolas"/>
              </a:rPr>
              <a:t>   gcd(k, p−1) = 1</a:t>
            </a:r>
            <a:endParaRPr sz="13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rgbClr val="1B7FA6"/>
              </a:buClr>
              <a:buSzPts val="1300"/>
              <a:buFont typeface="Consolas"/>
              <a:buNone/>
            </a:pPr>
            <a:r>
              <a:rPr lang="en-US" sz="1300" b="1" i="0" u="none" strike="noStrike" cap="none">
                <a:solidFill>
                  <a:srgbClr val="1B7FA6"/>
                </a:solidFill>
                <a:latin typeface="Consolas"/>
                <a:ea typeface="Consolas"/>
                <a:cs typeface="Consolas"/>
                <a:sym typeface="Consolas"/>
              </a:rPr>
              <a:t>2. r = g^k mod p</a:t>
            </a:r>
            <a:endParaRPr sz="1300" b="0" i="0" u="none" strike="noStrike" cap="none">
              <a:solidFill>
                <a:schemeClr val="dk1"/>
              </a:solidFill>
              <a:latin typeface="Calibri"/>
              <a:ea typeface="Calibri"/>
              <a:cs typeface="Calibri"/>
              <a:sym typeface="Calibri"/>
            </a:endParaRPr>
          </a:p>
          <a:p>
            <a:pPr marL="0" marR="0" lvl="0" indent="0" algn="l" rtl="0">
              <a:spcBef>
                <a:spcPts val="600"/>
              </a:spcBef>
              <a:spcAft>
                <a:spcPts val="0"/>
              </a:spcAft>
              <a:buClr>
                <a:srgbClr val="1B7FA6"/>
              </a:buClr>
              <a:buSzPts val="1300"/>
              <a:buFont typeface="Consolas"/>
              <a:buNone/>
            </a:pPr>
            <a:r>
              <a:rPr lang="en-US" sz="1300" b="1" i="0" u="none" strike="noStrike" cap="none">
                <a:solidFill>
                  <a:srgbClr val="1B7FA6"/>
                </a:solidFill>
                <a:latin typeface="Consolas"/>
                <a:ea typeface="Consolas"/>
                <a:cs typeface="Consolas"/>
                <a:sym typeface="Consolas"/>
              </a:rPr>
              <a:t>3. s = (H(M) − xr) × k⁻¹</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1B7FA6"/>
              </a:buClr>
              <a:buSzPts val="1300"/>
              <a:buFont typeface="Consolas"/>
              <a:buNone/>
            </a:pPr>
            <a:r>
              <a:rPr lang="en-US" sz="1300" b="1" i="0" u="none" strike="noStrike" cap="none">
                <a:solidFill>
                  <a:srgbClr val="1B7FA6"/>
                </a:solidFill>
                <a:latin typeface="Consolas"/>
                <a:ea typeface="Consolas"/>
                <a:cs typeface="Consolas"/>
                <a:sym typeface="Consolas"/>
              </a:rPr>
              <a:t>         mod (p−1)</a:t>
            </a:r>
            <a:endParaRPr sz="13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400"/>
              <a:buFont typeface="Consolas"/>
              <a:buNone/>
            </a:pPr>
            <a:r>
              <a:rPr lang="en-US" sz="1400" b="1" i="0" u="none" strike="noStrike" cap="none">
                <a:solidFill>
                  <a:srgbClr val="1E293B"/>
                </a:solidFill>
                <a:latin typeface="Consolas"/>
                <a:ea typeface="Consolas"/>
                <a:cs typeface="Consolas"/>
                <a:sym typeface="Consolas"/>
              </a:rPr>
              <a:t>Signature: (r, s)</a:t>
            </a:r>
            <a:endParaRPr sz="1300" b="0" i="0" u="none" strike="noStrike" cap="none">
              <a:solidFill>
                <a:schemeClr val="dk1"/>
              </a:solidFill>
              <a:latin typeface="Calibri"/>
              <a:ea typeface="Calibri"/>
              <a:cs typeface="Calibri"/>
              <a:sym typeface="Calibri"/>
            </a:endParaRPr>
          </a:p>
        </p:txBody>
      </p:sp>
      <p:sp>
        <p:nvSpPr>
          <p:cNvPr id="421" name="Google Shape;421;p26"/>
          <p:cNvSpPr/>
          <p:nvPr/>
        </p:nvSpPr>
        <p:spPr>
          <a:xfrm>
            <a:off x="4709160" y="1097280"/>
            <a:ext cx="3886200" cy="256032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6"/>
          <p:cNvSpPr/>
          <p:nvPr/>
        </p:nvSpPr>
        <p:spPr>
          <a:xfrm>
            <a:off x="4709160" y="1097280"/>
            <a:ext cx="3886200" cy="365760"/>
          </a:xfrm>
          <a:prstGeom prst="rect">
            <a:avLst/>
          </a:prstGeom>
          <a:solidFill>
            <a:srgbClr val="FEF3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6"/>
          <p:cNvSpPr/>
          <p:nvPr/>
        </p:nvSpPr>
        <p:spPr>
          <a:xfrm>
            <a:off x="4709160" y="1115568"/>
            <a:ext cx="38862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2400E"/>
              </a:buClr>
              <a:buSzPts val="1300"/>
              <a:buFont typeface="Georgia"/>
              <a:buNone/>
            </a:pPr>
            <a:r>
              <a:rPr lang="en-US" sz="1300" b="1" i="0" u="none" strike="noStrike" cap="none">
                <a:solidFill>
                  <a:srgbClr val="92400E"/>
                </a:solidFill>
                <a:latin typeface="Georgia"/>
                <a:ea typeface="Georgia"/>
                <a:cs typeface="Georgia"/>
                <a:sym typeface="Georgia"/>
              </a:rPr>
              <a:t>Verification</a:t>
            </a:r>
            <a:endParaRPr sz="1300" b="0" i="0" u="none" strike="noStrike" cap="none">
              <a:solidFill>
                <a:schemeClr val="dk1"/>
              </a:solidFill>
              <a:latin typeface="Calibri"/>
              <a:ea typeface="Calibri"/>
              <a:cs typeface="Calibri"/>
              <a:sym typeface="Calibri"/>
            </a:endParaRPr>
          </a:p>
        </p:txBody>
      </p:sp>
      <p:sp>
        <p:nvSpPr>
          <p:cNvPr id="424" name="Google Shape;424;p26"/>
          <p:cNvSpPr/>
          <p:nvPr/>
        </p:nvSpPr>
        <p:spPr>
          <a:xfrm>
            <a:off x="4892040" y="1554480"/>
            <a:ext cx="3520440" cy="19202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Check if:</a:t>
            </a:r>
            <a:endParaRPr sz="1300" b="0" i="0" u="none" strike="noStrike" cap="none">
              <a:solidFill>
                <a:schemeClr val="dk1"/>
              </a:solidFill>
              <a:latin typeface="Calibri"/>
              <a:ea typeface="Calibri"/>
              <a:cs typeface="Calibri"/>
              <a:sym typeface="Calibri"/>
            </a:endParaRPr>
          </a:p>
          <a:p>
            <a:pPr marL="0" marR="0" lvl="0" indent="0" algn="l" rtl="0">
              <a:spcBef>
                <a:spcPts val="1000"/>
              </a:spcBef>
              <a:spcAft>
                <a:spcPts val="0"/>
              </a:spcAft>
              <a:buClr>
                <a:srgbClr val="92400E"/>
              </a:buClr>
              <a:buSzPts val="1500"/>
              <a:buFont typeface="Consolas"/>
              <a:buNone/>
            </a:pPr>
            <a:r>
              <a:rPr lang="en-US" sz="1500" b="1" i="0" u="none" strike="noStrike" cap="none">
                <a:solidFill>
                  <a:srgbClr val="92400E"/>
                </a:solidFill>
                <a:latin typeface="Consolas"/>
                <a:ea typeface="Consolas"/>
                <a:cs typeface="Consolas"/>
                <a:sym typeface="Consolas"/>
              </a:rPr>
              <a:t>y^r × r^s ≡ g^H(M) (mod p)</a:t>
            </a:r>
            <a:endParaRPr sz="1300" b="0" i="0" u="none" strike="noStrike" cap="none">
              <a:solidFill>
                <a:schemeClr val="dk1"/>
              </a:solidFill>
              <a:latin typeface="Calibri"/>
              <a:ea typeface="Calibri"/>
              <a:cs typeface="Calibri"/>
              <a:sym typeface="Calibri"/>
            </a:endParaRPr>
          </a:p>
          <a:p>
            <a:pPr marL="0" marR="0" lvl="0" indent="0" algn="l" rtl="0">
              <a:spcBef>
                <a:spcPts val="1200"/>
              </a:spcBef>
              <a:spcAft>
                <a:spcPts val="0"/>
              </a:spcAft>
              <a:buClr>
                <a:srgbClr val="10B981"/>
              </a:buClr>
              <a:buSzPts val="1300"/>
              <a:buFont typeface="Calibri"/>
              <a:buNone/>
            </a:pPr>
            <a:r>
              <a:rPr lang="en-US" sz="1300" b="1" i="0" u="none" strike="noStrike" cap="none">
                <a:solidFill>
                  <a:srgbClr val="10B981"/>
                </a:solidFill>
                <a:latin typeface="Calibri"/>
                <a:ea typeface="Calibri"/>
                <a:cs typeface="Calibri"/>
                <a:sym typeface="Calibri"/>
              </a:rPr>
              <a:t>If equal → signature valid</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EF4444"/>
              </a:buClr>
              <a:buSzPts val="1300"/>
              <a:buFont typeface="Calibri"/>
              <a:buNone/>
            </a:pPr>
            <a:r>
              <a:rPr lang="en-US" sz="1300" b="1" i="0" u="none" strike="noStrike" cap="none">
                <a:solidFill>
                  <a:srgbClr val="EF4444"/>
                </a:solidFill>
                <a:latin typeface="Calibri"/>
                <a:ea typeface="Calibri"/>
                <a:cs typeface="Calibri"/>
                <a:sym typeface="Calibri"/>
              </a:rPr>
              <a:t>If not → signature rejected</a:t>
            </a:r>
            <a:endParaRPr sz="1300" b="0" i="0" u="none" strike="noStrike" cap="none">
              <a:solidFill>
                <a:schemeClr val="dk1"/>
              </a:solidFill>
              <a:latin typeface="Calibri"/>
              <a:ea typeface="Calibri"/>
              <a:cs typeface="Calibri"/>
              <a:sym typeface="Calibri"/>
            </a:endParaRPr>
          </a:p>
        </p:txBody>
      </p:sp>
      <p:sp>
        <p:nvSpPr>
          <p:cNvPr id="425" name="Google Shape;425;p26"/>
          <p:cNvSpPr/>
          <p:nvPr/>
        </p:nvSpPr>
        <p:spPr>
          <a:xfrm>
            <a:off x="548640" y="3840480"/>
            <a:ext cx="8046720" cy="640080"/>
          </a:xfrm>
          <a:prstGeom prst="rect">
            <a:avLst/>
          </a:prstGeom>
          <a:solidFill>
            <a:srgbClr val="EFF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6"/>
          <p:cNvSpPr/>
          <p:nvPr/>
        </p:nvSpPr>
        <p:spPr>
          <a:xfrm>
            <a:off x="777240" y="3840480"/>
            <a:ext cx="758952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Key generation is the same as ElGamal encryption. Public key: (p, g, y) where y = g^x mod p. Private key: x.</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431"/>
        <p:cNvGrpSpPr/>
        <p:nvPr/>
      </p:nvGrpSpPr>
      <p:grpSpPr>
        <a:xfrm>
          <a:off x="0" y="0"/>
          <a:ext cx="0" cy="0"/>
          <a:chOff x="0" y="0"/>
          <a:chExt cx="0" cy="0"/>
        </a:xfrm>
      </p:grpSpPr>
      <p:sp>
        <p:nvSpPr>
          <p:cNvPr id="432" name="Google Shape;432;p27"/>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7"/>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5: ElGamal &amp; DSA Signatures</a:t>
            </a:r>
            <a:endParaRPr sz="900" b="0" i="0" u="none" strike="noStrike" cap="none">
              <a:solidFill>
                <a:schemeClr val="dk1"/>
              </a:solidFill>
              <a:latin typeface="Calibri"/>
              <a:ea typeface="Calibri"/>
              <a:cs typeface="Calibri"/>
              <a:sym typeface="Calibri"/>
            </a:endParaRPr>
          </a:p>
        </p:txBody>
      </p:sp>
      <p:sp>
        <p:nvSpPr>
          <p:cNvPr id="434" name="Google Shape;434;p27"/>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27</a:t>
            </a:r>
            <a:endParaRPr sz="1000" b="0" i="0" u="none" strike="noStrike" cap="none">
              <a:solidFill>
                <a:schemeClr val="dk1"/>
              </a:solidFill>
              <a:latin typeface="Calibri"/>
              <a:ea typeface="Calibri"/>
              <a:cs typeface="Calibri"/>
              <a:sym typeface="Calibri"/>
            </a:endParaRPr>
          </a:p>
        </p:txBody>
      </p:sp>
      <p:sp>
        <p:nvSpPr>
          <p:cNvPr id="435" name="Google Shape;435;p27"/>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DSA — Digital Signature Algorithm</a:t>
            </a:r>
            <a:endParaRPr sz="2400" b="0" i="0" u="none" strike="noStrike" cap="none">
              <a:solidFill>
                <a:schemeClr val="dk1"/>
              </a:solidFill>
              <a:latin typeface="Calibri"/>
              <a:ea typeface="Calibri"/>
              <a:cs typeface="Calibri"/>
              <a:sym typeface="Calibri"/>
            </a:endParaRPr>
          </a:p>
        </p:txBody>
      </p:sp>
      <p:sp>
        <p:nvSpPr>
          <p:cNvPr id="436" name="Google Shape;436;p27"/>
          <p:cNvSpPr/>
          <p:nvPr/>
        </p:nvSpPr>
        <p:spPr>
          <a:xfrm>
            <a:off x="731520" y="1097280"/>
            <a:ext cx="7680960" cy="13716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Standardized by NIST in 1994 (FIPS 186) — variant of ElGamal with smaller signatures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Uses a prime-order subgroup q (256-bit) within Z*_p (2048/3072-bit)</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Signatures are only 512 bits (two 256-bit values r and 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Widely used in SSH, TLS, code signing, and government applications</a:t>
            </a:r>
            <a:endParaRPr sz="1400" b="0" i="0" u="none" strike="noStrike" cap="none">
              <a:solidFill>
                <a:schemeClr val="dk1"/>
              </a:solidFill>
              <a:latin typeface="Calibri"/>
              <a:ea typeface="Calibri"/>
              <a:cs typeface="Calibri"/>
              <a:sym typeface="Calibri"/>
            </a:endParaRPr>
          </a:p>
        </p:txBody>
      </p:sp>
      <p:graphicFrame>
        <p:nvGraphicFramePr>
          <p:cNvPr id="437" name="Google Shape;437;p27"/>
          <p:cNvGraphicFramePr/>
          <p:nvPr/>
        </p:nvGraphicFramePr>
        <p:xfrm>
          <a:off x="548640" y="2606040"/>
          <a:ext cx="3000000" cy="3000000"/>
        </p:xfrm>
        <a:graphic>
          <a:graphicData uri="http://schemas.openxmlformats.org/drawingml/2006/table">
            <a:tbl>
              <a:tblPr>
                <a:noFill/>
                <a:tableStyleId>{D0E0BE0B-6D61-4DE2-A626-A33BB0977795}</a:tableStyleId>
              </a:tblPr>
              <a:tblGrid>
                <a:gridCol w="548650">
                  <a:extLst>
                    <a:ext uri="{9D8B030D-6E8A-4147-A177-3AD203B41FA5}">
                      <a16:colId xmlns:a16="http://schemas.microsoft.com/office/drawing/2014/main" val="20000"/>
                    </a:ext>
                  </a:extLst>
                </a:gridCol>
                <a:gridCol w="3474725">
                  <a:extLst>
                    <a:ext uri="{9D8B030D-6E8A-4147-A177-3AD203B41FA5}">
                      <a16:colId xmlns:a16="http://schemas.microsoft.com/office/drawing/2014/main" val="20001"/>
                    </a:ext>
                  </a:extLst>
                </a:gridCol>
                <a:gridCol w="4023350">
                  <a:extLst>
                    <a:ext uri="{9D8B030D-6E8A-4147-A177-3AD203B41FA5}">
                      <a16:colId xmlns:a16="http://schemas.microsoft.com/office/drawing/2014/main" val="20002"/>
                    </a:ext>
                  </a:extLst>
                </a:gridCol>
              </a:tblGrid>
              <a:tr h="152400">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Step</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7FA6"/>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Signing</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7FA6"/>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Verification</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1B7FA6"/>
                    </a:solidFill>
                  </a:tcPr>
                </a:tc>
                <a:extLst>
                  <a:ext uri="{0D108BD9-81ED-4DB2-BD59-A6C34878D82A}">
                    <a16:rowId xmlns:a16="http://schemas.microsoft.com/office/drawing/2014/main" val="10000"/>
                  </a:ext>
                </a:extLst>
              </a:tr>
              <a:tr h="152400">
                <a:tc>
                  <a:txBody>
                    <a:bodyPr/>
                    <a:lstStyle/>
                    <a:p>
                      <a:pPr marL="0" marR="0" lvl="0" indent="0" algn="ctr" rtl="0">
                        <a:spcBef>
                          <a:spcPts val="0"/>
                        </a:spcBef>
                        <a:spcAft>
                          <a:spcPts val="0"/>
                        </a:spcAft>
                        <a:buClr>
                          <a:srgbClr val="000000"/>
                        </a:buClr>
                        <a:buSzPts val="1200"/>
                        <a:buFont typeface="Calibri"/>
                        <a:buNone/>
                      </a:pPr>
                      <a:r>
                        <a:rPr lang="en-US" sz="1200" u="none" strike="noStrike" cap="none">
                          <a:solidFill>
                            <a:srgbClr val="000000"/>
                          </a:solidFill>
                          <a:latin typeface="Calibri"/>
                          <a:ea typeface="Calibri"/>
                          <a:cs typeface="Calibri"/>
                          <a:sym typeface="Calibri"/>
                        </a:rPr>
                        <a:t>1</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u="none" strike="noStrike" cap="none">
                          <a:solidFill>
                            <a:srgbClr val="000000"/>
                          </a:solidFill>
                          <a:latin typeface="Consolas"/>
                          <a:ea typeface="Consolas"/>
                          <a:cs typeface="Consolas"/>
                          <a:sym typeface="Consolas"/>
                        </a:rPr>
                        <a:t>Choose random k (0 &lt; k &lt; q)</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u="none" strike="noStrike" cap="none">
                          <a:solidFill>
                            <a:srgbClr val="000000"/>
                          </a:solidFill>
                          <a:latin typeface="Consolas"/>
                          <a:ea typeface="Consolas"/>
                          <a:cs typeface="Consolas"/>
                          <a:sym typeface="Consolas"/>
                        </a:rPr>
                        <a:t>w = s⁻¹ mod q</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152400">
                <a:tc>
                  <a:txBody>
                    <a:bodyPr/>
                    <a:lstStyle/>
                    <a:p>
                      <a:pPr marL="0" marR="0" lvl="0" indent="0" algn="ctr" rtl="0">
                        <a:spcBef>
                          <a:spcPts val="0"/>
                        </a:spcBef>
                        <a:spcAft>
                          <a:spcPts val="0"/>
                        </a:spcAft>
                        <a:buClr>
                          <a:srgbClr val="000000"/>
                        </a:buClr>
                        <a:buSzPts val="1200"/>
                        <a:buFont typeface="Calibri"/>
                        <a:buNone/>
                      </a:pPr>
                      <a:r>
                        <a:rPr lang="en-US" sz="1200" u="none" strike="noStrike" cap="none">
                          <a:solidFill>
                            <a:srgbClr val="000000"/>
                          </a:solidFill>
                          <a:latin typeface="Calibri"/>
                          <a:ea typeface="Calibri"/>
                          <a:cs typeface="Calibri"/>
                          <a:sym typeface="Calibri"/>
                        </a:rPr>
                        <a:t>2</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u="none" strike="noStrike" cap="none">
                          <a:solidFill>
                            <a:srgbClr val="000000"/>
                          </a:solidFill>
                          <a:latin typeface="Consolas"/>
                          <a:ea typeface="Consolas"/>
                          <a:cs typeface="Consolas"/>
                          <a:sym typeface="Consolas"/>
                        </a:rPr>
                        <a:t>r = (g^k mod p) mod q</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u="none" strike="noStrike" cap="none">
                          <a:solidFill>
                            <a:srgbClr val="000000"/>
                          </a:solidFill>
                          <a:latin typeface="Consolas"/>
                          <a:ea typeface="Consolas"/>
                          <a:cs typeface="Consolas"/>
                          <a:sym typeface="Consolas"/>
                        </a:rPr>
                        <a:t>u₁ = H(M)·w mod q</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152400">
                <a:tc>
                  <a:txBody>
                    <a:bodyPr/>
                    <a:lstStyle/>
                    <a:p>
                      <a:pPr marL="0" marR="0" lvl="0" indent="0" algn="ctr" rtl="0">
                        <a:spcBef>
                          <a:spcPts val="0"/>
                        </a:spcBef>
                        <a:spcAft>
                          <a:spcPts val="0"/>
                        </a:spcAft>
                        <a:buClr>
                          <a:srgbClr val="000000"/>
                        </a:buClr>
                        <a:buSzPts val="1200"/>
                        <a:buFont typeface="Calibri"/>
                        <a:buNone/>
                      </a:pPr>
                      <a:r>
                        <a:rPr lang="en-US" sz="1200" u="none" strike="noStrike" cap="none">
                          <a:solidFill>
                            <a:srgbClr val="000000"/>
                          </a:solidFill>
                          <a:latin typeface="Calibri"/>
                          <a:ea typeface="Calibri"/>
                          <a:cs typeface="Calibri"/>
                          <a:sym typeface="Calibri"/>
                        </a:rPr>
                        <a:t>3</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u="none" strike="noStrike" cap="none">
                          <a:solidFill>
                            <a:srgbClr val="000000"/>
                          </a:solidFill>
                          <a:latin typeface="Consolas"/>
                          <a:ea typeface="Consolas"/>
                          <a:cs typeface="Consolas"/>
                          <a:sym typeface="Consolas"/>
                        </a:rPr>
                        <a:t>s = k⁻¹(H(M) + xr) mod q</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u="none" strike="noStrike" cap="none">
                          <a:solidFill>
                            <a:srgbClr val="000000"/>
                          </a:solidFill>
                          <a:latin typeface="Consolas"/>
                          <a:ea typeface="Consolas"/>
                          <a:cs typeface="Consolas"/>
                          <a:sym typeface="Consolas"/>
                        </a:rPr>
                        <a:t>u₂ = r·w mod q</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152400">
                <a:tc>
                  <a:txBody>
                    <a:bodyPr/>
                    <a:lstStyle/>
                    <a:p>
                      <a:pPr marL="0" marR="0" lvl="0" indent="0" algn="ctr" rtl="0">
                        <a:spcBef>
                          <a:spcPts val="0"/>
                        </a:spcBef>
                        <a:spcAft>
                          <a:spcPts val="0"/>
                        </a:spcAft>
                        <a:buClr>
                          <a:srgbClr val="000000"/>
                        </a:buClr>
                        <a:buSzPts val="1200"/>
                        <a:buFont typeface="Calibri"/>
                        <a:buNone/>
                      </a:pPr>
                      <a:r>
                        <a:rPr lang="en-US" sz="1200" u="none" strike="noStrike" cap="none">
                          <a:solidFill>
                            <a:srgbClr val="000000"/>
                          </a:solidFill>
                          <a:latin typeface="Calibri"/>
                          <a:ea typeface="Calibri"/>
                          <a:cs typeface="Calibri"/>
                          <a:sym typeface="Calibri"/>
                        </a:rPr>
                        <a:t>4</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b="1" u="none" strike="noStrike" cap="none">
                          <a:solidFill>
                            <a:srgbClr val="000000"/>
                          </a:solidFill>
                          <a:latin typeface="Consolas"/>
                          <a:ea typeface="Consolas"/>
                          <a:cs typeface="Consolas"/>
                          <a:sym typeface="Consolas"/>
                        </a:rPr>
                        <a:t>Output: (r, s)</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100"/>
                        <a:buFont typeface="Consolas"/>
                        <a:buNone/>
                      </a:pPr>
                      <a:r>
                        <a:rPr lang="en-US" sz="1100" u="none" strike="noStrike" cap="none">
                          <a:solidFill>
                            <a:srgbClr val="000000"/>
                          </a:solidFill>
                          <a:latin typeface="Consolas"/>
                          <a:ea typeface="Consolas"/>
                          <a:cs typeface="Consolas"/>
                          <a:sym typeface="Consolas"/>
                        </a:rPr>
                        <a:t>v = ((g^u₁ · y^u₂) mod p) mod q</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r h="152400">
                <a:tc>
                  <a:txBody>
                    <a:bodyPr/>
                    <a:lstStyle/>
                    <a:p>
                      <a:pPr marL="0" marR="0" lvl="0" indent="0" algn="ctr" rtl="0">
                        <a:spcBef>
                          <a:spcPts val="0"/>
                        </a:spcBef>
                        <a:spcAft>
                          <a:spcPts val="0"/>
                        </a:spcAft>
                        <a:buClr>
                          <a:srgbClr val="000000"/>
                        </a:buClr>
                        <a:buSzPts val="1200"/>
                        <a:buFont typeface="Calibri"/>
                        <a:buNone/>
                      </a:pPr>
                      <a:r>
                        <a:rPr lang="en-US" sz="1200" u="none" strike="noStrike" cap="none">
                          <a:solidFill>
                            <a:srgbClr val="000000"/>
                          </a:solidFill>
                          <a:latin typeface="Calibri"/>
                          <a:ea typeface="Calibri"/>
                          <a:cs typeface="Calibri"/>
                          <a:sym typeface="Calibri"/>
                        </a:rPr>
                        <a:t>5</a:t>
                      </a:r>
                      <a:endParaRPr sz="1200" u="none" strike="noStrike" cap="none">
                        <a:latin typeface="Calibri"/>
                        <a:ea typeface="Calibri"/>
                        <a:cs typeface="Calibri"/>
                        <a:sym typeface="Calibri"/>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100"/>
                        <a:buFont typeface="Calibri"/>
                        <a:buNone/>
                      </a:pPr>
                      <a:endParaRPr sz="1100" u="none" strike="noStrike" cap="none"/>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047857"/>
                        </a:buClr>
                        <a:buSzPts val="1100"/>
                        <a:buFont typeface="Consolas"/>
                        <a:buNone/>
                      </a:pPr>
                      <a:r>
                        <a:rPr lang="en-US" sz="1100" b="1" u="none" strike="noStrike" cap="none">
                          <a:solidFill>
                            <a:srgbClr val="047857"/>
                          </a:solidFill>
                          <a:latin typeface="Consolas"/>
                          <a:ea typeface="Consolas"/>
                          <a:cs typeface="Consolas"/>
                          <a:sym typeface="Consolas"/>
                        </a:rPr>
                        <a:t>Accept if v = r</a:t>
                      </a:r>
                      <a:endParaRPr sz="1100" u="none" strike="noStrike" cap="none">
                        <a:latin typeface="Consolas"/>
                        <a:ea typeface="Consolas"/>
                        <a:cs typeface="Consolas"/>
                        <a:sym typeface="Consolas"/>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442"/>
        <p:cNvGrpSpPr/>
        <p:nvPr/>
      </p:nvGrpSpPr>
      <p:grpSpPr>
        <a:xfrm>
          <a:off x="0" y="0"/>
          <a:ext cx="0" cy="0"/>
          <a:chOff x="0" y="0"/>
          <a:chExt cx="0" cy="0"/>
        </a:xfrm>
      </p:grpSpPr>
      <p:sp>
        <p:nvSpPr>
          <p:cNvPr id="443" name="Google Shape;443;p28"/>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8"/>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5: ElGamal &amp; DSA Signatures</a:t>
            </a:r>
            <a:endParaRPr sz="900" b="0" i="0" u="none" strike="noStrike" cap="none">
              <a:solidFill>
                <a:schemeClr val="dk1"/>
              </a:solidFill>
              <a:latin typeface="Calibri"/>
              <a:ea typeface="Calibri"/>
              <a:cs typeface="Calibri"/>
              <a:sym typeface="Calibri"/>
            </a:endParaRPr>
          </a:p>
        </p:txBody>
      </p:sp>
      <p:sp>
        <p:nvSpPr>
          <p:cNvPr id="445" name="Google Shape;445;p28"/>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28</a:t>
            </a:r>
            <a:endParaRPr sz="1000" b="0" i="0" u="none" strike="noStrike" cap="none">
              <a:solidFill>
                <a:schemeClr val="dk1"/>
              </a:solidFill>
              <a:latin typeface="Calibri"/>
              <a:ea typeface="Calibri"/>
              <a:cs typeface="Calibri"/>
              <a:sym typeface="Calibri"/>
            </a:endParaRPr>
          </a:p>
        </p:txBody>
      </p:sp>
      <p:sp>
        <p:nvSpPr>
          <p:cNvPr id="446" name="Google Shape;446;p28"/>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Critical: Nonce Security in DSA</a:t>
            </a:r>
            <a:endParaRPr sz="2400" b="0" i="0" u="none" strike="noStrike" cap="none">
              <a:solidFill>
                <a:schemeClr val="dk1"/>
              </a:solidFill>
              <a:latin typeface="Calibri"/>
              <a:ea typeface="Calibri"/>
              <a:cs typeface="Calibri"/>
              <a:sym typeface="Calibri"/>
            </a:endParaRPr>
          </a:p>
        </p:txBody>
      </p:sp>
      <p:sp>
        <p:nvSpPr>
          <p:cNvPr id="447" name="Google Shape;447;p28"/>
          <p:cNvSpPr/>
          <p:nvPr/>
        </p:nvSpPr>
        <p:spPr>
          <a:xfrm>
            <a:off x="548640" y="1051560"/>
            <a:ext cx="8046720" cy="45720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8"/>
          <p:cNvSpPr/>
          <p:nvPr/>
        </p:nvSpPr>
        <p:spPr>
          <a:xfrm>
            <a:off x="731520" y="1051560"/>
            <a:ext cx="7680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F4444"/>
              </a:buClr>
              <a:buSzPts val="1400"/>
              <a:buFont typeface="Calibri"/>
              <a:buNone/>
            </a:pPr>
            <a:r>
              <a:rPr lang="en-US" sz="1400" b="1" i="0" u="none" strike="noStrike" cap="none">
                <a:solidFill>
                  <a:srgbClr val="EF4444"/>
                </a:solidFill>
                <a:latin typeface="Calibri"/>
                <a:ea typeface="Calibri"/>
                <a:cs typeface="Calibri"/>
                <a:sym typeface="Calibri"/>
              </a:rPr>
              <a:t>k must be unique per signature and unpredictable — reuse allows private key recovery!</a:t>
            </a:r>
            <a:endParaRPr sz="1400" b="0" i="0" u="none" strike="noStrike" cap="none">
              <a:solidFill>
                <a:schemeClr val="dk1"/>
              </a:solidFill>
              <a:latin typeface="Calibri"/>
              <a:ea typeface="Calibri"/>
              <a:cs typeface="Calibri"/>
              <a:sym typeface="Calibri"/>
            </a:endParaRPr>
          </a:p>
        </p:txBody>
      </p:sp>
      <p:sp>
        <p:nvSpPr>
          <p:cNvPr id="449" name="Google Shape;449;p28"/>
          <p:cNvSpPr/>
          <p:nvPr/>
        </p:nvSpPr>
        <p:spPr>
          <a:xfrm>
            <a:off x="731520" y="1645920"/>
            <a:ext cx="7680960" cy="246888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400"/>
              <a:buFont typeface="Calibri"/>
              <a:buNone/>
            </a:pPr>
            <a:r>
              <a:rPr lang="en-US" sz="1400" b="1" i="0" u="none" strike="noStrike" cap="none">
                <a:solidFill>
                  <a:srgbClr val="1E293B"/>
                </a:solidFill>
                <a:latin typeface="Calibri"/>
                <a:ea typeface="Calibri"/>
                <a:cs typeface="Calibri"/>
                <a:sym typeface="Calibri"/>
              </a:rPr>
              <a:t>If k is reused for two different messages M₁ and M₂:</a:t>
            </a:r>
            <a:endParaRPr sz="1400" b="0" i="0" u="none" strike="noStrike" cap="none">
              <a:solidFill>
                <a:schemeClr val="dk1"/>
              </a:solidFill>
              <a:latin typeface="Calibri"/>
              <a:ea typeface="Calibri"/>
              <a:cs typeface="Calibri"/>
              <a:sym typeface="Calibri"/>
            </a:endParaRPr>
          </a:p>
          <a:p>
            <a:pPr marL="0" marR="0" lvl="0" indent="0" algn="l" rtl="0">
              <a:spcBef>
                <a:spcPts val="14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r₁ = r₂   (same k → same r — reveals the reuse!)</a:t>
            </a:r>
            <a:endParaRPr sz="1400" b="0" i="0" u="none" strike="noStrike" cap="none">
              <a:solidFill>
                <a:schemeClr val="dk1"/>
              </a:solidFill>
              <a:latin typeface="Calibri"/>
              <a:ea typeface="Calibri"/>
              <a:cs typeface="Calibri"/>
              <a:sym typeface="Calibri"/>
            </a:endParaRPr>
          </a:p>
          <a:p>
            <a:pPr marL="0" marR="0" lvl="0" indent="0" algn="l" rtl="0">
              <a:spcBef>
                <a:spcPts val="1200"/>
              </a:spcBef>
              <a:spcAft>
                <a:spcPts val="0"/>
              </a:spcAft>
              <a:buClr>
                <a:srgbClr val="EF4444"/>
              </a:buClr>
              <a:buSzPts val="1400"/>
              <a:buFont typeface="Consolas"/>
              <a:buNone/>
            </a:pPr>
            <a:r>
              <a:rPr lang="en-US" sz="1400" b="1" i="0" u="none" strike="noStrike" cap="none">
                <a:solidFill>
                  <a:srgbClr val="EF4444"/>
                </a:solidFill>
                <a:latin typeface="Consolas"/>
                <a:ea typeface="Consolas"/>
                <a:cs typeface="Consolas"/>
                <a:sym typeface="Consolas"/>
              </a:rPr>
              <a:t>k = (H(M₁) − H(M₂)) / (s₁ − s₂) mod q</a:t>
            </a:r>
            <a:endParaRPr sz="1400" b="0" i="0" u="none" strike="noStrike" cap="none">
              <a:solidFill>
                <a:schemeClr val="dk1"/>
              </a:solidFill>
              <a:latin typeface="Calibri"/>
              <a:ea typeface="Calibri"/>
              <a:cs typeface="Calibri"/>
              <a:sym typeface="Calibri"/>
            </a:endParaRPr>
          </a:p>
          <a:p>
            <a:pPr marL="0" marR="0" lvl="0" indent="0" algn="l" rtl="0">
              <a:spcBef>
                <a:spcPts val="1200"/>
              </a:spcBef>
              <a:spcAft>
                <a:spcPts val="0"/>
              </a:spcAft>
              <a:buClr>
                <a:srgbClr val="EF4444"/>
              </a:buClr>
              <a:buSzPts val="1400"/>
              <a:buFont typeface="Consolas"/>
              <a:buNone/>
            </a:pPr>
            <a:r>
              <a:rPr lang="en-US" sz="1400" b="1" i="0" u="none" strike="noStrike" cap="none">
                <a:solidFill>
                  <a:srgbClr val="EF4444"/>
                </a:solidFill>
                <a:latin typeface="Consolas"/>
                <a:ea typeface="Consolas"/>
                <a:cs typeface="Consolas"/>
                <a:sym typeface="Consolas"/>
              </a:rPr>
              <a:t>x = (s₁·k − H(M₁)) / r₁ mod q</a:t>
            </a:r>
            <a:endParaRPr sz="1400" b="0" i="0" u="none" strike="noStrike" cap="none">
              <a:solidFill>
                <a:schemeClr val="dk1"/>
              </a:solidFill>
              <a:latin typeface="Calibri"/>
              <a:ea typeface="Calibri"/>
              <a:cs typeface="Calibri"/>
              <a:sym typeface="Calibri"/>
            </a:endParaRPr>
          </a:p>
          <a:p>
            <a:pPr marL="0" marR="0" lvl="0" indent="0" algn="l" rtl="0">
              <a:spcBef>
                <a:spcPts val="1400"/>
              </a:spcBef>
              <a:spcAft>
                <a:spcPts val="0"/>
              </a:spcAft>
              <a:buClr>
                <a:srgbClr val="EF4444"/>
              </a:buClr>
              <a:buSzPts val="1400"/>
              <a:buFont typeface="Calibri"/>
              <a:buNone/>
            </a:pPr>
            <a:r>
              <a:rPr lang="en-US" sz="1400" b="1" i="0" u="none" strike="noStrike" cap="none">
                <a:solidFill>
                  <a:srgbClr val="EF4444"/>
                </a:solidFill>
                <a:latin typeface="Calibri"/>
                <a:ea typeface="Calibri"/>
                <a:cs typeface="Calibri"/>
                <a:sym typeface="Calibri"/>
              </a:rPr>
              <a:t>→ Private key x is fully recovered!</a:t>
            </a:r>
            <a:endParaRPr sz="1400" b="0" i="0" u="none" strike="noStrike" cap="none">
              <a:solidFill>
                <a:schemeClr val="dk1"/>
              </a:solidFill>
              <a:latin typeface="Calibri"/>
              <a:ea typeface="Calibri"/>
              <a:cs typeface="Calibri"/>
              <a:sym typeface="Calibri"/>
            </a:endParaRPr>
          </a:p>
        </p:txBody>
      </p:sp>
      <p:sp>
        <p:nvSpPr>
          <p:cNvPr id="450" name="Google Shape;450;p28"/>
          <p:cNvSpPr/>
          <p:nvPr/>
        </p:nvSpPr>
        <p:spPr>
          <a:xfrm>
            <a:off x="548640" y="4023360"/>
            <a:ext cx="8046720" cy="731520"/>
          </a:xfrm>
          <a:prstGeom prst="rect">
            <a:avLst/>
          </a:prstGeom>
          <a:solidFill>
            <a:srgbClr val="ECF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8"/>
          <p:cNvSpPr/>
          <p:nvPr/>
        </p:nvSpPr>
        <p:spPr>
          <a:xfrm>
            <a:off x="777240" y="4023360"/>
            <a:ext cx="7589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B981"/>
              </a:buClr>
              <a:buSzPts val="1300"/>
              <a:buFont typeface="Calibri"/>
              <a:buNone/>
            </a:pPr>
            <a:r>
              <a:rPr lang="en-US" sz="1300" b="1" i="0" u="none" strike="noStrike" cap="none">
                <a:solidFill>
                  <a:srgbClr val="10B981"/>
                </a:solidFill>
                <a:latin typeface="Calibri"/>
                <a:ea typeface="Calibri"/>
                <a:cs typeface="Calibri"/>
                <a:sym typeface="Calibri"/>
              </a:rPr>
              <a:t>Defense: </a:t>
            </a:r>
            <a:r>
              <a:rPr lang="en-US" sz="1200" b="0" i="0" u="none" strike="noStrike" cap="none">
                <a:solidFill>
                  <a:srgbClr val="1E293B"/>
                </a:solidFill>
                <a:latin typeface="Calibri"/>
                <a:ea typeface="Calibri"/>
                <a:cs typeface="Calibri"/>
                <a:sym typeface="Calibri"/>
              </a:rPr>
              <a:t>Use deterministic nonce generation (RFC 6979) — derives k from the private key and message hash, guaranteeing uniqueness without relying on random number quality.</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456"/>
        <p:cNvGrpSpPr/>
        <p:nvPr/>
      </p:nvGrpSpPr>
      <p:grpSpPr>
        <a:xfrm>
          <a:off x="0" y="0"/>
          <a:ext cx="0" cy="0"/>
          <a:chOff x="0" y="0"/>
          <a:chExt cx="0" cy="0"/>
        </a:xfrm>
      </p:grpSpPr>
      <p:sp>
        <p:nvSpPr>
          <p:cNvPr id="457" name="Google Shape;457;p29"/>
          <p:cNvSpPr/>
          <p:nvPr/>
        </p:nvSpPr>
        <p:spPr>
          <a:xfrm>
            <a:off x="731520" y="914400"/>
            <a:ext cx="1828800" cy="228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9600"/>
              <a:buFont typeface="Georgia"/>
              <a:buNone/>
            </a:pPr>
            <a:r>
              <a:rPr lang="en-US" sz="9600" b="1" i="0" u="none" strike="noStrike" cap="none">
                <a:solidFill>
                  <a:srgbClr val="1B7FA6"/>
                </a:solidFill>
                <a:latin typeface="Georgia"/>
                <a:ea typeface="Georgia"/>
                <a:cs typeface="Georgia"/>
                <a:sym typeface="Georgia"/>
              </a:rPr>
              <a:t>06</a:t>
            </a:r>
            <a:endParaRPr sz="9600" b="0" i="0" u="none" strike="noStrike" cap="none">
              <a:solidFill>
                <a:schemeClr val="dk1"/>
              </a:solidFill>
              <a:latin typeface="Calibri"/>
              <a:ea typeface="Calibri"/>
              <a:cs typeface="Calibri"/>
              <a:sym typeface="Calibri"/>
            </a:endParaRPr>
          </a:p>
        </p:txBody>
      </p:sp>
      <p:sp>
        <p:nvSpPr>
          <p:cNvPr id="458" name="Google Shape;458;p29"/>
          <p:cNvSpPr/>
          <p:nvPr/>
        </p:nvSpPr>
        <p:spPr>
          <a:xfrm>
            <a:off x="914400" y="1828800"/>
            <a:ext cx="731520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i="0" u="none" strike="noStrike" cap="none">
                <a:solidFill>
                  <a:srgbClr val="FFFFFF"/>
                </a:solidFill>
                <a:latin typeface="Georgia"/>
                <a:ea typeface="Georgia"/>
                <a:cs typeface="Georgia"/>
                <a:sym typeface="Georgia"/>
              </a:rPr>
              <a:t>Security Analysis and Attacks</a:t>
            </a:r>
            <a:endParaRPr sz="3600" b="0" i="0" u="none" strike="noStrike" cap="none">
              <a:solidFill>
                <a:schemeClr val="dk1"/>
              </a:solidFill>
              <a:latin typeface="Calibri"/>
              <a:ea typeface="Calibri"/>
              <a:cs typeface="Calibri"/>
              <a:sym typeface="Calibri"/>
            </a:endParaRPr>
          </a:p>
        </p:txBody>
      </p:sp>
      <p:sp>
        <p:nvSpPr>
          <p:cNvPr id="459" name="Google Shape;459;p29"/>
          <p:cNvSpPr/>
          <p:nvPr/>
        </p:nvSpPr>
        <p:spPr>
          <a:xfrm>
            <a:off x="914400" y="292608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600"/>
              <a:buFont typeface="Calibri"/>
              <a:buNone/>
            </a:pPr>
            <a:r>
              <a:rPr lang="en-US" sz="1600" b="0" i="0" u="none" strike="noStrike" cap="none">
                <a:solidFill>
                  <a:srgbClr val="2BA4D4"/>
                </a:solidFill>
                <a:latin typeface="Calibri"/>
                <a:ea typeface="Calibri"/>
                <a:cs typeface="Calibri"/>
                <a:sym typeface="Calibri"/>
              </a:rPr>
              <a:t>Understanding the threat landscape</a:t>
            </a:r>
            <a:endParaRPr sz="1600" b="0" i="0" u="none" strike="noStrike" cap="none">
              <a:solidFill>
                <a:schemeClr val="dk1"/>
              </a:solidFill>
              <a:latin typeface="Calibri"/>
              <a:ea typeface="Calibri"/>
              <a:cs typeface="Calibri"/>
              <a:sym typeface="Calibri"/>
            </a:endParaRPr>
          </a:p>
        </p:txBody>
      </p:sp>
      <p:sp>
        <p:nvSpPr>
          <p:cNvPr id="460" name="Google Shape;460;p29"/>
          <p:cNvSpPr/>
          <p:nvPr/>
        </p:nvSpPr>
        <p:spPr>
          <a:xfrm>
            <a:off x="914400" y="4206240"/>
            <a:ext cx="22860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9"/>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29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466"/>
        <p:cNvGrpSpPr/>
        <p:nvPr/>
      </p:nvGrpSpPr>
      <p:grpSpPr>
        <a:xfrm>
          <a:off x="0" y="0"/>
          <a:ext cx="0" cy="0"/>
          <a:chOff x="0" y="0"/>
          <a:chExt cx="0" cy="0"/>
        </a:xfrm>
      </p:grpSpPr>
      <p:sp>
        <p:nvSpPr>
          <p:cNvPr id="467" name="Google Shape;467;p30"/>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0"/>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6: Security Analysis and Attacks</a:t>
            </a:r>
            <a:endParaRPr sz="900" b="0" i="0" u="none" strike="noStrike" cap="none">
              <a:solidFill>
                <a:schemeClr val="dk1"/>
              </a:solidFill>
              <a:latin typeface="Calibri"/>
              <a:ea typeface="Calibri"/>
              <a:cs typeface="Calibri"/>
              <a:sym typeface="Calibri"/>
            </a:endParaRPr>
          </a:p>
        </p:txBody>
      </p:sp>
      <p:sp>
        <p:nvSpPr>
          <p:cNvPr id="469" name="Google Shape;469;p30"/>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30</a:t>
            </a:r>
            <a:endParaRPr sz="1000" b="0" i="0" u="none" strike="noStrike" cap="none">
              <a:solidFill>
                <a:schemeClr val="dk1"/>
              </a:solidFill>
              <a:latin typeface="Calibri"/>
              <a:ea typeface="Calibri"/>
              <a:cs typeface="Calibri"/>
              <a:sym typeface="Calibri"/>
            </a:endParaRPr>
          </a:p>
        </p:txBody>
      </p:sp>
      <p:sp>
        <p:nvSpPr>
          <p:cNvPr id="470" name="Google Shape;470;p30"/>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CDH and DDH Problems</a:t>
            </a:r>
            <a:endParaRPr sz="2400" b="0" i="0" u="none" strike="noStrike" cap="none">
              <a:solidFill>
                <a:schemeClr val="dk1"/>
              </a:solidFill>
              <a:latin typeface="Calibri"/>
              <a:ea typeface="Calibri"/>
              <a:cs typeface="Calibri"/>
              <a:sym typeface="Calibri"/>
            </a:endParaRPr>
          </a:p>
        </p:txBody>
      </p:sp>
      <p:sp>
        <p:nvSpPr>
          <p:cNvPr id="471" name="Google Shape;471;p30"/>
          <p:cNvSpPr/>
          <p:nvPr/>
        </p:nvSpPr>
        <p:spPr>
          <a:xfrm>
            <a:off x="548640" y="1097280"/>
            <a:ext cx="3886200" cy="246888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0"/>
          <p:cNvSpPr/>
          <p:nvPr/>
        </p:nvSpPr>
        <p:spPr>
          <a:xfrm>
            <a:off x="548640" y="1097280"/>
            <a:ext cx="54864" cy="2468880"/>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0"/>
          <p:cNvSpPr/>
          <p:nvPr/>
        </p:nvSpPr>
        <p:spPr>
          <a:xfrm>
            <a:off x="777240" y="1188720"/>
            <a:ext cx="34747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400"/>
              <a:buFont typeface="Georgia"/>
              <a:buNone/>
            </a:pPr>
            <a:r>
              <a:rPr lang="en-US" sz="1400" b="1" i="0" u="none" strike="noStrike" cap="none">
                <a:solidFill>
                  <a:srgbClr val="1B7FA6"/>
                </a:solidFill>
                <a:latin typeface="Georgia"/>
                <a:ea typeface="Georgia"/>
                <a:cs typeface="Georgia"/>
                <a:sym typeface="Georgia"/>
              </a:rPr>
              <a:t>Computational DH (CDH)</a:t>
            </a:r>
            <a:endParaRPr sz="1400" b="0" i="0" u="none" strike="noStrike" cap="none">
              <a:solidFill>
                <a:schemeClr val="dk1"/>
              </a:solidFill>
              <a:latin typeface="Calibri"/>
              <a:ea typeface="Calibri"/>
              <a:cs typeface="Calibri"/>
              <a:sym typeface="Calibri"/>
            </a:endParaRPr>
          </a:p>
        </p:txBody>
      </p:sp>
      <p:sp>
        <p:nvSpPr>
          <p:cNvPr id="474" name="Google Shape;474;p30"/>
          <p:cNvSpPr/>
          <p:nvPr/>
        </p:nvSpPr>
        <p:spPr>
          <a:xfrm>
            <a:off x="777240" y="1554480"/>
            <a:ext cx="3474720" cy="19202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Given:</a:t>
            </a:r>
            <a:endParaRPr sz="12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p, g, g^a mod p, g^b mod p</a:t>
            </a:r>
            <a:endParaRPr sz="1200" b="0" i="0" u="none" strike="noStrike" cap="none">
              <a:solidFill>
                <a:schemeClr val="dk1"/>
              </a:solidFill>
              <a:latin typeface="Calibri"/>
              <a:ea typeface="Calibri"/>
              <a:cs typeface="Calibri"/>
              <a:sym typeface="Calibri"/>
            </a:endParaRPr>
          </a:p>
          <a:p>
            <a:pPr marL="0" marR="0" lvl="0" indent="0" algn="l" rtl="0">
              <a:spcBef>
                <a:spcPts val="1200"/>
              </a:spcBef>
              <a:spcAft>
                <a:spcPts val="0"/>
              </a:spcAft>
              <a:buClr>
                <a:srgbClr val="1B7FA6"/>
              </a:buClr>
              <a:buSzPts val="1300"/>
              <a:buFont typeface="Consolas"/>
              <a:buNone/>
            </a:pPr>
            <a:r>
              <a:rPr lang="en-US" sz="1300" b="1" i="0" u="none" strike="noStrike" cap="none">
                <a:solidFill>
                  <a:srgbClr val="1B7FA6"/>
                </a:solidFill>
                <a:latin typeface="Consolas"/>
                <a:ea typeface="Consolas"/>
                <a:cs typeface="Consolas"/>
                <a:sym typeface="Consolas"/>
              </a:rPr>
              <a:t>Goal: Compute g^(ab) mod p</a:t>
            </a:r>
            <a:endParaRPr sz="1200" b="0" i="0" u="none" strike="noStrike" cap="none">
              <a:solidFill>
                <a:schemeClr val="dk1"/>
              </a:solidFill>
              <a:latin typeface="Calibri"/>
              <a:ea typeface="Calibri"/>
              <a:cs typeface="Calibri"/>
              <a:sym typeface="Calibri"/>
            </a:endParaRPr>
          </a:p>
          <a:p>
            <a:pPr marL="0" marR="0" lvl="0" indent="0" algn="l" rtl="0">
              <a:spcBef>
                <a:spcPts val="14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This is what Eve must solve to break DH.</a:t>
            </a:r>
            <a:endParaRPr sz="12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Believed hard if DLP is hard.</a:t>
            </a:r>
            <a:endParaRPr sz="1200" b="0" i="0" u="none" strike="noStrike" cap="none">
              <a:solidFill>
                <a:schemeClr val="dk1"/>
              </a:solidFill>
              <a:latin typeface="Calibri"/>
              <a:ea typeface="Calibri"/>
              <a:cs typeface="Calibri"/>
              <a:sym typeface="Calibri"/>
            </a:endParaRPr>
          </a:p>
        </p:txBody>
      </p:sp>
      <p:sp>
        <p:nvSpPr>
          <p:cNvPr id="475" name="Google Shape;475;p30"/>
          <p:cNvSpPr/>
          <p:nvPr/>
        </p:nvSpPr>
        <p:spPr>
          <a:xfrm>
            <a:off x="4709160" y="1097280"/>
            <a:ext cx="3886200" cy="246888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0"/>
          <p:cNvSpPr/>
          <p:nvPr/>
        </p:nvSpPr>
        <p:spPr>
          <a:xfrm>
            <a:off x="4709160" y="1097280"/>
            <a:ext cx="54864" cy="2468880"/>
          </a:xfrm>
          <a:prstGeom prst="rect">
            <a:avLst/>
          </a:prstGeom>
          <a:solidFill>
            <a:srgbClr val="2BA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0"/>
          <p:cNvSpPr/>
          <p:nvPr/>
        </p:nvSpPr>
        <p:spPr>
          <a:xfrm>
            <a:off x="4937760" y="1188720"/>
            <a:ext cx="34747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BA4D4"/>
              </a:buClr>
              <a:buSzPts val="1400"/>
              <a:buFont typeface="Georgia"/>
              <a:buNone/>
            </a:pPr>
            <a:r>
              <a:rPr lang="en-US" sz="1400" b="1" i="0" u="none" strike="noStrike" cap="none">
                <a:solidFill>
                  <a:srgbClr val="2BA4D4"/>
                </a:solidFill>
                <a:latin typeface="Georgia"/>
                <a:ea typeface="Georgia"/>
                <a:cs typeface="Georgia"/>
                <a:sym typeface="Georgia"/>
              </a:rPr>
              <a:t>Decisional DH (DDH)</a:t>
            </a:r>
            <a:endParaRPr sz="1400" b="0" i="0" u="none" strike="noStrike" cap="none">
              <a:solidFill>
                <a:schemeClr val="dk1"/>
              </a:solidFill>
              <a:latin typeface="Calibri"/>
              <a:ea typeface="Calibri"/>
              <a:cs typeface="Calibri"/>
              <a:sym typeface="Calibri"/>
            </a:endParaRPr>
          </a:p>
        </p:txBody>
      </p:sp>
      <p:sp>
        <p:nvSpPr>
          <p:cNvPr id="478" name="Google Shape;478;p30"/>
          <p:cNvSpPr/>
          <p:nvPr/>
        </p:nvSpPr>
        <p:spPr>
          <a:xfrm>
            <a:off x="4937760" y="1554480"/>
            <a:ext cx="3474720" cy="19202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Given:</a:t>
            </a:r>
            <a:endParaRPr sz="12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1E293B"/>
              </a:buClr>
              <a:buSzPts val="1300"/>
              <a:buFont typeface="Consolas"/>
              <a:buNone/>
            </a:pPr>
            <a:r>
              <a:rPr lang="en-US" sz="1300" b="0" i="0" u="none" strike="noStrike" cap="none">
                <a:solidFill>
                  <a:srgbClr val="1E293B"/>
                </a:solidFill>
                <a:latin typeface="Consolas"/>
                <a:ea typeface="Consolas"/>
                <a:cs typeface="Consolas"/>
                <a:sym typeface="Consolas"/>
              </a:rPr>
              <a:t>p, g, g^a, g^b, g^c</a:t>
            </a:r>
            <a:endParaRPr sz="1200" b="0" i="0" u="none" strike="noStrike" cap="none">
              <a:solidFill>
                <a:schemeClr val="dk1"/>
              </a:solidFill>
              <a:latin typeface="Calibri"/>
              <a:ea typeface="Calibri"/>
              <a:cs typeface="Calibri"/>
              <a:sym typeface="Calibri"/>
            </a:endParaRPr>
          </a:p>
          <a:p>
            <a:pPr marL="0" marR="0" lvl="0" indent="0" algn="l" rtl="0">
              <a:spcBef>
                <a:spcPts val="1200"/>
              </a:spcBef>
              <a:spcAft>
                <a:spcPts val="0"/>
              </a:spcAft>
              <a:buClr>
                <a:srgbClr val="2BA4D4"/>
              </a:buClr>
              <a:buSzPts val="1300"/>
              <a:buFont typeface="Consolas"/>
              <a:buNone/>
            </a:pPr>
            <a:r>
              <a:rPr lang="en-US" sz="1300" b="1" i="0" u="none" strike="noStrike" cap="none">
                <a:solidFill>
                  <a:srgbClr val="2BA4D4"/>
                </a:solidFill>
                <a:latin typeface="Consolas"/>
                <a:ea typeface="Consolas"/>
                <a:cs typeface="Consolas"/>
                <a:sym typeface="Consolas"/>
              </a:rPr>
              <a:t>Goal: Is c = ab mod (p−1)?</a:t>
            </a:r>
            <a:endParaRPr sz="1200" b="0" i="0" u="none" strike="noStrike" cap="none">
              <a:solidFill>
                <a:schemeClr val="dk1"/>
              </a:solidFill>
              <a:latin typeface="Calibri"/>
              <a:ea typeface="Calibri"/>
              <a:cs typeface="Calibri"/>
              <a:sym typeface="Calibri"/>
            </a:endParaRPr>
          </a:p>
          <a:p>
            <a:pPr marL="0" marR="0" lvl="0" indent="0" algn="l" rtl="0">
              <a:spcBef>
                <a:spcPts val="1400"/>
              </a:spcBef>
              <a:spcAft>
                <a:spcPts val="0"/>
              </a:spcAft>
              <a:buClr>
                <a:srgbClr val="64748B"/>
              </a:buClr>
              <a:buSzPts val="1200"/>
              <a:buFont typeface="Calibri"/>
              <a:buNone/>
            </a:pPr>
            <a:r>
              <a:rPr lang="en-US" sz="1200" b="0" i="0" u="none" strike="noStrike" cap="none">
                <a:solidFill>
                  <a:srgbClr val="64748B"/>
                </a:solidFill>
                <a:latin typeface="Calibri"/>
                <a:ea typeface="Calibri"/>
                <a:cs typeface="Calibri"/>
                <a:sym typeface="Calibri"/>
              </a:rPr>
              <a:t>Distinguish real from random.</a:t>
            </a:r>
            <a:endParaRPr sz="12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200"/>
              <a:buFont typeface="Calibri"/>
              <a:buNone/>
            </a:pPr>
            <a:r>
              <a:rPr lang="en-US" sz="1200" b="1" i="0" u="none" strike="noStrike" cap="none">
                <a:solidFill>
                  <a:srgbClr val="1E293B"/>
                </a:solidFill>
                <a:latin typeface="Calibri"/>
                <a:ea typeface="Calibri"/>
                <a:cs typeface="Calibri"/>
                <a:sym typeface="Calibri"/>
              </a:rPr>
              <a:t>Crucial for ElGamal semantic security.</a:t>
            </a:r>
            <a:endParaRPr sz="1200" b="0" i="0" u="none" strike="noStrike" cap="none">
              <a:solidFill>
                <a:schemeClr val="dk1"/>
              </a:solidFill>
              <a:latin typeface="Calibri"/>
              <a:ea typeface="Calibri"/>
              <a:cs typeface="Calibri"/>
              <a:sym typeface="Calibri"/>
            </a:endParaRPr>
          </a:p>
        </p:txBody>
      </p:sp>
      <p:sp>
        <p:nvSpPr>
          <p:cNvPr id="479" name="Google Shape;479;p30"/>
          <p:cNvSpPr/>
          <p:nvPr/>
        </p:nvSpPr>
        <p:spPr>
          <a:xfrm>
            <a:off x="548640" y="3611880"/>
            <a:ext cx="8046720" cy="1005840"/>
          </a:xfrm>
          <a:prstGeom prst="rect">
            <a:avLst/>
          </a:prstGeom>
          <a:solidFill>
            <a:srgbClr val="EFF6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0"/>
          <p:cNvSpPr/>
          <p:nvPr/>
        </p:nvSpPr>
        <p:spPr>
          <a:xfrm>
            <a:off x="777240" y="3657600"/>
            <a:ext cx="2743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300"/>
              <a:buFont typeface="Georgia"/>
              <a:buNone/>
            </a:pPr>
            <a:r>
              <a:rPr lang="en-US" sz="1300" b="1" i="0" u="none" strike="noStrike" cap="none">
                <a:solidFill>
                  <a:srgbClr val="1B7FA6"/>
                </a:solidFill>
                <a:latin typeface="Georgia"/>
                <a:ea typeface="Georgia"/>
                <a:cs typeface="Georgia"/>
                <a:sym typeface="Georgia"/>
              </a:rPr>
              <a:t>Relationship Hierarchy</a:t>
            </a:r>
            <a:endParaRPr sz="1300" b="0" i="0" u="none" strike="noStrike" cap="none">
              <a:solidFill>
                <a:schemeClr val="dk1"/>
              </a:solidFill>
              <a:latin typeface="Calibri"/>
              <a:ea typeface="Calibri"/>
              <a:cs typeface="Calibri"/>
              <a:sym typeface="Calibri"/>
            </a:endParaRPr>
          </a:p>
        </p:txBody>
      </p:sp>
      <p:sp>
        <p:nvSpPr>
          <p:cNvPr id="481" name="Google Shape;481;p30"/>
          <p:cNvSpPr/>
          <p:nvPr/>
        </p:nvSpPr>
        <p:spPr>
          <a:xfrm>
            <a:off x="777240" y="3977640"/>
            <a:ext cx="758952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400"/>
              <a:buFont typeface="Consolas"/>
              <a:buNone/>
            </a:pPr>
            <a:r>
              <a:rPr lang="en-US" sz="1400" b="0" i="0" u="none" strike="noStrike" cap="none">
                <a:solidFill>
                  <a:srgbClr val="1E293B"/>
                </a:solidFill>
                <a:latin typeface="Consolas"/>
                <a:ea typeface="Consolas"/>
                <a:cs typeface="Consolas"/>
                <a:sym typeface="Consolas"/>
              </a:rPr>
              <a:t>DLP hard  →  CDH hard  →  DDH hard  (each implies the next, but not necessarily the reverse)</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486"/>
        <p:cNvGrpSpPr/>
        <p:nvPr/>
      </p:nvGrpSpPr>
      <p:grpSpPr>
        <a:xfrm>
          <a:off x="0" y="0"/>
          <a:ext cx="0" cy="0"/>
          <a:chOff x="0" y="0"/>
          <a:chExt cx="0" cy="0"/>
        </a:xfrm>
      </p:grpSpPr>
      <p:sp>
        <p:nvSpPr>
          <p:cNvPr id="487" name="Google Shape;487;p31"/>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6: Security Analysis and Attacks</a:t>
            </a:r>
            <a:endParaRPr sz="900" b="0" i="0" u="none" strike="noStrike" cap="none">
              <a:solidFill>
                <a:schemeClr val="dk1"/>
              </a:solidFill>
              <a:latin typeface="Calibri"/>
              <a:ea typeface="Calibri"/>
              <a:cs typeface="Calibri"/>
              <a:sym typeface="Calibri"/>
            </a:endParaRPr>
          </a:p>
        </p:txBody>
      </p:sp>
      <p:sp>
        <p:nvSpPr>
          <p:cNvPr id="489" name="Google Shape;489;p31"/>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31</a:t>
            </a:r>
            <a:endParaRPr sz="1000" b="0" i="0" u="none" strike="noStrike" cap="none">
              <a:solidFill>
                <a:schemeClr val="dk1"/>
              </a:solidFill>
              <a:latin typeface="Calibri"/>
              <a:ea typeface="Calibri"/>
              <a:cs typeface="Calibri"/>
              <a:sym typeface="Calibri"/>
            </a:endParaRPr>
          </a:p>
        </p:txBody>
      </p:sp>
      <p:sp>
        <p:nvSpPr>
          <p:cNvPr id="490" name="Google Shape;490;p31"/>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The Logjam Attack (2015)</a:t>
            </a:r>
            <a:endParaRPr sz="2400" b="0" i="0" u="none" strike="noStrike" cap="none">
              <a:solidFill>
                <a:schemeClr val="dk1"/>
              </a:solidFill>
              <a:latin typeface="Calibri"/>
              <a:ea typeface="Calibri"/>
              <a:cs typeface="Calibri"/>
              <a:sym typeface="Calibri"/>
            </a:endParaRPr>
          </a:p>
        </p:txBody>
      </p:sp>
      <p:sp>
        <p:nvSpPr>
          <p:cNvPr id="491" name="Google Shape;491;p31"/>
          <p:cNvSpPr/>
          <p:nvPr/>
        </p:nvSpPr>
        <p:spPr>
          <a:xfrm>
            <a:off x="548640" y="1051560"/>
            <a:ext cx="8046720" cy="457200"/>
          </a:xfrm>
          <a:prstGeom prst="rect">
            <a:avLst/>
          </a:prstGeom>
          <a:solidFill>
            <a:srgbClr val="FE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p:cNvSpPr/>
          <p:nvPr/>
        </p:nvSpPr>
        <p:spPr>
          <a:xfrm>
            <a:off x="731520" y="1051560"/>
            <a:ext cx="7680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F4444"/>
              </a:buClr>
              <a:buSzPts val="1400"/>
              <a:buFont typeface="Calibri"/>
              <a:buNone/>
            </a:pPr>
            <a:r>
              <a:rPr lang="en-US" sz="1400" b="1" i="0" u="none" strike="noStrike" cap="none">
                <a:solidFill>
                  <a:srgbClr val="EF4444"/>
                </a:solidFill>
                <a:latin typeface="Calibri"/>
                <a:ea typeface="Calibri"/>
                <a:cs typeface="Calibri"/>
                <a:sym typeface="Calibri"/>
              </a:rPr>
              <a:t>Major real-world attack on 1024-bit Diffie-Hellman</a:t>
            </a:r>
            <a:endParaRPr sz="1400" b="0" i="0" u="none" strike="noStrike" cap="none">
              <a:solidFill>
                <a:schemeClr val="dk1"/>
              </a:solidFill>
              <a:latin typeface="Calibri"/>
              <a:ea typeface="Calibri"/>
              <a:cs typeface="Calibri"/>
              <a:sym typeface="Calibri"/>
            </a:endParaRPr>
          </a:p>
        </p:txBody>
      </p:sp>
      <p:sp>
        <p:nvSpPr>
          <p:cNvPr id="493" name="Google Shape;493;p31"/>
          <p:cNvSpPr/>
          <p:nvPr/>
        </p:nvSpPr>
        <p:spPr>
          <a:xfrm>
            <a:off x="731520" y="1645920"/>
            <a:ext cx="7680960" cy="201168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Many TLS servers reused the same standardized 1024-bit DH groups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Number Field Sieve allows one-time precomputation per group (~$100M, ~1 year)</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After precomputation, individual DH exchanges broken in minutes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All connections using that group become vulnerable at once</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Led to widespread upgrade to 2048-bit+ groups across the internet</a:t>
            </a:r>
            <a:endParaRPr sz="1400" b="0" i="0" u="none" strike="noStrike" cap="none">
              <a:solidFill>
                <a:schemeClr val="dk1"/>
              </a:solidFill>
              <a:latin typeface="Calibri"/>
              <a:ea typeface="Calibri"/>
              <a:cs typeface="Calibri"/>
              <a:sym typeface="Calibri"/>
            </a:endParaRPr>
          </a:p>
        </p:txBody>
      </p:sp>
      <p:sp>
        <p:nvSpPr>
          <p:cNvPr id="494" name="Google Shape;494;p31"/>
          <p:cNvSpPr/>
          <p:nvPr/>
        </p:nvSpPr>
        <p:spPr>
          <a:xfrm>
            <a:off x="548640" y="3794760"/>
            <a:ext cx="8046720" cy="914400"/>
          </a:xfrm>
          <a:prstGeom prst="rect">
            <a:avLst/>
          </a:prstGeom>
          <a:solidFill>
            <a:srgbClr val="FEF3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p:cNvSpPr/>
          <p:nvPr/>
        </p:nvSpPr>
        <p:spPr>
          <a:xfrm>
            <a:off x="777240" y="3822192"/>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2400E"/>
              </a:buClr>
              <a:buSzPts val="1300"/>
              <a:buFont typeface="Georgia"/>
              <a:buNone/>
            </a:pPr>
            <a:r>
              <a:rPr lang="en-US" sz="1300" b="1" i="0" u="none" strike="noStrike" cap="none">
                <a:solidFill>
                  <a:srgbClr val="92400E"/>
                </a:solidFill>
                <a:latin typeface="Georgia"/>
                <a:ea typeface="Georgia"/>
                <a:cs typeface="Georgia"/>
                <a:sym typeface="Georgia"/>
              </a:rPr>
              <a:t>Also: Small Subgroup Attacks</a:t>
            </a:r>
            <a:endParaRPr sz="1300" b="0" i="0" u="none" strike="noStrike" cap="none">
              <a:solidFill>
                <a:schemeClr val="dk1"/>
              </a:solidFill>
              <a:latin typeface="Calibri"/>
              <a:ea typeface="Calibri"/>
              <a:cs typeface="Calibri"/>
              <a:sym typeface="Calibri"/>
            </a:endParaRPr>
          </a:p>
        </p:txBody>
      </p:sp>
      <p:sp>
        <p:nvSpPr>
          <p:cNvPr id="496" name="Google Shape;496;p31"/>
          <p:cNvSpPr/>
          <p:nvPr/>
        </p:nvSpPr>
        <p:spPr>
          <a:xfrm>
            <a:off x="777240" y="4114800"/>
            <a:ext cx="758952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E293B"/>
              </a:buClr>
              <a:buSzPts val="1200"/>
              <a:buFont typeface="Calibri"/>
              <a:buNone/>
            </a:pPr>
            <a:r>
              <a:rPr lang="en-US" sz="1200" b="0" i="0" u="none" strike="noStrike" cap="none">
                <a:solidFill>
                  <a:srgbClr val="1E293B"/>
                </a:solidFill>
                <a:latin typeface="Calibri"/>
                <a:ea typeface="Calibri"/>
                <a:cs typeface="Calibri"/>
                <a:sym typeface="Calibri"/>
              </a:rPr>
              <a:t>If p−1 has small prime factors, adversary can send malicious values that leak private key bits. Defense: use safe primes (p = 2q+1) or validate received values.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501"/>
        <p:cNvGrpSpPr/>
        <p:nvPr/>
      </p:nvGrpSpPr>
      <p:grpSpPr>
        <a:xfrm>
          <a:off x="0" y="0"/>
          <a:ext cx="0" cy="0"/>
          <a:chOff x="0" y="0"/>
          <a:chExt cx="0" cy="0"/>
        </a:xfrm>
      </p:grpSpPr>
      <p:sp>
        <p:nvSpPr>
          <p:cNvPr id="502" name="Google Shape;502;p32"/>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2"/>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6: Security Analysis and Attacks</a:t>
            </a:r>
            <a:endParaRPr sz="900" b="0" i="0" u="none" strike="noStrike" cap="none">
              <a:solidFill>
                <a:schemeClr val="dk1"/>
              </a:solidFill>
              <a:latin typeface="Calibri"/>
              <a:ea typeface="Calibri"/>
              <a:cs typeface="Calibri"/>
              <a:sym typeface="Calibri"/>
            </a:endParaRPr>
          </a:p>
        </p:txBody>
      </p:sp>
      <p:sp>
        <p:nvSpPr>
          <p:cNvPr id="504" name="Google Shape;504;p32"/>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32</a:t>
            </a:r>
            <a:endParaRPr sz="1000" b="0" i="0" u="none" strike="noStrike" cap="none">
              <a:solidFill>
                <a:schemeClr val="dk1"/>
              </a:solidFill>
              <a:latin typeface="Calibri"/>
              <a:ea typeface="Calibri"/>
              <a:cs typeface="Calibri"/>
              <a:sym typeface="Calibri"/>
            </a:endParaRPr>
          </a:p>
        </p:txBody>
      </p:sp>
      <p:sp>
        <p:nvSpPr>
          <p:cNvPr id="505" name="Google Shape;505;p32"/>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Case Study: Sony PlayStation 3 Hack (2010)</a:t>
            </a:r>
            <a:endParaRPr sz="2400" b="0" i="0" u="none" strike="noStrike" cap="none">
              <a:solidFill>
                <a:schemeClr val="dk1"/>
              </a:solidFill>
              <a:latin typeface="Calibri"/>
              <a:ea typeface="Calibri"/>
              <a:cs typeface="Calibri"/>
              <a:sym typeface="Calibri"/>
            </a:endParaRPr>
          </a:p>
        </p:txBody>
      </p:sp>
      <p:sp>
        <p:nvSpPr>
          <p:cNvPr id="506" name="Google Shape;506;p32"/>
          <p:cNvSpPr/>
          <p:nvPr/>
        </p:nvSpPr>
        <p:spPr>
          <a:xfrm>
            <a:off x="548640" y="1097280"/>
            <a:ext cx="8046720" cy="3474720"/>
          </a:xfrm>
          <a:prstGeom prst="rect">
            <a:avLst/>
          </a:prstGeom>
          <a:solidFill>
            <a:srgbClr val="FFFF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2"/>
          <p:cNvSpPr/>
          <p:nvPr/>
        </p:nvSpPr>
        <p:spPr>
          <a:xfrm>
            <a:off x="548640" y="1097280"/>
            <a:ext cx="54864" cy="347472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2"/>
          <p:cNvSpPr/>
          <p:nvPr/>
        </p:nvSpPr>
        <p:spPr>
          <a:xfrm>
            <a:off x="777240" y="118872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500"/>
              <a:buFont typeface="Georgia"/>
              <a:buNone/>
            </a:pPr>
            <a:r>
              <a:rPr lang="en-US" sz="1500" b="1" i="0" u="none" strike="noStrike" cap="none">
                <a:solidFill>
                  <a:srgbClr val="EF4444"/>
                </a:solidFill>
                <a:latin typeface="Georgia"/>
                <a:ea typeface="Georgia"/>
                <a:cs typeface="Georgia"/>
                <a:sym typeface="Georgia"/>
              </a:rPr>
              <a:t>What happened?</a:t>
            </a:r>
            <a:endParaRPr sz="1500" b="0" i="0" u="none" strike="noStrike" cap="none">
              <a:solidFill>
                <a:schemeClr val="dk1"/>
              </a:solidFill>
              <a:latin typeface="Calibri"/>
              <a:ea typeface="Calibri"/>
              <a:cs typeface="Calibri"/>
              <a:sym typeface="Calibri"/>
            </a:endParaRPr>
          </a:p>
        </p:txBody>
      </p:sp>
      <p:sp>
        <p:nvSpPr>
          <p:cNvPr id="509" name="Google Shape;509;p32"/>
          <p:cNvSpPr/>
          <p:nvPr/>
        </p:nvSpPr>
        <p:spPr>
          <a:xfrm>
            <a:off x="777240" y="1554480"/>
            <a:ext cx="7589520" cy="14630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Sony used ECDSA (elliptic curve DSA) for PS3 firmware signing</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EF4444"/>
              </a:buClr>
              <a:buSzPts val="1400"/>
              <a:buFont typeface="Calibri"/>
              <a:buNone/>
            </a:pPr>
            <a:r>
              <a:rPr lang="en-US" sz="1400" b="1" i="0" u="none" strike="noStrike" cap="none">
                <a:solidFill>
                  <a:srgbClr val="EF4444"/>
                </a:solidFill>
                <a:latin typeface="Calibri"/>
                <a:ea typeface="Calibri"/>
                <a:cs typeface="Calibri"/>
                <a:sym typeface="Calibri"/>
              </a:rPr>
              <a:t>They used a CONSTANT k (nonce) for every signature</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Researchers analyzed two firmware signatures</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EF4444"/>
              </a:buClr>
              <a:buSzPts val="1400"/>
              <a:buFont typeface="Calibri"/>
              <a:buNone/>
            </a:pPr>
            <a:r>
              <a:rPr lang="en-US" sz="1400" b="1" i="0" u="none" strike="noStrike" cap="none">
                <a:solidFill>
                  <a:srgbClr val="EF4444"/>
                </a:solidFill>
                <a:latin typeface="Calibri"/>
                <a:ea typeface="Calibri"/>
                <a:cs typeface="Calibri"/>
                <a:sym typeface="Calibri"/>
              </a:rPr>
              <a:t>→ Recovered Sony's private signing key completely</a:t>
            </a:r>
            <a:endParaRPr sz="1300" b="0" i="0" u="none" strike="noStrike" cap="none">
              <a:solidFill>
                <a:schemeClr val="dk1"/>
              </a:solidFill>
              <a:latin typeface="Calibri"/>
              <a:ea typeface="Calibri"/>
              <a:cs typeface="Calibri"/>
              <a:sym typeface="Calibri"/>
            </a:endParaRPr>
          </a:p>
        </p:txBody>
      </p:sp>
      <p:sp>
        <p:nvSpPr>
          <p:cNvPr id="510" name="Google Shape;510;p32"/>
          <p:cNvSpPr/>
          <p:nvPr/>
        </p:nvSpPr>
        <p:spPr>
          <a:xfrm>
            <a:off x="777240" y="301752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500"/>
              <a:buFont typeface="Georgia"/>
              <a:buNone/>
            </a:pPr>
            <a:r>
              <a:rPr lang="en-US" sz="1500" b="1" i="0" u="none" strike="noStrike" cap="none">
                <a:solidFill>
                  <a:srgbClr val="1E293B"/>
                </a:solidFill>
                <a:latin typeface="Georgia"/>
                <a:ea typeface="Georgia"/>
                <a:cs typeface="Georgia"/>
                <a:sym typeface="Georgia"/>
              </a:rPr>
              <a:t>Impact</a:t>
            </a:r>
            <a:endParaRPr sz="1500" b="0" i="0" u="none" strike="noStrike" cap="none">
              <a:solidFill>
                <a:schemeClr val="dk1"/>
              </a:solidFill>
              <a:latin typeface="Calibri"/>
              <a:ea typeface="Calibri"/>
              <a:cs typeface="Calibri"/>
              <a:sym typeface="Calibri"/>
            </a:endParaRPr>
          </a:p>
        </p:txBody>
      </p:sp>
      <p:sp>
        <p:nvSpPr>
          <p:cNvPr id="511" name="Google Shape;511;p32"/>
          <p:cNvSpPr/>
          <p:nvPr/>
        </p:nvSpPr>
        <p:spPr>
          <a:xfrm>
            <a:off x="777240" y="3337560"/>
            <a:ext cx="7589520" cy="91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Anyone could sign arbitrary code and run it on PS3</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Enabled homebrew software and piracy</a:t>
            </a:r>
            <a:endParaRPr sz="13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rgbClr val="1E293B"/>
              </a:buClr>
              <a:buSzPts val="1300"/>
              <a:buFont typeface="Calibri"/>
              <a:buNone/>
            </a:pPr>
            <a:r>
              <a:rPr lang="en-US" sz="1300" b="0" i="0" u="none" strike="noStrike" cap="none">
                <a:solidFill>
                  <a:srgbClr val="1E293B"/>
                </a:solidFill>
                <a:latin typeface="Calibri"/>
                <a:ea typeface="Calibri"/>
                <a:cs typeface="Calibri"/>
                <a:sym typeface="Calibri"/>
              </a:rPr>
              <a:t>Sony could not fix without replacing hardware keys</a:t>
            </a:r>
            <a:endParaRPr sz="1300" b="0" i="0" u="none" strike="noStrike" cap="none">
              <a:solidFill>
                <a:schemeClr val="dk1"/>
              </a:solidFill>
              <a:latin typeface="Calibri"/>
              <a:ea typeface="Calibri"/>
              <a:cs typeface="Calibri"/>
              <a:sym typeface="Calibri"/>
            </a:endParaRPr>
          </a:p>
        </p:txBody>
      </p:sp>
      <p:sp>
        <p:nvSpPr>
          <p:cNvPr id="512" name="Google Shape;512;p32"/>
          <p:cNvSpPr/>
          <p:nvPr/>
        </p:nvSpPr>
        <p:spPr>
          <a:xfrm>
            <a:off x="548640" y="4663440"/>
            <a:ext cx="8046720" cy="0"/>
          </a:xfrm>
          <a:prstGeom prst="rect">
            <a:avLst/>
          </a:prstGeom>
          <a:solidFill>
            <a:srgbClr val="ECFD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517"/>
        <p:cNvGrpSpPr/>
        <p:nvPr/>
      </p:nvGrpSpPr>
      <p:grpSpPr>
        <a:xfrm>
          <a:off x="0" y="0"/>
          <a:ext cx="0" cy="0"/>
          <a:chOff x="0" y="0"/>
          <a:chExt cx="0" cy="0"/>
        </a:xfrm>
      </p:grpSpPr>
      <p:sp>
        <p:nvSpPr>
          <p:cNvPr id="518" name="Google Shape;518;p33"/>
          <p:cNvSpPr/>
          <p:nvPr/>
        </p:nvSpPr>
        <p:spPr>
          <a:xfrm>
            <a:off x="731520" y="914400"/>
            <a:ext cx="1828800" cy="228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B7FA6"/>
              </a:buClr>
              <a:buSzPts val="9600"/>
              <a:buFont typeface="Georgia"/>
              <a:buNone/>
            </a:pPr>
            <a:r>
              <a:rPr lang="en-US" sz="9600" b="1" i="0" u="none" strike="noStrike" cap="none">
                <a:solidFill>
                  <a:srgbClr val="1B7FA6"/>
                </a:solidFill>
                <a:latin typeface="Georgia"/>
                <a:ea typeface="Georgia"/>
                <a:cs typeface="Georgia"/>
                <a:sym typeface="Georgia"/>
              </a:rPr>
              <a:t>07</a:t>
            </a:r>
            <a:endParaRPr sz="9600" b="0" i="0" u="none" strike="noStrike" cap="none">
              <a:solidFill>
                <a:schemeClr val="dk1"/>
              </a:solidFill>
              <a:latin typeface="Calibri"/>
              <a:ea typeface="Calibri"/>
              <a:cs typeface="Calibri"/>
              <a:sym typeface="Calibri"/>
            </a:endParaRPr>
          </a:p>
        </p:txBody>
      </p:sp>
      <p:sp>
        <p:nvSpPr>
          <p:cNvPr id="519" name="Google Shape;519;p33"/>
          <p:cNvSpPr/>
          <p:nvPr/>
        </p:nvSpPr>
        <p:spPr>
          <a:xfrm>
            <a:off x="914400" y="1828800"/>
            <a:ext cx="731520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3600"/>
              <a:buFont typeface="Georgia"/>
              <a:buNone/>
            </a:pPr>
            <a:r>
              <a:rPr lang="en-US" sz="3600" b="1" i="0" u="none" strike="noStrike" cap="none">
                <a:solidFill>
                  <a:srgbClr val="FFFFFF"/>
                </a:solidFill>
                <a:latin typeface="Georgia"/>
                <a:ea typeface="Georgia"/>
                <a:cs typeface="Georgia"/>
                <a:sym typeface="Georgia"/>
              </a:rPr>
              <a:t>Conclusion</a:t>
            </a:r>
            <a:endParaRPr sz="3600" b="0" i="0" u="none" strike="noStrike" cap="none">
              <a:solidFill>
                <a:schemeClr val="dk1"/>
              </a:solidFill>
              <a:latin typeface="Calibri"/>
              <a:ea typeface="Calibri"/>
              <a:cs typeface="Calibri"/>
              <a:sym typeface="Calibri"/>
            </a:endParaRPr>
          </a:p>
        </p:txBody>
      </p:sp>
      <p:sp>
        <p:nvSpPr>
          <p:cNvPr id="520" name="Google Shape;520;p33"/>
          <p:cNvSpPr/>
          <p:nvPr/>
        </p:nvSpPr>
        <p:spPr>
          <a:xfrm>
            <a:off x="914400" y="2926080"/>
            <a:ext cx="73152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2BA4D4"/>
              </a:buClr>
              <a:buSzPts val="1600"/>
              <a:buFont typeface="Calibri"/>
              <a:buNone/>
            </a:pPr>
            <a:r>
              <a:rPr lang="en-US" sz="1600" b="0" i="0" u="none" strike="noStrike" cap="none">
                <a:solidFill>
                  <a:srgbClr val="2BA4D4"/>
                </a:solidFill>
                <a:latin typeface="Calibri"/>
                <a:ea typeface="Calibri"/>
                <a:cs typeface="Calibri"/>
                <a:sym typeface="Calibri"/>
              </a:rPr>
              <a:t>Summary and looking ahead</a:t>
            </a:r>
            <a:endParaRPr sz="1600" b="0" i="0" u="none" strike="noStrike" cap="none">
              <a:solidFill>
                <a:schemeClr val="dk1"/>
              </a:solidFill>
              <a:latin typeface="Calibri"/>
              <a:ea typeface="Calibri"/>
              <a:cs typeface="Calibri"/>
              <a:sym typeface="Calibri"/>
            </a:endParaRPr>
          </a:p>
        </p:txBody>
      </p:sp>
      <p:sp>
        <p:nvSpPr>
          <p:cNvPr id="521" name="Google Shape;521;p33"/>
          <p:cNvSpPr/>
          <p:nvPr/>
        </p:nvSpPr>
        <p:spPr>
          <a:xfrm>
            <a:off x="914400" y="4206240"/>
            <a:ext cx="22860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3"/>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527"/>
        <p:cNvGrpSpPr/>
        <p:nvPr/>
      </p:nvGrpSpPr>
      <p:grpSpPr>
        <a:xfrm>
          <a:off x="0" y="0"/>
          <a:ext cx="0" cy="0"/>
          <a:chOff x="0" y="0"/>
          <a:chExt cx="0" cy="0"/>
        </a:xfrm>
      </p:grpSpPr>
      <p:sp>
        <p:nvSpPr>
          <p:cNvPr id="528" name="Google Shape;528;p34"/>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4"/>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7: Conclusion</a:t>
            </a:r>
            <a:endParaRPr sz="900" b="0" i="0" u="none" strike="noStrike" cap="none">
              <a:solidFill>
                <a:schemeClr val="dk1"/>
              </a:solidFill>
              <a:latin typeface="Calibri"/>
              <a:ea typeface="Calibri"/>
              <a:cs typeface="Calibri"/>
              <a:sym typeface="Calibri"/>
            </a:endParaRPr>
          </a:p>
        </p:txBody>
      </p:sp>
      <p:sp>
        <p:nvSpPr>
          <p:cNvPr id="530" name="Google Shape;530;p34"/>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34</a:t>
            </a:r>
            <a:endParaRPr sz="1000" b="0" i="0" u="none" strike="noStrike" cap="none">
              <a:solidFill>
                <a:schemeClr val="dk1"/>
              </a:solidFill>
              <a:latin typeface="Calibri"/>
              <a:ea typeface="Calibri"/>
              <a:cs typeface="Calibri"/>
              <a:sym typeface="Calibri"/>
            </a:endParaRPr>
          </a:p>
        </p:txBody>
      </p:sp>
      <p:sp>
        <p:nvSpPr>
          <p:cNvPr id="531" name="Google Shape;531;p34"/>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Key Takeaways</a:t>
            </a:r>
            <a:endParaRPr sz="2400" b="0" i="0" u="none" strike="noStrike" cap="none">
              <a:solidFill>
                <a:schemeClr val="dk1"/>
              </a:solidFill>
              <a:latin typeface="Calibri"/>
              <a:ea typeface="Calibri"/>
              <a:cs typeface="Calibri"/>
              <a:sym typeface="Calibri"/>
            </a:endParaRPr>
          </a:p>
        </p:txBody>
      </p:sp>
      <p:sp>
        <p:nvSpPr>
          <p:cNvPr id="532" name="Google Shape;532;p34"/>
          <p:cNvSpPr/>
          <p:nvPr/>
        </p:nvSpPr>
        <p:spPr>
          <a:xfrm>
            <a:off x="548640" y="1051560"/>
            <a:ext cx="54864" cy="384048"/>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p:cNvSpPr/>
          <p:nvPr/>
        </p:nvSpPr>
        <p:spPr>
          <a:xfrm>
            <a:off x="777240" y="1051560"/>
            <a:ext cx="8046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50"/>
              <a:buFont typeface="Calibri"/>
              <a:buNone/>
            </a:pPr>
            <a:r>
              <a:rPr lang="en-US" sz="1350" b="0" i="0" u="none" strike="noStrike" cap="none">
                <a:solidFill>
                  <a:srgbClr val="1E293B"/>
                </a:solidFill>
                <a:latin typeface="Calibri"/>
                <a:ea typeface="Calibri"/>
                <a:cs typeface="Calibri"/>
                <a:sym typeface="Calibri"/>
              </a:rPr>
              <a:t>Diffie-Hellman (1976) revolutionized cryptography — key exchange over insecure channels</a:t>
            </a:r>
            <a:endParaRPr sz="1350" b="0" i="0" u="none" strike="noStrike" cap="none">
              <a:solidFill>
                <a:schemeClr val="dk1"/>
              </a:solidFill>
              <a:latin typeface="Calibri"/>
              <a:ea typeface="Calibri"/>
              <a:cs typeface="Calibri"/>
              <a:sym typeface="Calibri"/>
            </a:endParaRPr>
          </a:p>
        </p:txBody>
      </p:sp>
      <p:sp>
        <p:nvSpPr>
          <p:cNvPr id="534" name="Google Shape;534;p34"/>
          <p:cNvSpPr/>
          <p:nvPr/>
        </p:nvSpPr>
        <p:spPr>
          <a:xfrm>
            <a:off x="548640" y="1581912"/>
            <a:ext cx="54864" cy="384048"/>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4"/>
          <p:cNvSpPr/>
          <p:nvPr/>
        </p:nvSpPr>
        <p:spPr>
          <a:xfrm>
            <a:off x="777240" y="1581912"/>
            <a:ext cx="8046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50"/>
              <a:buFont typeface="Calibri"/>
              <a:buNone/>
            </a:pPr>
            <a:r>
              <a:rPr lang="en-US" sz="1350" b="0" i="0" u="none" strike="noStrike" cap="none">
                <a:solidFill>
                  <a:srgbClr val="1E293B"/>
                </a:solidFill>
                <a:latin typeface="Calibri"/>
                <a:ea typeface="Calibri"/>
                <a:cs typeface="Calibri"/>
                <a:sym typeface="Calibri"/>
              </a:rPr>
              <a:t>Security relies on the computational hardness of the Discrete Logarithm Problem</a:t>
            </a:r>
            <a:endParaRPr sz="1350" b="0" i="0" u="none" strike="noStrike" cap="none">
              <a:solidFill>
                <a:schemeClr val="dk1"/>
              </a:solidFill>
              <a:latin typeface="Calibri"/>
              <a:ea typeface="Calibri"/>
              <a:cs typeface="Calibri"/>
              <a:sym typeface="Calibri"/>
            </a:endParaRPr>
          </a:p>
        </p:txBody>
      </p:sp>
      <p:sp>
        <p:nvSpPr>
          <p:cNvPr id="536" name="Google Shape;536;p34"/>
          <p:cNvSpPr/>
          <p:nvPr/>
        </p:nvSpPr>
        <p:spPr>
          <a:xfrm>
            <a:off x="548640" y="2112264"/>
            <a:ext cx="54864" cy="384048"/>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p:cNvSpPr/>
          <p:nvPr/>
        </p:nvSpPr>
        <p:spPr>
          <a:xfrm>
            <a:off x="777240" y="2112264"/>
            <a:ext cx="8046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50"/>
              <a:buFont typeface="Calibri"/>
              <a:buNone/>
            </a:pPr>
            <a:r>
              <a:rPr lang="en-US" sz="1350" b="0" i="0" u="none" strike="noStrike" cap="none">
                <a:solidFill>
                  <a:srgbClr val="1E293B"/>
                </a:solidFill>
                <a:latin typeface="Calibri"/>
                <a:ea typeface="Calibri"/>
                <a:cs typeface="Calibri"/>
                <a:sym typeface="Calibri"/>
              </a:rPr>
              <a:t>Basic DH is vulnerable to MITM — always authenticate with signatures or certificates</a:t>
            </a:r>
            <a:endParaRPr sz="1350" b="0" i="0" u="none" strike="noStrike" cap="none">
              <a:solidFill>
                <a:schemeClr val="dk1"/>
              </a:solidFill>
              <a:latin typeface="Calibri"/>
              <a:ea typeface="Calibri"/>
              <a:cs typeface="Calibri"/>
              <a:sym typeface="Calibri"/>
            </a:endParaRPr>
          </a:p>
        </p:txBody>
      </p:sp>
      <p:sp>
        <p:nvSpPr>
          <p:cNvPr id="538" name="Google Shape;538;p34"/>
          <p:cNvSpPr/>
          <p:nvPr/>
        </p:nvSpPr>
        <p:spPr>
          <a:xfrm>
            <a:off x="548640" y="2642616"/>
            <a:ext cx="54864" cy="384048"/>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4"/>
          <p:cNvSpPr/>
          <p:nvPr/>
        </p:nvSpPr>
        <p:spPr>
          <a:xfrm>
            <a:off x="777240" y="2642616"/>
            <a:ext cx="8046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50"/>
              <a:buFont typeface="Calibri"/>
              <a:buNone/>
            </a:pPr>
            <a:r>
              <a:rPr lang="en-US" sz="1350" b="0" i="0" u="none" strike="noStrike" cap="none">
                <a:solidFill>
                  <a:srgbClr val="1E293B"/>
                </a:solidFill>
                <a:latin typeface="Calibri"/>
                <a:ea typeface="Calibri"/>
                <a:cs typeface="Calibri"/>
                <a:sym typeface="Calibri"/>
              </a:rPr>
              <a:t>Cyclic groups and generators provide the mathematical foundation</a:t>
            </a:r>
            <a:endParaRPr sz="1350" b="0" i="0" u="none" strike="noStrike" cap="none">
              <a:solidFill>
                <a:schemeClr val="dk1"/>
              </a:solidFill>
              <a:latin typeface="Calibri"/>
              <a:ea typeface="Calibri"/>
              <a:cs typeface="Calibri"/>
              <a:sym typeface="Calibri"/>
            </a:endParaRPr>
          </a:p>
        </p:txBody>
      </p:sp>
      <p:sp>
        <p:nvSpPr>
          <p:cNvPr id="540" name="Google Shape;540;p34"/>
          <p:cNvSpPr/>
          <p:nvPr/>
        </p:nvSpPr>
        <p:spPr>
          <a:xfrm>
            <a:off x="548640" y="3172968"/>
            <a:ext cx="54864" cy="384048"/>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p:cNvSpPr/>
          <p:nvPr/>
        </p:nvSpPr>
        <p:spPr>
          <a:xfrm>
            <a:off x="777240" y="3172968"/>
            <a:ext cx="8046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50"/>
              <a:buFont typeface="Calibri"/>
              <a:buNone/>
            </a:pPr>
            <a:r>
              <a:rPr lang="en-US" sz="1350" b="0" i="0" u="none" strike="noStrike" cap="none">
                <a:solidFill>
                  <a:srgbClr val="1E293B"/>
                </a:solidFill>
                <a:latin typeface="Calibri"/>
                <a:ea typeface="Calibri"/>
                <a:cs typeface="Calibri"/>
                <a:sym typeface="Calibri"/>
              </a:rPr>
              <a:t>ElGamal extends DH into a full public-key encryption + signature system</a:t>
            </a:r>
            <a:endParaRPr sz="1350" b="0" i="0" u="none" strike="noStrike" cap="none">
              <a:solidFill>
                <a:schemeClr val="dk1"/>
              </a:solidFill>
              <a:latin typeface="Calibri"/>
              <a:ea typeface="Calibri"/>
              <a:cs typeface="Calibri"/>
              <a:sym typeface="Calibri"/>
            </a:endParaRPr>
          </a:p>
        </p:txBody>
      </p:sp>
      <p:sp>
        <p:nvSpPr>
          <p:cNvPr id="542" name="Google Shape;542;p34"/>
          <p:cNvSpPr/>
          <p:nvPr/>
        </p:nvSpPr>
        <p:spPr>
          <a:xfrm>
            <a:off x="548640" y="3703320"/>
            <a:ext cx="54864" cy="384048"/>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4"/>
          <p:cNvSpPr/>
          <p:nvPr/>
        </p:nvSpPr>
        <p:spPr>
          <a:xfrm>
            <a:off x="777240" y="3703320"/>
            <a:ext cx="8046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50"/>
              <a:buFont typeface="Calibri"/>
              <a:buNone/>
            </a:pPr>
            <a:r>
              <a:rPr lang="en-US" sz="1350" b="0" i="0" u="none" strike="noStrike" cap="none">
                <a:solidFill>
                  <a:srgbClr val="1E293B"/>
                </a:solidFill>
                <a:latin typeface="Calibri"/>
                <a:ea typeface="Calibri"/>
                <a:cs typeface="Calibri"/>
                <a:sym typeface="Calibri"/>
              </a:rPr>
              <a:t>DSA provides efficient standardized signatures based on DLP</a:t>
            </a:r>
            <a:endParaRPr sz="1350" b="0" i="0" u="none" strike="noStrike" cap="none">
              <a:solidFill>
                <a:schemeClr val="dk1"/>
              </a:solidFill>
              <a:latin typeface="Calibri"/>
              <a:ea typeface="Calibri"/>
              <a:cs typeface="Calibri"/>
              <a:sym typeface="Calibri"/>
            </a:endParaRPr>
          </a:p>
        </p:txBody>
      </p:sp>
      <p:sp>
        <p:nvSpPr>
          <p:cNvPr id="544" name="Google Shape;544;p34"/>
          <p:cNvSpPr/>
          <p:nvPr/>
        </p:nvSpPr>
        <p:spPr>
          <a:xfrm>
            <a:off x="548640" y="4233672"/>
            <a:ext cx="54864" cy="384048"/>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p:cNvSpPr/>
          <p:nvPr/>
        </p:nvSpPr>
        <p:spPr>
          <a:xfrm>
            <a:off x="777240" y="4233672"/>
            <a:ext cx="804672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50"/>
              <a:buFont typeface="Calibri"/>
              <a:buNone/>
            </a:pPr>
            <a:r>
              <a:rPr lang="en-US" sz="1350" b="0" i="0" u="none" strike="noStrike" cap="none">
                <a:solidFill>
                  <a:srgbClr val="1E293B"/>
                </a:solidFill>
                <a:latin typeface="Calibri"/>
                <a:ea typeface="Calibri"/>
                <a:cs typeface="Calibri"/>
                <a:sym typeface="Calibri"/>
              </a:rPr>
              <a:t>Use 2048-bit+ groups, safe primes, and NEVER reuse nonces</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550"/>
        <p:cNvGrpSpPr/>
        <p:nvPr/>
      </p:nvGrpSpPr>
      <p:grpSpPr>
        <a:xfrm>
          <a:off x="0" y="0"/>
          <a:ext cx="0" cy="0"/>
          <a:chOff x="0" y="0"/>
          <a:chExt cx="0" cy="0"/>
        </a:xfrm>
      </p:grpSpPr>
      <p:sp>
        <p:nvSpPr>
          <p:cNvPr id="551" name="Google Shape;551;p35"/>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5"/>
          <p:cNvSpPr/>
          <p:nvPr/>
        </p:nvSpPr>
        <p:spPr>
          <a:xfrm>
            <a:off x="5029200" y="137160"/>
            <a:ext cx="384048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Section 7: Conclusion</a:t>
            </a:r>
            <a:endParaRPr sz="900" b="0" i="0" u="none" strike="noStrike" cap="none">
              <a:solidFill>
                <a:schemeClr val="dk1"/>
              </a:solidFill>
              <a:latin typeface="Calibri"/>
              <a:ea typeface="Calibri"/>
              <a:cs typeface="Calibri"/>
              <a:sym typeface="Calibri"/>
            </a:endParaRPr>
          </a:p>
        </p:txBody>
      </p:sp>
      <p:sp>
        <p:nvSpPr>
          <p:cNvPr id="553" name="Google Shape;553;p35"/>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35</a:t>
            </a:r>
            <a:endParaRPr sz="1000" b="0" i="0" u="none" strike="noStrike" cap="none">
              <a:solidFill>
                <a:schemeClr val="dk1"/>
              </a:solidFill>
              <a:latin typeface="Calibri"/>
              <a:ea typeface="Calibri"/>
              <a:cs typeface="Calibri"/>
              <a:sym typeface="Calibri"/>
            </a:endParaRPr>
          </a:p>
        </p:txBody>
      </p:sp>
      <p:sp>
        <p:nvSpPr>
          <p:cNvPr id="554" name="Google Shape;554;p35"/>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Looking Forward &amp; Preparation</a:t>
            </a:r>
            <a:endParaRPr sz="2400" b="0" i="0" u="none" strike="noStrike" cap="none">
              <a:solidFill>
                <a:schemeClr val="dk1"/>
              </a:solidFill>
              <a:latin typeface="Calibri"/>
              <a:ea typeface="Calibri"/>
              <a:cs typeface="Calibri"/>
              <a:sym typeface="Calibri"/>
            </a:endParaRPr>
          </a:p>
        </p:txBody>
      </p:sp>
      <p:sp>
        <p:nvSpPr>
          <p:cNvPr id="555" name="Google Shape;555;p35"/>
          <p:cNvSpPr/>
          <p:nvPr/>
        </p:nvSpPr>
        <p:spPr>
          <a:xfrm>
            <a:off x="548640" y="1097280"/>
            <a:ext cx="8046720" cy="1371600"/>
          </a:xfrm>
          <a:prstGeom prst="rect">
            <a:avLst/>
          </a:prstGeom>
          <a:solidFill>
            <a:srgbClr val="EFF6FF"/>
          </a:solidFill>
          <a:ln>
            <a:noFill/>
          </a:ln>
          <a:effectLst>
            <a:outerShdw blurRad="76200" dist="25400" dir="8100000" algn="bl" rotWithShape="0">
              <a:srgbClr val="000000">
                <a:alpha val="1215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5"/>
          <p:cNvSpPr/>
          <p:nvPr/>
        </p:nvSpPr>
        <p:spPr>
          <a:xfrm>
            <a:off x="777240" y="114300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7FA6"/>
              </a:buClr>
              <a:buSzPts val="1600"/>
              <a:buFont typeface="Georgia"/>
              <a:buNone/>
            </a:pPr>
            <a:r>
              <a:rPr lang="en-US" sz="1600" b="1" i="0" u="none" strike="noStrike" cap="none">
                <a:solidFill>
                  <a:srgbClr val="1B7FA6"/>
                </a:solidFill>
                <a:latin typeface="Georgia"/>
                <a:ea typeface="Georgia"/>
                <a:cs typeface="Georgia"/>
                <a:sym typeface="Georgia"/>
              </a:rPr>
              <a:t>Next Lecture (Week 11): Elliptic Curve Cryptography</a:t>
            </a:r>
            <a:endParaRPr sz="1600" b="0" i="0" u="none" strike="noStrike" cap="none">
              <a:solidFill>
                <a:schemeClr val="dk1"/>
              </a:solidFill>
              <a:latin typeface="Calibri"/>
              <a:ea typeface="Calibri"/>
              <a:cs typeface="Calibri"/>
              <a:sym typeface="Calibri"/>
            </a:endParaRPr>
          </a:p>
        </p:txBody>
      </p:sp>
      <p:sp>
        <p:nvSpPr>
          <p:cNvPr id="557" name="Google Shape;557;p35"/>
          <p:cNvSpPr/>
          <p:nvPr/>
        </p:nvSpPr>
        <p:spPr>
          <a:xfrm>
            <a:off x="731520" y="1554480"/>
            <a:ext cx="7680960" cy="82296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Elliptic curves over finite fields and point addition</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ECDH, ECDSA, modern curves (Curve25519, Ed25519)</a:t>
            </a:r>
            <a:endParaRPr sz="13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300"/>
              <a:buFont typeface="Calibri"/>
              <a:buChar char="•"/>
            </a:pPr>
            <a:r>
              <a:rPr lang="en-US" sz="1300" b="0" i="0" u="none" strike="noStrike" cap="none">
                <a:solidFill>
                  <a:srgbClr val="1E293B"/>
                </a:solidFill>
                <a:latin typeface="Calibri"/>
                <a:ea typeface="Calibri"/>
                <a:cs typeface="Calibri"/>
                <a:sym typeface="Calibri"/>
              </a:rPr>
              <a:t>ECC advantages over traditional DH and RSA</a:t>
            </a:r>
            <a:endParaRPr sz="1300" b="0" i="0" u="none" strike="noStrike" cap="none">
              <a:solidFill>
                <a:schemeClr val="dk1"/>
              </a:solidFill>
              <a:latin typeface="Calibri"/>
              <a:ea typeface="Calibri"/>
              <a:cs typeface="Calibri"/>
              <a:sym typeface="Calibri"/>
            </a:endParaRPr>
          </a:p>
        </p:txBody>
      </p:sp>
      <p:sp>
        <p:nvSpPr>
          <p:cNvPr id="558" name="Google Shape;558;p35"/>
          <p:cNvSpPr/>
          <p:nvPr/>
        </p:nvSpPr>
        <p:spPr>
          <a:xfrm>
            <a:off x="548640" y="274320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600"/>
              <a:buFont typeface="Georgia"/>
              <a:buNone/>
            </a:pPr>
            <a:r>
              <a:rPr lang="en-US" sz="1600" b="1" i="0" u="none" strike="noStrike" cap="none">
                <a:solidFill>
                  <a:srgbClr val="1E293B"/>
                </a:solidFill>
                <a:latin typeface="Georgia"/>
                <a:ea typeface="Georgia"/>
                <a:cs typeface="Georgia"/>
                <a:sym typeface="Georgia"/>
              </a:rPr>
              <a:t>Preparation</a:t>
            </a:r>
            <a:endParaRPr sz="1600" b="0" i="0" u="none" strike="noStrike" cap="none">
              <a:solidFill>
                <a:schemeClr val="dk1"/>
              </a:solidFill>
              <a:latin typeface="Calibri"/>
              <a:ea typeface="Calibri"/>
              <a:cs typeface="Calibri"/>
              <a:sym typeface="Calibri"/>
            </a:endParaRPr>
          </a:p>
        </p:txBody>
      </p:sp>
      <p:sp>
        <p:nvSpPr>
          <p:cNvPr id="559" name="Google Shape;559;p35"/>
          <p:cNvSpPr/>
          <p:nvPr/>
        </p:nvSpPr>
        <p:spPr>
          <a:xfrm>
            <a:off x="731520" y="3108960"/>
            <a:ext cx="7680960" cy="14630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Read Ferguson et al., Chapter 13: Introduction to Elliptic Curves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Review group theory and finite fields concepts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Lab: Implement Diffie-Hellman key exchange with different parameter sizes</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rgbClr val="1E293B"/>
              </a:buClr>
              <a:buSzPts val="1400"/>
              <a:buFont typeface="Calibri"/>
              <a:buChar char="•"/>
            </a:pPr>
            <a:r>
              <a:rPr lang="en-US" sz="1400" b="0" i="0" u="none" strike="noStrike" cap="none">
                <a:solidFill>
                  <a:srgbClr val="1E293B"/>
                </a:solidFill>
                <a:latin typeface="Calibri"/>
                <a:ea typeface="Calibri"/>
                <a:cs typeface="Calibri"/>
                <a:sym typeface="Calibri"/>
              </a:rPr>
              <a:t>Study: Weierstrass equation and point addition on elliptic curves</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1929"/>
        </a:solidFill>
        <a:effectLst/>
      </p:bgPr>
    </p:bg>
    <p:spTree>
      <p:nvGrpSpPr>
        <p:cNvPr id="1" name="Shape 564"/>
        <p:cNvGrpSpPr/>
        <p:nvPr/>
      </p:nvGrpSpPr>
      <p:grpSpPr>
        <a:xfrm>
          <a:off x="0" y="0"/>
          <a:ext cx="0" cy="0"/>
          <a:chOff x="0" y="0"/>
          <a:chExt cx="0" cy="0"/>
        </a:xfrm>
      </p:grpSpPr>
      <p:sp>
        <p:nvSpPr>
          <p:cNvPr id="565" name="Google Shape;565;p36"/>
          <p:cNvSpPr/>
          <p:nvPr/>
        </p:nvSpPr>
        <p:spPr>
          <a:xfrm>
            <a:off x="914400" y="1371600"/>
            <a:ext cx="7315200" cy="137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4800"/>
              <a:buFont typeface="Georgia"/>
              <a:buNone/>
            </a:pPr>
            <a:r>
              <a:rPr lang="en-US" sz="4800" b="1" i="0" u="none" strike="noStrike" cap="none">
                <a:solidFill>
                  <a:srgbClr val="FFFFFF"/>
                </a:solidFill>
                <a:latin typeface="Georgia"/>
                <a:ea typeface="Georgia"/>
                <a:cs typeface="Georgia"/>
                <a:sym typeface="Georgia"/>
              </a:rPr>
              <a:t>Questions?</a:t>
            </a:r>
            <a:endParaRPr sz="4800" b="0" i="0" u="none" strike="noStrike" cap="none">
              <a:solidFill>
                <a:schemeClr val="dk1"/>
              </a:solidFill>
              <a:latin typeface="Calibri"/>
              <a:ea typeface="Calibri"/>
              <a:cs typeface="Calibri"/>
              <a:sym typeface="Calibri"/>
            </a:endParaRPr>
          </a:p>
        </p:txBody>
      </p:sp>
      <p:sp>
        <p:nvSpPr>
          <p:cNvPr id="566" name="Google Shape;566;p36"/>
          <p:cNvSpPr/>
          <p:nvPr/>
        </p:nvSpPr>
        <p:spPr>
          <a:xfrm>
            <a:off x="3200400" y="2926080"/>
            <a:ext cx="2743200" cy="36576"/>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6"/>
          <p:cNvSpPr/>
          <p:nvPr/>
        </p:nvSpPr>
        <p:spPr>
          <a:xfrm>
            <a:off x="1828800" y="3200400"/>
            <a:ext cx="5486400"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800"/>
              <a:buFont typeface="Calibri"/>
              <a:buNone/>
            </a:pPr>
            <a:r>
              <a:rPr lang="en-US" sz="1800" b="0" i="0" u="none" strike="noStrike" cap="none">
                <a:solidFill>
                  <a:srgbClr val="64748B"/>
                </a:solidFill>
                <a:latin typeface="Calibri"/>
                <a:ea typeface="Calibri"/>
                <a:cs typeface="Calibri"/>
                <a:sym typeface="Calibri"/>
              </a:rPr>
              <a:t>Thank you for your attention</a:t>
            </a:r>
            <a:endParaRPr sz="1800" b="0" i="0" u="none" strike="noStrike" cap="none">
              <a:solidFill>
                <a:schemeClr val="dk1"/>
              </a:solidFill>
              <a:latin typeface="Calibri"/>
              <a:ea typeface="Calibri"/>
              <a:cs typeface="Calibri"/>
              <a:sym typeface="Calibri"/>
            </a:endParaRPr>
          </a:p>
        </p:txBody>
      </p:sp>
      <p:sp>
        <p:nvSpPr>
          <p:cNvPr id="568" name="Google Shape;568;p36"/>
          <p:cNvSpPr/>
          <p:nvPr/>
        </p:nvSpPr>
        <p:spPr>
          <a:xfrm>
            <a:off x="1828800" y="3840480"/>
            <a:ext cx="54864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4748B"/>
              </a:buClr>
              <a:buSzPts val="1300"/>
              <a:buFont typeface="Calibri"/>
              <a:buNone/>
            </a:pPr>
            <a:r>
              <a:rPr lang="en-US" sz="1300" b="0" i="0" u="none" strike="noStrike" cap="none">
                <a:solidFill>
                  <a:srgbClr val="64748B"/>
                </a:solidFill>
                <a:latin typeface="Calibri"/>
                <a:ea typeface="Calibri"/>
                <a:cs typeface="Calibri"/>
                <a:sym typeface="Calibri"/>
              </a:rPr>
              <a:t>Applied Cryptography  ·  Lecture 10  ·  Week 10</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Shape 573"/>
        <p:cNvGrpSpPr/>
        <p:nvPr/>
      </p:nvGrpSpPr>
      <p:grpSpPr>
        <a:xfrm>
          <a:off x="0" y="0"/>
          <a:ext cx="0" cy="0"/>
          <a:chOff x="0" y="0"/>
          <a:chExt cx="0" cy="0"/>
        </a:xfrm>
      </p:grpSpPr>
      <p:sp>
        <p:nvSpPr>
          <p:cNvPr id="574" name="Google Shape;574;p37"/>
          <p:cNvSpPr/>
          <p:nvPr/>
        </p:nvSpPr>
        <p:spPr>
          <a:xfrm>
            <a:off x="0" y="0"/>
            <a:ext cx="9144000" cy="54864"/>
          </a:xfrm>
          <a:prstGeom prst="rect">
            <a:avLst/>
          </a:prstGeom>
          <a:solidFill>
            <a:srgbClr val="1B7F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7"/>
          <p:cNvSpPr/>
          <p:nvPr/>
        </p:nvSpPr>
        <p:spPr>
          <a:xfrm>
            <a:off x="8229600" y="4754880"/>
            <a:ext cx="640080" cy="32004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4748B"/>
              </a:buClr>
              <a:buSzPts val="1000"/>
              <a:buFont typeface="Calibri"/>
              <a:buNone/>
            </a:pPr>
            <a:r>
              <a:rPr lang="en-US" sz="1000" b="0" i="0" u="none" strike="noStrike" cap="none">
                <a:solidFill>
                  <a:srgbClr val="64748B"/>
                </a:solidFill>
                <a:latin typeface="Calibri"/>
                <a:ea typeface="Calibri"/>
                <a:cs typeface="Calibri"/>
                <a:sym typeface="Calibri"/>
              </a:rPr>
              <a:t>37</a:t>
            </a:r>
            <a:endParaRPr sz="1000" b="0" i="0" u="none" strike="noStrike" cap="none">
              <a:solidFill>
                <a:schemeClr val="dk1"/>
              </a:solidFill>
              <a:latin typeface="Calibri"/>
              <a:ea typeface="Calibri"/>
              <a:cs typeface="Calibri"/>
              <a:sym typeface="Calibri"/>
            </a:endParaRPr>
          </a:p>
        </p:txBody>
      </p:sp>
      <p:sp>
        <p:nvSpPr>
          <p:cNvPr id="576" name="Google Shape;576;p37"/>
          <p:cNvSpPr/>
          <p:nvPr/>
        </p:nvSpPr>
        <p:spPr>
          <a:xfrm>
            <a:off x="548640" y="320040"/>
            <a:ext cx="77724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2400"/>
              <a:buFont typeface="Georgia"/>
              <a:buNone/>
            </a:pPr>
            <a:r>
              <a:rPr lang="en-US" sz="2400" b="1" i="0" u="none" strike="noStrike" cap="none">
                <a:solidFill>
                  <a:srgbClr val="1E293B"/>
                </a:solidFill>
                <a:latin typeface="Georgia"/>
                <a:ea typeface="Georgia"/>
                <a:cs typeface="Georgia"/>
                <a:sym typeface="Georgia"/>
              </a:rPr>
              <a:t>References</a:t>
            </a:r>
            <a:endParaRPr sz="2400" b="0" i="0" u="none" strike="noStrike" cap="none">
              <a:solidFill>
                <a:schemeClr val="dk1"/>
              </a:solidFill>
              <a:latin typeface="Calibri"/>
              <a:ea typeface="Calibri"/>
              <a:cs typeface="Calibri"/>
              <a:sym typeface="Calibri"/>
            </a:endParaRPr>
          </a:p>
        </p:txBody>
      </p:sp>
      <p:sp>
        <p:nvSpPr>
          <p:cNvPr id="577" name="Google Shape;577;p37"/>
          <p:cNvSpPr/>
          <p:nvPr/>
        </p:nvSpPr>
        <p:spPr>
          <a:xfrm>
            <a:off x="731520" y="1097280"/>
            <a:ext cx="7680960" cy="3474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1. </a:t>
            </a:r>
            <a:r>
              <a:rPr lang="en-US" sz="1300" b="0" i="0" u="none" strike="noStrike" cap="none">
                <a:solidFill>
                  <a:srgbClr val="1E293B"/>
                </a:solidFill>
                <a:latin typeface="Calibri"/>
                <a:ea typeface="Calibri"/>
                <a:cs typeface="Calibri"/>
                <a:sym typeface="Calibri"/>
              </a:rPr>
              <a:t>Adrian, D., et al. (2015). Imperfect Forward Secrecy: How Diffie-Hellman Fails in Practice. CCS 2015.</a:t>
            </a:r>
            <a:endParaRPr sz="13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2. </a:t>
            </a:r>
            <a:r>
              <a:rPr lang="en-US" sz="1300" b="0" i="0" u="none" strike="noStrike" cap="none">
                <a:solidFill>
                  <a:srgbClr val="1E293B"/>
                </a:solidFill>
                <a:latin typeface="Calibri"/>
                <a:ea typeface="Calibri"/>
                <a:cs typeface="Calibri"/>
                <a:sym typeface="Calibri"/>
              </a:rPr>
              <a:t>Diffie, W., &amp; Hellman, M. (1976). New Directions in Cryptography. IEEE Trans. Inf. Theory, 22(6).</a:t>
            </a:r>
            <a:endParaRPr sz="13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3. </a:t>
            </a:r>
            <a:r>
              <a:rPr lang="en-US" sz="1300" b="0" i="0" u="none" strike="noStrike" cap="none">
                <a:solidFill>
                  <a:srgbClr val="1E293B"/>
                </a:solidFill>
                <a:latin typeface="Calibri"/>
                <a:ea typeface="Calibri"/>
                <a:cs typeface="Calibri"/>
                <a:sym typeface="Calibri"/>
              </a:rPr>
              <a:t>ElGamal, T. (1985). A Public Key Cryptosystem and Signature Scheme Based on Discrete Logarithms. IEEE Trans. Inf. Theory, 31(4).</a:t>
            </a:r>
            <a:endParaRPr sz="13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4. </a:t>
            </a:r>
            <a:r>
              <a:rPr lang="en-US" sz="1300" b="0" i="0" u="none" strike="noStrike" cap="none">
                <a:solidFill>
                  <a:srgbClr val="1E293B"/>
                </a:solidFill>
                <a:latin typeface="Calibri"/>
                <a:ea typeface="Calibri"/>
                <a:cs typeface="Calibri"/>
                <a:sym typeface="Calibri"/>
              </a:rPr>
              <a:t>Ferguson, N., Schneier, B., &amp; Kohno, T. (2010). Cryptography Engineering. Wiley.</a:t>
            </a:r>
            <a:endParaRPr sz="1300" b="0" i="0" u="none" strike="noStrike" cap="none">
              <a:solidFill>
                <a:schemeClr val="dk1"/>
              </a:solidFill>
              <a:latin typeface="Calibri"/>
              <a:ea typeface="Calibri"/>
              <a:cs typeface="Calibri"/>
              <a:sym typeface="Calibri"/>
            </a:endParaRPr>
          </a:p>
          <a:p>
            <a:pPr marL="0" marR="0" lvl="0" indent="0" algn="l" rtl="0">
              <a:spcBef>
                <a:spcPts val="800"/>
              </a:spcBef>
              <a:spcAft>
                <a:spcPts val="0"/>
              </a:spcAft>
              <a:buClr>
                <a:srgbClr val="1E293B"/>
              </a:buClr>
              <a:buSzPts val="1300"/>
              <a:buFont typeface="Calibri"/>
              <a:buNone/>
            </a:pPr>
            <a:r>
              <a:rPr lang="en-US" sz="1300" b="1" i="0" u="none" strike="noStrike" cap="none">
                <a:solidFill>
                  <a:srgbClr val="1E293B"/>
                </a:solidFill>
                <a:latin typeface="Calibri"/>
                <a:ea typeface="Calibri"/>
                <a:cs typeface="Calibri"/>
                <a:sym typeface="Calibri"/>
              </a:rPr>
              <a:t>5. </a:t>
            </a:r>
            <a:r>
              <a:rPr lang="en-US" sz="1300" b="0" i="0" u="none" strike="noStrike" cap="none">
                <a:solidFill>
                  <a:srgbClr val="1E293B"/>
                </a:solidFill>
                <a:latin typeface="Calibri"/>
                <a:ea typeface="Calibri"/>
                <a:cs typeface="Calibri"/>
                <a:sym typeface="Calibri"/>
              </a:rPr>
              <a:t>NIST (2013). Digital Signature Standard (DSS). FIPS PUB 186-4.</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8D18DF04E7B24DB531D034DE08C523" ma:contentTypeVersion="7" ma:contentTypeDescription="Create a new document." ma:contentTypeScope="" ma:versionID="2f146705a619509e53fdea7820dfa6b4">
  <xsd:schema xmlns:xsd="http://www.w3.org/2001/XMLSchema" xmlns:xs="http://www.w3.org/2001/XMLSchema" xmlns:p="http://schemas.microsoft.com/office/2006/metadata/properties" xmlns:ns2="97039dda-64f8-41f1-b3d6-f92ff14c1096" targetNamespace="http://schemas.microsoft.com/office/2006/metadata/properties" ma:root="true" ma:fieldsID="2a79d2ce18ff50e49312cd391f8a06b9" ns2:_="">
    <xsd:import namespace="97039dda-64f8-41f1-b3d6-f92ff14c10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039dda-64f8-41f1-b3d6-f92ff14c10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8DC210-8E60-4C54-9ABE-AEC86E7091E0}">
  <ds:schemaRefs>
    <ds:schemaRef ds:uri="http://schemas.microsoft.com/sharepoint/v3/contenttype/forms"/>
  </ds:schemaRefs>
</ds:datastoreItem>
</file>

<file path=customXml/itemProps2.xml><?xml version="1.0" encoding="utf-8"?>
<ds:datastoreItem xmlns:ds="http://schemas.openxmlformats.org/officeDocument/2006/customXml" ds:itemID="{3996E5C4-FA12-4697-9484-EE53B2DD60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039dda-64f8-41f1-b3d6-f92ff14c10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538CF2F-43D0-417A-B67E-A9708150877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5622</Words>
  <Application>Microsoft Office PowerPoint</Application>
  <PresentationFormat>Экран (16:9)</PresentationFormat>
  <Paragraphs>517</Paragraphs>
  <Slides>37</Slides>
  <Notes>37</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37</vt:i4>
      </vt:variant>
    </vt:vector>
  </HeadingPairs>
  <TitlesOfParts>
    <vt:vector size="42" baseType="lpstr">
      <vt:lpstr>Arial</vt:lpstr>
      <vt:lpstr>Calibri</vt:lpstr>
      <vt:lpstr>Consolas</vt:lpstr>
      <vt:lpstr>Georgia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Applied Cryptography</dc:creator>
  <cp:lastModifiedBy>Nikolay Ishutin</cp:lastModifiedBy>
  <cp:revision>2</cp:revision>
  <dcterms:created xsi:type="dcterms:W3CDTF">2026-03-22T14:04:45Z</dcterms:created>
  <dcterms:modified xsi:type="dcterms:W3CDTF">2026-03-29T08:58:39Z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0x0101009A8D18DF04E7B24DB531D034DE08C523</vt:lpwstr>
  </property>
</Properties>
</file>